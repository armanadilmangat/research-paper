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8128000" cy="4572000"/>
  <p:notesSz cx="8128000" cy="4572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34" d="100"/>
          <a:sy n="134" d="100"/>
        </p:scale>
        <p:origin x="413" y="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09600" y="1417320"/>
            <a:ext cx="6908800" cy="960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363D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19200" y="2560320"/>
            <a:ext cx="5689600" cy="114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1" i="0">
                <a:solidFill>
                  <a:srgbClr val="3B4248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363D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rgbClr val="3B4248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363D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06400" y="1051560"/>
            <a:ext cx="3535680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185920" y="1051560"/>
            <a:ext cx="3535680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363D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8725" y="239462"/>
            <a:ext cx="4901565" cy="3467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363D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37042" y="2077978"/>
            <a:ext cx="3315335" cy="2130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1" i="0">
                <a:solidFill>
                  <a:srgbClr val="3B4248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763520" y="4251960"/>
            <a:ext cx="260096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06400" y="4251960"/>
            <a:ext cx="18694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852160" y="4251960"/>
            <a:ext cx="18694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s.ai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s.ai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presentations.ai/" TargetMode="External"/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1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2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s.ai/" TargetMode="Externa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g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128000" cy="4572000"/>
            <a:chOff x="0" y="0"/>
            <a:chExt cx="8128000" cy="457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28000" cy="4572000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0933" y="4199466"/>
              <a:ext cx="1337733" cy="203200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128000" cy="4572000"/>
            <a:chOff x="0" y="0"/>
            <a:chExt cx="8128000" cy="457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28000" cy="4572000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0933" y="4199466"/>
              <a:ext cx="1337733" cy="203200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516" y="143914"/>
            <a:ext cx="4231640" cy="63627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pc="-195" dirty="0">
                <a:solidFill>
                  <a:srgbClr val="343B42"/>
                </a:solidFill>
              </a:rPr>
              <a:t>PROJECT</a:t>
            </a:r>
            <a:r>
              <a:rPr spc="-5" dirty="0">
                <a:solidFill>
                  <a:srgbClr val="343B42"/>
                </a:solidFill>
              </a:rPr>
              <a:t> </a:t>
            </a:r>
            <a:r>
              <a:rPr spc="-254" dirty="0">
                <a:solidFill>
                  <a:srgbClr val="343B42"/>
                </a:solidFill>
              </a:rPr>
              <a:t>OVERVIEW:</a:t>
            </a:r>
            <a:r>
              <a:rPr spc="45" dirty="0">
                <a:solidFill>
                  <a:srgbClr val="343B42"/>
                </a:solidFill>
              </a:rPr>
              <a:t> </a:t>
            </a:r>
            <a:r>
              <a:rPr spc="-140" dirty="0">
                <a:solidFill>
                  <a:srgbClr val="343B42"/>
                </a:solidFill>
              </a:rPr>
              <a:t>IOT</a:t>
            </a:r>
            <a:r>
              <a:rPr spc="-185" dirty="0">
                <a:solidFill>
                  <a:srgbClr val="343B42"/>
                </a:solidFill>
              </a:rPr>
              <a:t> </a:t>
            </a:r>
            <a:r>
              <a:rPr spc="-165" dirty="0">
                <a:solidFill>
                  <a:srgbClr val="343B42"/>
                </a:solidFill>
              </a:rPr>
              <a:t>SECURITY</a:t>
            </a:r>
          </a:p>
          <a:p>
            <a:pPr marL="16510">
              <a:lnSpc>
                <a:spcPct val="100000"/>
              </a:lnSpc>
              <a:spcBef>
                <a:spcPts val="365"/>
              </a:spcBef>
            </a:pPr>
            <a:r>
              <a:rPr sz="850" b="0" spc="10" dirty="0">
                <a:solidFill>
                  <a:srgbClr val="4D525B"/>
                </a:solidFill>
                <a:latin typeface="Arial"/>
                <a:cs typeface="Arial"/>
              </a:rPr>
              <a:t>Exploring</a:t>
            </a:r>
            <a:r>
              <a:rPr sz="850" b="0" spc="60" dirty="0">
                <a:solidFill>
                  <a:srgbClr val="4D525B"/>
                </a:solidFill>
                <a:latin typeface="Arial"/>
                <a:cs typeface="Arial"/>
              </a:rPr>
              <a:t> </a:t>
            </a:r>
            <a:r>
              <a:rPr sz="850" b="0" spc="10" dirty="0">
                <a:solidFill>
                  <a:srgbClr val="4D525B"/>
                </a:solidFill>
                <a:latin typeface="Arial"/>
                <a:cs typeface="Arial"/>
              </a:rPr>
              <a:t>the</a:t>
            </a:r>
            <a:r>
              <a:rPr sz="850" b="0" spc="105" dirty="0">
                <a:solidFill>
                  <a:srgbClr val="4D525B"/>
                </a:solidFill>
                <a:latin typeface="Arial"/>
                <a:cs typeface="Arial"/>
              </a:rPr>
              <a:t> </a:t>
            </a:r>
            <a:r>
              <a:rPr sz="850" b="0" spc="10" dirty="0">
                <a:solidFill>
                  <a:srgbClr val="4D525B"/>
                </a:solidFill>
                <a:latin typeface="Arial"/>
                <a:cs typeface="Arial"/>
              </a:rPr>
              <a:t>critical</a:t>
            </a:r>
            <a:r>
              <a:rPr sz="850" b="0" spc="50" dirty="0">
                <a:solidFill>
                  <a:srgbClr val="4D525B"/>
                </a:solidFill>
                <a:latin typeface="Arial"/>
                <a:cs typeface="Arial"/>
              </a:rPr>
              <a:t> </a:t>
            </a:r>
            <a:r>
              <a:rPr sz="850" b="0" spc="10" dirty="0">
                <a:solidFill>
                  <a:srgbClr val="4D525B"/>
                </a:solidFill>
                <a:latin typeface="Arial"/>
                <a:cs typeface="Arial"/>
              </a:rPr>
              <a:t>aspects</a:t>
            </a:r>
            <a:r>
              <a:rPr sz="850" b="0" spc="110" dirty="0">
                <a:solidFill>
                  <a:srgbClr val="4D525B"/>
                </a:solidFill>
                <a:latin typeface="Arial"/>
                <a:cs typeface="Arial"/>
              </a:rPr>
              <a:t> </a:t>
            </a:r>
            <a:r>
              <a:rPr sz="850" b="0" spc="10" dirty="0">
                <a:solidFill>
                  <a:srgbClr val="4D525B"/>
                </a:solidFill>
                <a:latin typeface="Arial"/>
                <a:cs typeface="Arial"/>
              </a:rPr>
              <a:t>of</a:t>
            </a:r>
            <a:r>
              <a:rPr sz="850" b="0" spc="200" dirty="0">
                <a:solidFill>
                  <a:srgbClr val="4D525B"/>
                </a:solidFill>
                <a:latin typeface="Arial"/>
                <a:cs typeface="Arial"/>
              </a:rPr>
              <a:t> </a:t>
            </a:r>
            <a:r>
              <a:rPr sz="850" b="0" spc="10" dirty="0">
                <a:solidFill>
                  <a:srgbClr val="4D525B"/>
                </a:solidFill>
                <a:latin typeface="Arial"/>
                <a:cs typeface="Arial"/>
              </a:rPr>
              <a:t>loT</a:t>
            </a:r>
            <a:r>
              <a:rPr sz="850" b="0" spc="150" dirty="0">
                <a:solidFill>
                  <a:srgbClr val="4D525B"/>
                </a:solidFill>
                <a:latin typeface="Arial"/>
                <a:cs typeface="Arial"/>
              </a:rPr>
              <a:t> </a:t>
            </a:r>
            <a:r>
              <a:rPr sz="850" b="0" spc="10" dirty="0">
                <a:solidFill>
                  <a:srgbClr val="4D525B"/>
                </a:solidFill>
                <a:latin typeface="Arial"/>
                <a:cs typeface="Arial"/>
              </a:rPr>
              <a:t>security</a:t>
            </a:r>
            <a:r>
              <a:rPr sz="850" b="0" spc="100" dirty="0">
                <a:solidFill>
                  <a:srgbClr val="4D525B"/>
                </a:solidFill>
                <a:latin typeface="Arial"/>
                <a:cs typeface="Arial"/>
              </a:rPr>
              <a:t> </a:t>
            </a:r>
            <a:r>
              <a:rPr sz="850" b="0" spc="10" dirty="0">
                <a:solidFill>
                  <a:srgbClr val="4D525B"/>
                </a:solidFill>
                <a:latin typeface="Arial"/>
                <a:cs typeface="Arial"/>
              </a:rPr>
              <a:t>and</a:t>
            </a:r>
            <a:r>
              <a:rPr sz="850" b="0" spc="175" dirty="0">
                <a:solidFill>
                  <a:srgbClr val="4D525B"/>
                </a:solidFill>
                <a:latin typeface="Arial"/>
                <a:cs typeface="Arial"/>
              </a:rPr>
              <a:t> </a:t>
            </a:r>
            <a:r>
              <a:rPr sz="850" b="0" spc="10" dirty="0">
                <a:solidFill>
                  <a:srgbClr val="4D525B"/>
                </a:solidFill>
                <a:latin typeface="Arial"/>
                <a:cs typeface="Arial"/>
              </a:rPr>
              <a:t>our</a:t>
            </a:r>
            <a:r>
              <a:rPr sz="850" b="0" spc="90" dirty="0">
                <a:solidFill>
                  <a:srgbClr val="4D525B"/>
                </a:solidFill>
                <a:latin typeface="Arial"/>
                <a:cs typeface="Arial"/>
              </a:rPr>
              <a:t> </a:t>
            </a:r>
            <a:r>
              <a:rPr sz="850" b="0" spc="10" dirty="0">
                <a:solidFill>
                  <a:srgbClr val="4D525B"/>
                </a:solidFill>
                <a:latin typeface="Arial"/>
                <a:cs typeface="Arial"/>
              </a:rPr>
              <a:t>project</a:t>
            </a:r>
            <a:r>
              <a:rPr sz="850" b="0" spc="90" dirty="0">
                <a:solidFill>
                  <a:srgbClr val="4D525B"/>
                </a:solidFill>
                <a:latin typeface="Arial"/>
                <a:cs typeface="Arial"/>
              </a:rPr>
              <a:t> </a:t>
            </a:r>
            <a:r>
              <a:rPr sz="850" b="0" spc="-10" dirty="0">
                <a:solidFill>
                  <a:srgbClr val="4D525B"/>
                </a:solidFill>
                <a:latin typeface="Arial"/>
                <a:cs typeface="Arial"/>
              </a:rPr>
              <a:t>insights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2600" y="838200"/>
            <a:ext cx="2072006" cy="21913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165" indent="2540" algn="just">
              <a:lnSpc>
                <a:spcPct val="116500"/>
              </a:lnSpc>
              <a:spcBef>
                <a:spcPts val="100"/>
              </a:spcBef>
            </a:pPr>
            <a:r>
              <a:rPr sz="1050" b="1" spc="-160" dirty="0">
                <a:solidFill>
                  <a:srgbClr val="4D525B"/>
                </a:solidFill>
                <a:latin typeface="Times New Roman"/>
                <a:cs typeface="Times New Roman"/>
              </a:rPr>
              <a:t>WHA</a:t>
            </a:r>
            <a:r>
              <a:rPr sz="1050" b="1" spc="-160" dirty="0">
                <a:solidFill>
                  <a:srgbClr val="343B42"/>
                </a:solidFill>
                <a:latin typeface="Times New Roman"/>
                <a:cs typeface="Times New Roman"/>
              </a:rPr>
              <a:t>T</a:t>
            </a:r>
            <a:r>
              <a:rPr sz="1050" b="1" spc="90" dirty="0">
                <a:solidFill>
                  <a:srgbClr val="343B42"/>
                </a:solidFill>
                <a:latin typeface="Times New Roman"/>
                <a:cs typeface="Times New Roman"/>
              </a:rPr>
              <a:t> </a:t>
            </a:r>
            <a:r>
              <a:rPr sz="1050" b="1" spc="-45" dirty="0">
                <a:solidFill>
                  <a:srgbClr val="4D525B"/>
                </a:solidFill>
                <a:latin typeface="Times New Roman"/>
                <a:cs typeface="Times New Roman"/>
              </a:rPr>
              <a:t>ISIO</a:t>
            </a:r>
            <a:r>
              <a:rPr sz="1050" b="1" spc="-45" dirty="0">
                <a:solidFill>
                  <a:srgbClr val="343B42"/>
                </a:solidFill>
                <a:latin typeface="Times New Roman"/>
                <a:cs typeface="Times New Roman"/>
              </a:rPr>
              <a:t>T</a:t>
            </a:r>
            <a:r>
              <a:rPr sz="1050" b="1" spc="-45" dirty="0">
                <a:solidFill>
                  <a:srgbClr val="4D525B"/>
                </a:solidFill>
                <a:latin typeface="Times New Roman"/>
                <a:cs typeface="Times New Roman"/>
              </a:rPr>
              <a:t>AND</a:t>
            </a:r>
            <a:r>
              <a:rPr sz="1050" b="1" spc="15" dirty="0">
                <a:solidFill>
                  <a:srgbClr val="4D525B"/>
                </a:solidFill>
                <a:latin typeface="Times New Roman"/>
                <a:cs typeface="Times New Roman"/>
              </a:rPr>
              <a:t> </a:t>
            </a:r>
            <a:r>
              <a:rPr sz="1050" b="1" spc="-195" dirty="0">
                <a:solidFill>
                  <a:srgbClr val="4D525B"/>
                </a:solidFill>
                <a:latin typeface="Times New Roman"/>
                <a:cs typeface="Times New Roman"/>
              </a:rPr>
              <a:t>WHY</a:t>
            </a:r>
            <a:r>
              <a:rPr sz="1050" b="1" spc="160" dirty="0">
                <a:solidFill>
                  <a:srgbClr val="4D525B"/>
                </a:solidFill>
                <a:latin typeface="Times New Roman"/>
                <a:cs typeface="Times New Roman"/>
              </a:rPr>
              <a:t> </a:t>
            </a:r>
            <a:r>
              <a:rPr sz="1050" b="1" spc="-140" dirty="0">
                <a:solidFill>
                  <a:srgbClr val="343B42"/>
                </a:solidFill>
                <a:latin typeface="Times New Roman"/>
                <a:cs typeface="Times New Roman"/>
              </a:rPr>
              <a:t>I</a:t>
            </a:r>
            <a:r>
              <a:rPr sz="1050" b="1" spc="-140" dirty="0">
                <a:solidFill>
                  <a:srgbClr val="4D525B"/>
                </a:solidFill>
                <a:latin typeface="Times New Roman"/>
                <a:cs typeface="Times New Roman"/>
              </a:rPr>
              <a:t>T</a:t>
            </a:r>
            <a:r>
              <a:rPr sz="1050" b="1" spc="75" dirty="0">
                <a:solidFill>
                  <a:srgbClr val="4D525B"/>
                </a:solidFill>
                <a:latin typeface="Times New Roman"/>
                <a:cs typeface="Times New Roman"/>
              </a:rPr>
              <a:t> </a:t>
            </a:r>
            <a:r>
              <a:rPr sz="1050" b="1" spc="-60" dirty="0">
                <a:solidFill>
                  <a:srgbClr val="4D525B"/>
                </a:solidFill>
                <a:latin typeface="Times New Roman"/>
                <a:cs typeface="Times New Roman"/>
              </a:rPr>
              <a:t>NEEDS </a:t>
            </a:r>
            <a:r>
              <a:rPr sz="1050" b="1" spc="-10" dirty="0">
                <a:solidFill>
                  <a:srgbClr val="4D525B"/>
                </a:solidFill>
                <a:latin typeface="Times New Roman"/>
                <a:cs typeface="Times New Roman"/>
              </a:rPr>
              <a:t>SECURITY?</a:t>
            </a:r>
            <a:endParaRPr lang="en-US" sz="1050" b="1" spc="-10" dirty="0">
              <a:solidFill>
                <a:srgbClr val="4D525B"/>
              </a:solidFill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900" dirty="0"/>
              <a:t>IoT devices often lack robust security mechanisms, making them susceptible to attacks such as DDoS (Distributed Denial of Service), ransomware, and botnets.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900" dirty="0"/>
              <a:t>Limited computational resources in IoT devices mean traditional security</a:t>
            </a:r>
            <a:endParaRPr lang="en-US" sz="10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932" y="1754249"/>
            <a:ext cx="366262" cy="6234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8350" y="2561068"/>
            <a:ext cx="317427" cy="4767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0559" y="3160068"/>
            <a:ext cx="293010" cy="5990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03168" y="311758"/>
            <a:ext cx="598229" cy="5990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43894" y="1680903"/>
            <a:ext cx="1281920" cy="11368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85740" y="2976700"/>
            <a:ext cx="488350" cy="745695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4810252" y="311757"/>
            <a:ext cx="0" cy="3912235"/>
          </a:xfrm>
          <a:custGeom>
            <a:avLst/>
            <a:gdLst/>
            <a:ahLst/>
            <a:cxnLst/>
            <a:rect l="l" t="t" r="r" b="b"/>
            <a:pathLst>
              <a:path h="3912235">
                <a:moveTo>
                  <a:pt x="0" y="3911844"/>
                </a:moveTo>
                <a:lnTo>
                  <a:pt x="0" y="0"/>
                </a:lnTo>
              </a:path>
            </a:pathLst>
          </a:custGeom>
          <a:ln w="18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92242" y="910758"/>
            <a:ext cx="0" cy="611505"/>
          </a:xfrm>
          <a:custGeom>
            <a:avLst/>
            <a:gdLst/>
            <a:ahLst/>
            <a:cxnLst/>
            <a:rect l="l" t="t" r="r" b="b"/>
            <a:pathLst>
              <a:path h="611505">
                <a:moveTo>
                  <a:pt x="0" y="611225"/>
                </a:moveTo>
                <a:lnTo>
                  <a:pt x="0" y="0"/>
                </a:lnTo>
              </a:path>
            </a:pathLst>
          </a:custGeom>
          <a:ln w="152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98043" y="323981"/>
            <a:ext cx="2405380" cy="0"/>
          </a:xfrm>
          <a:custGeom>
            <a:avLst/>
            <a:gdLst/>
            <a:ahLst/>
            <a:cxnLst/>
            <a:rect l="l" t="t" r="r" b="b"/>
            <a:pathLst>
              <a:path w="2405379">
                <a:moveTo>
                  <a:pt x="0" y="0"/>
                </a:moveTo>
                <a:lnTo>
                  <a:pt x="2405126" y="0"/>
                </a:lnTo>
              </a:path>
            </a:pathLst>
          </a:custGeom>
          <a:ln w="18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28799" y="3019487"/>
            <a:ext cx="1685289" cy="0"/>
          </a:xfrm>
          <a:custGeom>
            <a:avLst/>
            <a:gdLst/>
            <a:ahLst/>
            <a:cxnLst/>
            <a:rect l="l" t="t" r="r" b="b"/>
            <a:pathLst>
              <a:path w="1685290">
                <a:moveTo>
                  <a:pt x="0" y="0"/>
                </a:moveTo>
                <a:lnTo>
                  <a:pt x="1684809" y="0"/>
                </a:lnTo>
              </a:path>
            </a:pathLst>
          </a:custGeom>
          <a:ln w="488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4798043" y="4205265"/>
            <a:ext cx="2795905" cy="128905"/>
            <a:chOff x="4798043" y="4205265"/>
            <a:chExt cx="2795905" cy="128905"/>
          </a:xfrm>
        </p:grpSpPr>
        <p:sp>
          <p:nvSpPr>
            <p:cNvPr id="14" name="object 14"/>
            <p:cNvSpPr/>
            <p:nvPr/>
          </p:nvSpPr>
          <p:spPr>
            <a:xfrm>
              <a:off x="4798043" y="4226658"/>
              <a:ext cx="2320290" cy="0"/>
            </a:xfrm>
            <a:custGeom>
              <a:avLst/>
              <a:gdLst/>
              <a:ahLst/>
              <a:cxnLst/>
              <a:rect l="l" t="t" r="r" b="b"/>
              <a:pathLst>
                <a:path w="2320290">
                  <a:moveTo>
                    <a:pt x="0" y="0"/>
                  </a:moveTo>
                  <a:lnTo>
                    <a:pt x="2319665" y="0"/>
                  </a:lnTo>
                </a:path>
              </a:pathLst>
            </a:custGeom>
            <a:ln w="397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hlinkClick r:id="rId8"/>
            </p:cNvPr>
            <p:cNvSpPr/>
            <p:nvPr/>
          </p:nvSpPr>
          <p:spPr>
            <a:xfrm>
              <a:off x="6629358" y="4205265"/>
              <a:ext cx="964565" cy="128905"/>
            </a:xfrm>
            <a:custGeom>
              <a:avLst/>
              <a:gdLst/>
              <a:ahLst/>
              <a:cxnLst/>
              <a:rect l="l" t="t" r="r" b="b"/>
              <a:pathLst>
                <a:path w="964565" h="128904">
                  <a:moveTo>
                    <a:pt x="0" y="0"/>
                  </a:moveTo>
                  <a:lnTo>
                    <a:pt x="964492" y="0"/>
                  </a:lnTo>
                  <a:lnTo>
                    <a:pt x="964492" y="128357"/>
                  </a:lnTo>
                  <a:lnTo>
                    <a:pt x="0" y="1283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27619" y="239462"/>
            <a:ext cx="3994150" cy="84645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ts val="2410"/>
              </a:lnSpc>
              <a:spcBef>
                <a:spcPts val="275"/>
              </a:spcBef>
            </a:pPr>
            <a:r>
              <a:rPr spc="-245" dirty="0">
                <a:solidFill>
                  <a:srgbClr val="3A3F46"/>
                </a:solidFill>
              </a:rPr>
              <a:t>OVERVIEW</a:t>
            </a:r>
            <a:r>
              <a:rPr spc="-30" dirty="0">
                <a:solidFill>
                  <a:srgbClr val="3A3F46"/>
                </a:solidFill>
              </a:rPr>
              <a:t> </a:t>
            </a:r>
            <a:r>
              <a:rPr spc="-140" dirty="0">
                <a:solidFill>
                  <a:srgbClr val="3A3F46"/>
                </a:solidFill>
              </a:rPr>
              <a:t>OF</a:t>
            </a:r>
            <a:r>
              <a:rPr spc="-170" dirty="0">
                <a:solidFill>
                  <a:srgbClr val="3A3F46"/>
                </a:solidFill>
              </a:rPr>
              <a:t> </a:t>
            </a:r>
            <a:r>
              <a:rPr spc="-125" dirty="0">
                <a:solidFill>
                  <a:srgbClr val="3A3F46"/>
                </a:solidFill>
              </a:rPr>
              <a:t>IOT</a:t>
            </a:r>
            <a:r>
              <a:rPr spc="-215" dirty="0">
                <a:solidFill>
                  <a:srgbClr val="3A3F46"/>
                </a:solidFill>
              </a:rPr>
              <a:t> </a:t>
            </a:r>
            <a:r>
              <a:rPr spc="-145" dirty="0">
                <a:solidFill>
                  <a:srgbClr val="3A3F46"/>
                </a:solidFill>
              </a:rPr>
              <a:t>AND</a:t>
            </a:r>
            <a:r>
              <a:rPr spc="-150" dirty="0">
                <a:solidFill>
                  <a:srgbClr val="3A3F46"/>
                </a:solidFill>
              </a:rPr>
              <a:t> </a:t>
            </a:r>
            <a:r>
              <a:rPr spc="-170" dirty="0">
                <a:solidFill>
                  <a:srgbClr val="3A3F46"/>
                </a:solidFill>
              </a:rPr>
              <a:t>SECURITY </a:t>
            </a:r>
            <a:r>
              <a:rPr spc="-105" dirty="0">
                <a:solidFill>
                  <a:srgbClr val="3A3F46"/>
                </a:solidFill>
              </a:rPr>
              <a:t>CHALLENGES</a:t>
            </a:r>
          </a:p>
          <a:p>
            <a:pPr marL="14604">
              <a:lnSpc>
                <a:spcPct val="100000"/>
              </a:lnSpc>
              <a:spcBef>
                <a:spcPts val="445"/>
              </a:spcBef>
            </a:pPr>
            <a:r>
              <a:rPr sz="850" b="0" spc="20" dirty="0">
                <a:solidFill>
                  <a:srgbClr val="4F5459"/>
                </a:solidFill>
                <a:latin typeface="Arial"/>
                <a:cs typeface="Arial"/>
              </a:rPr>
              <a:t>Understand</a:t>
            </a:r>
            <a:r>
              <a:rPr sz="850" b="0" spc="20" dirty="0">
                <a:solidFill>
                  <a:srgbClr val="676B72"/>
                </a:solidFill>
                <a:latin typeface="Arial"/>
                <a:cs typeface="Arial"/>
              </a:rPr>
              <a:t>i</a:t>
            </a:r>
            <a:r>
              <a:rPr sz="850" b="0" spc="20" dirty="0">
                <a:solidFill>
                  <a:srgbClr val="4F5459"/>
                </a:solidFill>
                <a:latin typeface="Arial"/>
                <a:cs typeface="Arial"/>
              </a:rPr>
              <a:t>ng</a:t>
            </a:r>
            <a:r>
              <a:rPr sz="850" b="0" spc="130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850" b="0" spc="20" dirty="0">
                <a:solidFill>
                  <a:srgbClr val="4F5459"/>
                </a:solidFill>
                <a:latin typeface="Arial"/>
                <a:cs typeface="Arial"/>
              </a:rPr>
              <a:t>loT</a:t>
            </a:r>
            <a:r>
              <a:rPr sz="850" b="0" spc="20" dirty="0">
                <a:solidFill>
                  <a:srgbClr val="676B72"/>
                </a:solidFill>
                <a:latin typeface="Arial"/>
                <a:cs typeface="Arial"/>
              </a:rPr>
              <a:t>,</a:t>
            </a:r>
            <a:r>
              <a:rPr sz="850" b="0" spc="-40" dirty="0">
                <a:solidFill>
                  <a:srgbClr val="676B72"/>
                </a:solidFill>
                <a:latin typeface="Arial"/>
                <a:cs typeface="Arial"/>
              </a:rPr>
              <a:t> </a:t>
            </a:r>
            <a:r>
              <a:rPr sz="850" b="0" spc="20" dirty="0">
                <a:solidFill>
                  <a:srgbClr val="4F5459"/>
                </a:solidFill>
                <a:latin typeface="Arial"/>
                <a:cs typeface="Arial"/>
              </a:rPr>
              <a:t>its</a:t>
            </a:r>
            <a:r>
              <a:rPr sz="850" b="0" spc="45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850" b="0" spc="20" dirty="0">
                <a:solidFill>
                  <a:srgbClr val="676B72"/>
                </a:solidFill>
                <a:latin typeface="Arial"/>
                <a:cs typeface="Arial"/>
              </a:rPr>
              <a:t>v</a:t>
            </a:r>
            <a:r>
              <a:rPr sz="850" b="0" spc="20" dirty="0">
                <a:solidFill>
                  <a:srgbClr val="4F5459"/>
                </a:solidFill>
                <a:latin typeface="Arial"/>
                <a:cs typeface="Arial"/>
              </a:rPr>
              <a:t>u</a:t>
            </a:r>
            <a:r>
              <a:rPr sz="850" b="0" spc="20" dirty="0">
                <a:solidFill>
                  <a:srgbClr val="676B72"/>
                </a:solidFill>
                <a:latin typeface="Arial"/>
                <a:cs typeface="Arial"/>
              </a:rPr>
              <a:t>l</a:t>
            </a:r>
            <a:r>
              <a:rPr sz="850" b="0" spc="20" dirty="0">
                <a:solidFill>
                  <a:srgbClr val="4F5459"/>
                </a:solidFill>
                <a:latin typeface="Arial"/>
                <a:cs typeface="Arial"/>
              </a:rPr>
              <a:t>nerabilities</a:t>
            </a:r>
            <a:r>
              <a:rPr sz="850" b="0" spc="20" dirty="0">
                <a:solidFill>
                  <a:srgbClr val="676B72"/>
                </a:solidFill>
                <a:latin typeface="Arial"/>
                <a:cs typeface="Arial"/>
              </a:rPr>
              <a:t>,</a:t>
            </a:r>
            <a:r>
              <a:rPr sz="850" b="0" dirty="0">
                <a:solidFill>
                  <a:srgbClr val="676B72"/>
                </a:solidFill>
                <a:latin typeface="Arial"/>
                <a:cs typeface="Arial"/>
              </a:rPr>
              <a:t> </a:t>
            </a:r>
            <a:r>
              <a:rPr sz="850" b="0" spc="20" dirty="0">
                <a:solidFill>
                  <a:srgbClr val="4F5459"/>
                </a:solidFill>
                <a:latin typeface="Arial"/>
                <a:cs typeface="Arial"/>
              </a:rPr>
              <a:t>and</a:t>
            </a:r>
            <a:r>
              <a:rPr sz="850" b="0" spc="70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850" b="0" spc="20" dirty="0">
                <a:solidFill>
                  <a:srgbClr val="4F5459"/>
                </a:solidFill>
                <a:latin typeface="Arial"/>
                <a:cs typeface="Arial"/>
              </a:rPr>
              <a:t>proposed</a:t>
            </a:r>
            <a:r>
              <a:rPr sz="850" b="0" spc="114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850" b="0" spc="20" dirty="0">
                <a:solidFill>
                  <a:srgbClr val="4F5459"/>
                </a:solidFill>
                <a:latin typeface="Arial"/>
                <a:cs typeface="Arial"/>
              </a:rPr>
              <a:t>Al</a:t>
            </a:r>
            <a:r>
              <a:rPr sz="850" b="0" spc="80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850" b="0" spc="-10" dirty="0">
                <a:solidFill>
                  <a:srgbClr val="4F5459"/>
                </a:solidFill>
                <a:latin typeface="Arial"/>
                <a:cs typeface="Arial"/>
              </a:rPr>
              <a:t>solutions</a:t>
            </a:r>
            <a:endParaRPr sz="8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17690" y="1794268"/>
            <a:ext cx="3281045" cy="1216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" dirty="0">
                <a:solidFill>
                  <a:srgbClr val="4F5459"/>
                </a:solidFill>
                <a:latin typeface="Times New Roman"/>
                <a:cs typeface="Times New Roman"/>
              </a:rPr>
              <a:t>WHAT</a:t>
            </a:r>
            <a:r>
              <a:rPr lang="en-US" sz="1050" b="1" spc="-10" dirty="0">
                <a:solidFill>
                  <a:srgbClr val="4F5459"/>
                </a:solidFill>
                <a:latin typeface="Times New Roman"/>
                <a:cs typeface="Times New Roman"/>
              </a:rPr>
              <a:t> </a:t>
            </a:r>
            <a:r>
              <a:rPr sz="1050" b="1" spc="-10" dirty="0">
                <a:solidFill>
                  <a:srgbClr val="4F5459"/>
                </a:solidFill>
                <a:latin typeface="Times New Roman"/>
                <a:cs typeface="Times New Roman"/>
              </a:rPr>
              <a:t>IS</a:t>
            </a:r>
            <a:r>
              <a:rPr lang="en-US" sz="1050" b="1" spc="-10" dirty="0">
                <a:solidFill>
                  <a:srgbClr val="4F5459"/>
                </a:solidFill>
                <a:latin typeface="Times New Roman"/>
                <a:cs typeface="Times New Roman"/>
              </a:rPr>
              <a:t> </a:t>
            </a:r>
            <a:r>
              <a:rPr sz="1050" b="1" spc="-10" dirty="0">
                <a:solidFill>
                  <a:srgbClr val="4F5459"/>
                </a:solidFill>
                <a:latin typeface="Times New Roman"/>
                <a:cs typeface="Times New Roman"/>
              </a:rPr>
              <a:t>IOT?</a:t>
            </a:r>
            <a:endParaRPr sz="1050" dirty="0">
              <a:latin typeface="Times New Roman"/>
              <a:cs typeface="Times New Roman"/>
            </a:endParaRPr>
          </a:p>
          <a:p>
            <a:pPr marL="17145" marR="93345">
              <a:lnSpc>
                <a:spcPct val="137500"/>
              </a:lnSpc>
              <a:spcBef>
                <a:spcPts val="315"/>
              </a:spcBef>
            </a:pPr>
            <a:r>
              <a:rPr sz="700" spc="10" dirty="0">
                <a:solidFill>
                  <a:srgbClr val="4F5459"/>
                </a:solidFill>
                <a:latin typeface="Arial"/>
                <a:cs typeface="Arial"/>
              </a:rPr>
              <a:t>loT</a:t>
            </a:r>
            <a:r>
              <a:rPr sz="700" spc="420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676B72"/>
                </a:solidFill>
                <a:latin typeface="Arial"/>
                <a:cs typeface="Arial"/>
              </a:rPr>
              <a:t>(</a:t>
            </a:r>
            <a:r>
              <a:rPr sz="700" spc="10" dirty="0">
                <a:solidFill>
                  <a:srgbClr val="4F5459"/>
                </a:solidFill>
                <a:latin typeface="Arial"/>
                <a:cs typeface="Arial"/>
              </a:rPr>
              <a:t>Internet</a:t>
            </a:r>
            <a:r>
              <a:rPr sz="700" spc="160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4F5459"/>
                </a:solidFill>
                <a:latin typeface="Arial"/>
                <a:cs typeface="Arial"/>
              </a:rPr>
              <a:t>of</a:t>
            </a:r>
            <a:r>
              <a:rPr sz="700" spc="215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3A3F46"/>
                </a:solidFill>
                <a:latin typeface="Arial"/>
                <a:cs typeface="Arial"/>
              </a:rPr>
              <a:t>Things)</a:t>
            </a:r>
            <a:r>
              <a:rPr sz="700" spc="80" dirty="0">
                <a:solidFill>
                  <a:srgbClr val="3A3F46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4F5459"/>
                </a:solidFill>
                <a:latin typeface="Arial"/>
                <a:cs typeface="Arial"/>
              </a:rPr>
              <a:t>interlinks</a:t>
            </a:r>
            <a:r>
              <a:rPr sz="700" spc="135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4F5459"/>
                </a:solidFill>
                <a:latin typeface="Arial"/>
                <a:cs typeface="Arial"/>
              </a:rPr>
              <a:t>devices</a:t>
            </a:r>
            <a:r>
              <a:rPr sz="700" spc="65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4F5459"/>
                </a:solidFill>
                <a:latin typeface="Arial"/>
                <a:cs typeface="Arial"/>
              </a:rPr>
              <a:t>like</a:t>
            </a:r>
            <a:r>
              <a:rPr sz="700" spc="25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4F5459"/>
                </a:solidFill>
                <a:latin typeface="Arial"/>
                <a:cs typeface="Arial"/>
              </a:rPr>
              <a:t>smart</a:t>
            </a:r>
            <a:r>
              <a:rPr sz="700" spc="110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3A3F46"/>
                </a:solidFill>
                <a:latin typeface="Arial"/>
                <a:cs typeface="Arial"/>
              </a:rPr>
              <a:t>homes,</a:t>
            </a:r>
            <a:r>
              <a:rPr sz="700" spc="70" dirty="0">
                <a:solidFill>
                  <a:srgbClr val="3A3F46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4F5459"/>
                </a:solidFill>
                <a:latin typeface="Arial"/>
                <a:cs typeface="Arial"/>
              </a:rPr>
              <a:t>vehicles,</a:t>
            </a:r>
            <a:r>
              <a:rPr sz="700" spc="130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4F5459"/>
                </a:solidFill>
                <a:latin typeface="Arial"/>
                <a:cs typeface="Arial"/>
              </a:rPr>
              <a:t>ond</a:t>
            </a:r>
            <a:r>
              <a:rPr sz="700" spc="20" dirty="0">
                <a:solidFill>
                  <a:srgbClr val="4F5459"/>
                </a:solidFill>
                <a:latin typeface="Arial"/>
                <a:cs typeface="Arial"/>
              </a:rPr>
              <a:t> industrial</a:t>
            </a:r>
            <a:r>
              <a:rPr sz="700" spc="25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F5459"/>
                </a:solidFill>
                <a:latin typeface="Arial"/>
                <a:cs typeface="Arial"/>
              </a:rPr>
              <a:t>systems</a:t>
            </a:r>
            <a:r>
              <a:rPr sz="700" spc="60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F5459"/>
                </a:solidFill>
                <a:latin typeface="Arial"/>
                <a:cs typeface="Arial"/>
              </a:rPr>
              <a:t>for</a:t>
            </a:r>
            <a:r>
              <a:rPr sz="700" spc="225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65" dirty="0">
                <a:solidFill>
                  <a:srgbClr val="4F5459"/>
                </a:solidFill>
                <a:latin typeface="Arial"/>
                <a:cs typeface="Arial"/>
              </a:rPr>
              <a:t>doto</a:t>
            </a:r>
            <a:r>
              <a:rPr sz="700" spc="40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F5459"/>
                </a:solidFill>
                <a:latin typeface="Arial"/>
                <a:cs typeface="Arial"/>
              </a:rPr>
              <a:t>sharing.</a:t>
            </a:r>
            <a:endParaRPr sz="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700" dirty="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sz="1050" b="1" spc="-70" dirty="0">
                <a:solidFill>
                  <a:srgbClr val="3A3F46"/>
                </a:solidFill>
                <a:latin typeface="Times New Roman"/>
                <a:cs typeface="Times New Roman"/>
              </a:rPr>
              <a:t>THE</a:t>
            </a:r>
            <a:r>
              <a:rPr sz="1050" b="1" spc="-85" dirty="0">
                <a:solidFill>
                  <a:srgbClr val="3A3F46"/>
                </a:solidFill>
                <a:latin typeface="Times New Roman"/>
                <a:cs typeface="Times New Roman"/>
              </a:rPr>
              <a:t> </a:t>
            </a:r>
            <a:r>
              <a:rPr sz="1050" b="1" spc="-10" dirty="0">
                <a:solidFill>
                  <a:srgbClr val="3A3F46"/>
                </a:solidFill>
                <a:latin typeface="Times New Roman"/>
                <a:cs typeface="Times New Roman"/>
              </a:rPr>
              <a:t>PROBLEM</a:t>
            </a:r>
            <a:endParaRPr sz="1050" dirty="0">
              <a:latin typeface="Times New Roman"/>
              <a:cs typeface="Times New Roman"/>
            </a:endParaRPr>
          </a:p>
          <a:p>
            <a:pPr marL="16510" marR="5080" indent="-1270">
              <a:lnSpc>
                <a:spcPct val="137500"/>
              </a:lnSpc>
              <a:spcBef>
                <a:spcPts val="315"/>
              </a:spcBef>
            </a:pPr>
            <a:r>
              <a:rPr sz="700" spc="55" dirty="0">
                <a:solidFill>
                  <a:srgbClr val="4F5459"/>
                </a:solidFill>
                <a:latin typeface="Arial"/>
                <a:cs typeface="Arial"/>
              </a:rPr>
              <a:t>Many</a:t>
            </a:r>
            <a:r>
              <a:rPr sz="700" spc="45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F5459"/>
                </a:solidFill>
                <a:latin typeface="Arial"/>
                <a:cs typeface="Arial"/>
              </a:rPr>
              <a:t>loT</a:t>
            </a:r>
            <a:r>
              <a:rPr sz="700" spc="15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F5459"/>
                </a:solidFill>
                <a:latin typeface="Arial"/>
                <a:cs typeface="Arial"/>
              </a:rPr>
              <a:t>devices</a:t>
            </a:r>
            <a:r>
              <a:rPr sz="700" spc="5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F5459"/>
                </a:solidFill>
                <a:latin typeface="Arial"/>
                <a:cs typeface="Arial"/>
              </a:rPr>
              <a:t>lack</a:t>
            </a:r>
            <a:r>
              <a:rPr sz="700" spc="40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F5459"/>
                </a:solidFill>
                <a:latin typeface="Arial"/>
                <a:cs typeface="Arial"/>
              </a:rPr>
              <a:t>securit</a:t>
            </a:r>
            <a:r>
              <a:rPr sz="700" spc="30" dirty="0">
                <a:solidFill>
                  <a:srgbClr val="676B72"/>
                </a:solidFill>
                <a:latin typeface="Arial"/>
                <a:cs typeface="Arial"/>
              </a:rPr>
              <a:t>y</a:t>
            </a:r>
            <a:r>
              <a:rPr sz="700" spc="30" dirty="0">
                <a:solidFill>
                  <a:srgbClr val="4F5459"/>
                </a:solidFill>
                <a:latin typeface="Arial"/>
                <a:cs typeface="Arial"/>
              </a:rPr>
              <a:t>,</a:t>
            </a:r>
            <a:r>
              <a:rPr sz="700" spc="-60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4F5459"/>
                </a:solidFill>
                <a:latin typeface="Arial"/>
                <a:cs typeface="Arial"/>
              </a:rPr>
              <a:t>making</a:t>
            </a:r>
            <a:r>
              <a:rPr sz="700" spc="5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55" dirty="0">
                <a:solidFill>
                  <a:srgbClr val="4F5459"/>
                </a:solidFill>
                <a:latin typeface="Arial"/>
                <a:cs typeface="Arial"/>
              </a:rPr>
              <a:t>them</a:t>
            </a:r>
            <a:r>
              <a:rPr sz="700" spc="20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F5459"/>
                </a:solidFill>
                <a:latin typeface="Arial"/>
                <a:cs typeface="Arial"/>
              </a:rPr>
              <a:t>vulnerable</a:t>
            </a:r>
            <a:r>
              <a:rPr sz="700" spc="50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F5459"/>
                </a:solidFill>
                <a:latin typeface="Arial"/>
                <a:cs typeface="Arial"/>
              </a:rPr>
              <a:t>to</a:t>
            </a:r>
            <a:r>
              <a:rPr sz="700" spc="85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F5459"/>
                </a:solidFill>
                <a:latin typeface="Arial"/>
                <a:cs typeface="Arial"/>
              </a:rPr>
              <a:t>hacking,</a:t>
            </a:r>
            <a:r>
              <a:rPr sz="700" spc="25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4F5459"/>
                </a:solidFill>
                <a:latin typeface="Arial"/>
                <a:cs typeface="Arial"/>
              </a:rPr>
              <a:t>DDoS</a:t>
            </a:r>
            <a:r>
              <a:rPr sz="700" spc="10" dirty="0">
                <a:solidFill>
                  <a:srgbClr val="4F5459"/>
                </a:solidFill>
                <a:latin typeface="Arial"/>
                <a:cs typeface="Arial"/>
              </a:rPr>
              <a:t> ottocks,</a:t>
            </a:r>
            <a:r>
              <a:rPr sz="700" spc="75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4F5459"/>
                </a:solidFill>
                <a:latin typeface="Arial"/>
                <a:cs typeface="Arial"/>
              </a:rPr>
              <a:t>ond</a:t>
            </a:r>
            <a:r>
              <a:rPr sz="700" spc="125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65" dirty="0">
                <a:solidFill>
                  <a:srgbClr val="4F5459"/>
                </a:solidFill>
                <a:latin typeface="Arial"/>
                <a:cs typeface="Arial"/>
              </a:rPr>
              <a:t>data</a:t>
            </a:r>
            <a:r>
              <a:rPr sz="700" spc="105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F5459"/>
                </a:solidFill>
                <a:latin typeface="Arial"/>
                <a:cs typeface="Arial"/>
              </a:rPr>
              <a:t>breaches.</a:t>
            </a:r>
            <a:endParaRPr sz="7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7690" y="3187862"/>
            <a:ext cx="3464560" cy="4934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14" dirty="0">
                <a:solidFill>
                  <a:srgbClr val="3A3F46"/>
                </a:solidFill>
                <a:latin typeface="Times New Roman"/>
                <a:cs typeface="Times New Roman"/>
              </a:rPr>
              <a:t>WHY</a:t>
            </a:r>
            <a:r>
              <a:rPr sz="1050" b="1" spc="-95" dirty="0">
                <a:solidFill>
                  <a:srgbClr val="3A3F46"/>
                </a:solidFill>
                <a:latin typeface="Times New Roman"/>
                <a:cs typeface="Times New Roman"/>
              </a:rPr>
              <a:t> </a:t>
            </a:r>
            <a:r>
              <a:rPr lang="en-US" sz="1050" b="1" spc="-95" dirty="0">
                <a:solidFill>
                  <a:srgbClr val="3A3F46"/>
                </a:solidFill>
                <a:latin typeface="Times New Roman"/>
                <a:cs typeface="Times New Roman"/>
              </a:rPr>
              <a:t> </a:t>
            </a:r>
            <a:r>
              <a:rPr sz="1050" b="1" spc="-95" dirty="0">
                <a:solidFill>
                  <a:srgbClr val="3A3F46"/>
                </a:solidFill>
                <a:latin typeface="Times New Roman"/>
                <a:cs typeface="Times New Roman"/>
              </a:rPr>
              <a:t>OUR</a:t>
            </a:r>
            <a:r>
              <a:rPr sz="1050" b="1" spc="-100" dirty="0">
                <a:solidFill>
                  <a:srgbClr val="3A3F46"/>
                </a:solidFill>
                <a:latin typeface="Times New Roman"/>
                <a:cs typeface="Times New Roman"/>
              </a:rPr>
              <a:t> </a:t>
            </a:r>
            <a:r>
              <a:rPr lang="en-US" sz="1050" b="1" spc="-100" dirty="0">
                <a:solidFill>
                  <a:srgbClr val="3A3F46"/>
                </a:solidFill>
                <a:latin typeface="Times New Roman"/>
                <a:cs typeface="Times New Roman"/>
              </a:rPr>
              <a:t> </a:t>
            </a:r>
            <a:r>
              <a:rPr sz="1050" b="1" spc="-10" dirty="0">
                <a:solidFill>
                  <a:srgbClr val="3A3F46"/>
                </a:solidFill>
                <a:latin typeface="Times New Roman"/>
                <a:cs typeface="Times New Roman"/>
              </a:rPr>
              <a:t>PROJECT?</a:t>
            </a:r>
            <a:endParaRPr sz="1050" dirty="0">
              <a:latin typeface="Times New Roman"/>
              <a:cs typeface="Times New Roman"/>
            </a:endParaRPr>
          </a:p>
          <a:p>
            <a:pPr marL="20320" marR="5080" indent="-1905">
              <a:lnSpc>
                <a:spcPct val="137500"/>
              </a:lnSpc>
              <a:spcBef>
                <a:spcPts val="315"/>
              </a:spcBef>
            </a:pPr>
            <a:r>
              <a:rPr sz="700" spc="10" dirty="0">
                <a:solidFill>
                  <a:srgbClr val="4F5459"/>
                </a:solidFill>
                <a:latin typeface="Arial"/>
                <a:cs typeface="Arial"/>
              </a:rPr>
              <a:t>We</a:t>
            </a:r>
            <a:r>
              <a:rPr sz="700" spc="60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4F5459"/>
                </a:solidFill>
                <a:latin typeface="Arial"/>
                <a:cs typeface="Arial"/>
              </a:rPr>
              <a:t>aim</a:t>
            </a:r>
            <a:r>
              <a:rPr sz="700" spc="190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4F5459"/>
                </a:solidFill>
                <a:latin typeface="Arial"/>
                <a:cs typeface="Arial"/>
              </a:rPr>
              <a:t>to</a:t>
            </a:r>
            <a:r>
              <a:rPr sz="700" spc="200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4F5459"/>
                </a:solidFill>
                <a:latin typeface="Arial"/>
                <a:cs typeface="Arial"/>
              </a:rPr>
              <a:t>develop</a:t>
            </a:r>
            <a:r>
              <a:rPr sz="700" spc="100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4F5459"/>
                </a:solidFill>
                <a:latin typeface="Arial"/>
                <a:cs typeface="Arial"/>
              </a:rPr>
              <a:t>an</a:t>
            </a:r>
            <a:r>
              <a:rPr sz="700" spc="140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4F5459"/>
                </a:solidFill>
                <a:latin typeface="Arial"/>
                <a:cs typeface="Arial"/>
              </a:rPr>
              <a:t>Al</a:t>
            </a:r>
            <a:r>
              <a:rPr sz="700" spc="50" dirty="0">
                <a:solidFill>
                  <a:srgbClr val="828587"/>
                </a:solidFill>
                <a:latin typeface="Arial"/>
                <a:cs typeface="Arial"/>
              </a:rPr>
              <a:t>-</a:t>
            </a:r>
            <a:r>
              <a:rPr sz="700" spc="55" dirty="0">
                <a:solidFill>
                  <a:srgbClr val="4F5459"/>
                </a:solidFill>
                <a:latin typeface="Arial"/>
                <a:cs typeface="Arial"/>
              </a:rPr>
              <a:t>driven</a:t>
            </a:r>
            <a:r>
              <a:rPr sz="700" spc="60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4F5459"/>
                </a:solidFill>
                <a:latin typeface="Arial"/>
                <a:cs typeface="Arial"/>
              </a:rPr>
              <a:t>solution</a:t>
            </a:r>
            <a:r>
              <a:rPr sz="700" spc="70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60" dirty="0">
                <a:solidFill>
                  <a:srgbClr val="4F5459"/>
                </a:solidFill>
                <a:latin typeface="Arial"/>
                <a:cs typeface="Arial"/>
              </a:rPr>
              <a:t>that</a:t>
            </a:r>
            <a:r>
              <a:rPr sz="700" spc="70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4F5459"/>
                </a:solidFill>
                <a:latin typeface="Arial"/>
                <a:cs typeface="Arial"/>
              </a:rPr>
              <a:t>detects</a:t>
            </a:r>
            <a:r>
              <a:rPr sz="700" spc="100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4F5459"/>
                </a:solidFill>
                <a:latin typeface="Arial"/>
                <a:cs typeface="Arial"/>
              </a:rPr>
              <a:t>and</a:t>
            </a:r>
            <a:r>
              <a:rPr sz="700" spc="145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45" dirty="0">
                <a:solidFill>
                  <a:srgbClr val="4F5459"/>
                </a:solidFill>
                <a:latin typeface="Arial"/>
                <a:cs typeface="Arial"/>
              </a:rPr>
              <a:t>mi</a:t>
            </a:r>
            <a:r>
              <a:rPr sz="700" spc="45" dirty="0">
                <a:solidFill>
                  <a:srgbClr val="676B72"/>
                </a:solidFill>
                <a:latin typeface="Arial"/>
                <a:cs typeface="Arial"/>
              </a:rPr>
              <a:t>t</a:t>
            </a:r>
            <a:r>
              <a:rPr sz="700" spc="45" dirty="0">
                <a:solidFill>
                  <a:srgbClr val="3A3F46"/>
                </a:solidFill>
                <a:latin typeface="Arial"/>
                <a:cs typeface="Arial"/>
              </a:rPr>
              <a:t>igates</a:t>
            </a:r>
            <a:r>
              <a:rPr sz="700" spc="35" dirty="0">
                <a:solidFill>
                  <a:srgbClr val="3A3F46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4F5459"/>
                </a:solidFill>
                <a:latin typeface="Arial"/>
                <a:cs typeface="Arial"/>
              </a:rPr>
              <a:t>attacks</a:t>
            </a:r>
            <a:r>
              <a:rPr sz="700" spc="65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4F5459"/>
                </a:solidFill>
                <a:latin typeface="Arial"/>
                <a:cs typeface="Arial"/>
              </a:rPr>
              <a:t>on</a:t>
            </a:r>
            <a:r>
              <a:rPr sz="700" spc="500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F5459"/>
                </a:solidFill>
                <a:latin typeface="Arial"/>
                <a:cs typeface="Arial"/>
              </a:rPr>
              <a:t>loT</a:t>
            </a:r>
            <a:r>
              <a:rPr sz="700" spc="95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3A3F46"/>
                </a:solidFill>
                <a:latin typeface="Arial"/>
                <a:cs typeface="Arial"/>
              </a:rPr>
              <a:t>devices.</a:t>
            </a:r>
            <a:endParaRPr sz="7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09364" y="3599166"/>
            <a:ext cx="6413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i="1" spc="-50" dirty="0">
                <a:solidFill>
                  <a:srgbClr val="939593"/>
                </a:solidFill>
                <a:latin typeface="Times New Roman"/>
                <a:cs typeface="Times New Roman"/>
              </a:rPr>
              <a:t>r</a:t>
            </a:r>
            <a:endParaRPr sz="7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11800" y="23418"/>
            <a:ext cx="2844641" cy="455366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0655" y="1173873"/>
            <a:ext cx="127254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A0C0F"/>
                </a:solidFill>
                <a:latin typeface="Arial"/>
                <a:cs typeface="Arial"/>
              </a:rPr>
              <a:t>01</a:t>
            </a:r>
            <a:r>
              <a:rPr sz="800" spc="215" dirty="0">
                <a:solidFill>
                  <a:srgbClr val="0A0C0F"/>
                </a:solidFill>
                <a:latin typeface="Arial"/>
                <a:cs typeface="Arial"/>
              </a:rPr>
              <a:t>  </a:t>
            </a:r>
            <a:r>
              <a:rPr sz="1050" spc="-70" dirty="0">
                <a:solidFill>
                  <a:srgbClr val="4D5056"/>
                </a:solidFill>
              </a:rPr>
              <a:t>THE</a:t>
            </a:r>
            <a:r>
              <a:rPr sz="1050" spc="-90" dirty="0">
                <a:solidFill>
                  <a:srgbClr val="4D5056"/>
                </a:solidFill>
              </a:rPr>
              <a:t> </a:t>
            </a:r>
            <a:r>
              <a:rPr sz="1050" spc="-95" dirty="0">
                <a:solidFill>
                  <a:srgbClr val="4D5056"/>
                </a:solidFill>
              </a:rPr>
              <a:t>CHALLENGE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0430" y="1414034"/>
            <a:ext cx="3799840" cy="1967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sz="700" spc="10" dirty="0">
                <a:solidFill>
                  <a:srgbClr val="4D5056"/>
                </a:solidFill>
                <a:latin typeface="Arial"/>
                <a:cs typeface="Arial"/>
              </a:rPr>
              <a:t>loT</a:t>
            </a:r>
            <a:r>
              <a:rPr sz="700" spc="33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devices</a:t>
            </a:r>
            <a:r>
              <a:rPr sz="700" spc="3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ore</a:t>
            </a:r>
            <a:r>
              <a:rPr sz="700" spc="10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4D5056"/>
                </a:solidFill>
                <a:latin typeface="Arial"/>
                <a:cs typeface="Arial"/>
              </a:rPr>
              <a:t>proliferating,</a:t>
            </a:r>
            <a:r>
              <a:rPr sz="700" spc="-2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60" dirty="0">
                <a:solidFill>
                  <a:srgbClr val="4D5056"/>
                </a:solidFill>
                <a:latin typeface="Arial"/>
                <a:cs typeface="Arial"/>
              </a:rPr>
              <a:t>but</a:t>
            </a:r>
            <a:r>
              <a:rPr sz="700" spc="-3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security</a:t>
            </a:r>
            <a:r>
              <a:rPr sz="700" spc="7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remains</a:t>
            </a:r>
            <a:r>
              <a:rPr sz="700" spc="5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D5056"/>
                </a:solidFill>
                <a:latin typeface="Arial"/>
                <a:cs typeface="Arial"/>
              </a:rPr>
              <a:t>inadequate.</a:t>
            </a:r>
            <a:endParaRPr sz="700" dirty="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760"/>
              </a:spcBef>
            </a:pPr>
            <a:r>
              <a:rPr sz="750" b="1" spc="55" dirty="0">
                <a:solidFill>
                  <a:srgbClr val="0A0C0F"/>
                </a:solidFill>
                <a:latin typeface="Arial"/>
                <a:cs typeface="Arial"/>
              </a:rPr>
              <a:t>02</a:t>
            </a:r>
            <a:r>
              <a:rPr sz="750" b="1" spc="260" dirty="0">
                <a:solidFill>
                  <a:srgbClr val="0A0C0F"/>
                </a:solidFill>
                <a:latin typeface="Arial"/>
                <a:cs typeface="Arial"/>
              </a:rPr>
              <a:t>  </a:t>
            </a:r>
            <a:r>
              <a:rPr sz="1050" b="1" spc="-80" dirty="0">
                <a:solidFill>
                  <a:srgbClr val="4D5056"/>
                </a:solidFill>
                <a:latin typeface="Times New Roman"/>
                <a:cs typeface="Times New Roman"/>
              </a:rPr>
              <a:t>REAL-</a:t>
            </a:r>
            <a:r>
              <a:rPr sz="1050" b="1" spc="-25" dirty="0">
                <a:solidFill>
                  <a:srgbClr val="4D5056"/>
                </a:solidFill>
                <a:latin typeface="Times New Roman"/>
                <a:cs typeface="Times New Roman"/>
              </a:rPr>
              <a:t>TIME</a:t>
            </a:r>
            <a:r>
              <a:rPr lang="en-US" sz="1050" b="1" spc="-25" dirty="0">
                <a:solidFill>
                  <a:srgbClr val="4D5056"/>
                </a:solidFill>
                <a:latin typeface="Times New Roman"/>
                <a:cs typeface="Times New Roman"/>
              </a:rPr>
              <a:t> </a:t>
            </a:r>
            <a:r>
              <a:rPr sz="1050" b="1" spc="-25" dirty="0">
                <a:solidFill>
                  <a:srgbClr val="4D5056"/>
                </a:solidFill>
                <a:latin typeface="Times New Roman"/>
                <a:cs typeface="Times New Roman"/>
              </a:rPr>
              <a:t>ATTACK</a:t>
            </a:r>
            <a:r>
              <a:rPr lang="en-US" sz="1050" b="1" spc="-25" dirty="0">
                <a:solidFill>
                  <a:srgbClr val="4D5056"/>
                </a:solidFill>
                <a:latin typeface="Times New Roman"/>
                <a:cs typeface="Times New Roman"/>
              </a:rPr>
              <a:t> </a:t>
            </a:r>
            <a:r>
              <a:rPr sz="1050" b="1" spc="-25" dirty="0">
                <a:solidFill>
                  <a:srgbClr val="4D5056"/>
                </a:solidFill>
                <a:latin typeface="Times New Roman"/>
                <a:cs typeface="Times New Roman"/>
              </a:rPr>
              <a:t>DETECTION</a:t>
            </a:r>
            <a:endParaRPr sz="1050" dirty="0">
              <a:latin typeface="Times New Roman"/>
              <a:cs typeface="Times New Roman"/>
            </a:endParaRPr>
          </a:p>
          <a:p>
            <a:pPr marL="248920">
              <a:lnSpc>
                <a:spcPct val="100000"/>
              </a:lnSpc>
              <a:spcBef>
                <a:spcPts val="680"/>
              </a:spcBef>
            </a:pP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Detecting</a:t>
            </a:r>
            <a:r>
              <a:rPr sz="700" spc="4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complex</a:t>
            </a:r>
            <a:r>
              <a:rPr sz="700" spc="4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and</a:t>
            </a:r>
            <a:r>
              <a:rPr sz="700" spc="7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evolving</a:t>
            </a:r>
            <a:r>
              <a:rPr sz="700" spc="4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attacks</a:t>
            </a:r>
            <a:r>
              <a:rPr sz="700" spc="5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in</a:t>
            </a:r>
            <a:r>
              <a:rPr sz="700" spc="-1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4D5056"/>
                </a:solidFill>
                <a:latin typeface="Arial"/>
                <a:cs typeface="Arial"/>
              </a:rPr>
              <a:t>real-</a:t>
            </a:r>
            <a:r>
              <a:rPr sz="700" spc="60" dirty="0">
                <a:solidFill>
                  <a:srgbClr val="4D5056"/>
                </a:solidFill>
                <a:latin typeface="Arial"/>
                <a:cs typeface="Arial"/>
              </a:rPr>
              <a:t>time</a:t>
            </a:r>
            <a:r>
              <a:rPr sz="700" spc="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is</a:t>
            </a:r>
            <a:r>
              <a:rPr sz="700" spc="1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crucial</a:t>
            </a:r>
            <a:r>
              <a:rPr sz="700" spc="2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for</a:t>
            </a:r>
            <a:r>
              <a:rPr sz="700" spc="24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loT</a:t>
            </a:r>
            <a:r>
              <a:rPr sz="700" spc="4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D5056"/>
                </a:solidFill>
                <a:latin typeface="Arial"/>
                <a:cs typeface="Arial"/>
              </a:rPr>
              <a:t>safety.</a:t>
            </a:r>
            <a:endParaRPr sz="700" dirty="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780"/>
              </a:spcBef>
            </a:pPr>
            <a:r>
              <a:rPr sz="750" b="1" spc="55" dirty="0">
                <a:solidFill>
                  <a:srgbClr val="0A0C0F"/>
                </a:solidFill>
                <a:latin typeface="Arial"/>
                <a:cs typeface="Arial"/>
              </a:rPr>
              <a:t>03</a:t>
            </a:r>
            <a:r>
              <a:rPr sz="750" b="1" spc="240" dirty="0">
                <a:solidFill>
                  <a:srgbClr val="0A0C0F"/>
                </a:solidFill>
                <a:latin typeface="Arial"/>
                <a:cs typeface="Arial"/>
              </a:rPr>
              <a:t>  </a:t>
            </a:r>
            <a:r>
              <a:rPr sz="1050" b="1" spc="-10" dirty="0">
                <a:solidFill>
                  <a:srgbClr val="4D5056"/>
                </a:solidFill>
                <a:latin typeface="Times New Roman"/>
                <a:cs typeface="Times New Roman"/>
              </a:rPr>
              <a:t>HIGH</a:t>
            </a:r>
            <a:r>
              <a:rPr lang="en-US" sz="1050" b="1" spc="-10" dirty="0">
                <a:solidFill>
                  <a:srgbClr val="4D5056"/>
                </a:solidFill>
                <a:latin typeface="Times New Roman"/>
                <a:cs typeface="Times New Roman"/>
              </a:rPr>
              <a:t> </a:t>
            </a:r>
            <a:r>
              <a:rPr sz="1050" b="1" spc="-10" dirty="0">
                <a:solidFill>
                  <a:srgbClr val="4D5056"/>
                </a:solidFill>
                <a:latin typeface="Times New Roman"/>
                <a:cs typeface="Times New Roman"/>
              </a:rPr>
              <a:t>FALSE</a:t>
            </a:r>
            <a:r>
              <a:rPr lang="en-US" sz="1050" b="1" spc="-10" dirty="0">
                <a:solidFill>
                  <a:srgbClr val="4D5056"/>
                </a:solidFill>
                <a:latin typeface="Times New Roman"/>
                <a:cs typeface="Times New Roman"/>
              </a:rPr>
              <a:t> </a:t>
            </a:r>
            <a:r>
              <a:rPr sz="1050" b="1" spc="-10" dirty="0">
                <a:solidFill>
                  <a:srgbClr val="4D5056"/>
                </a:solidFill>
                <a:latin typeface="Times New Roman"/>
                <a:cs typeface="Times New Roman"/>
              </a:rPr>
              <a:t>ALARMS</a:t>
            </a:r>
            <a:endParaRPr sz="1050" dirty="0">
              <a:latin typeface="Times New Roman"/>
              <a:cs typeface="Times New Roman"/>
            </a:endParaRPr>
          </a:p>
          <a:p>
            <a:pPr marL="250825">
              <a:lnSpc>
                <a:spcPct val="100000"/>
              </a:lnSpc>
              <a:spcBef>
                <a:spcPts val="655"/>
              </a:spcBef>
            </a:pP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Traditional</a:t>
            </a:r>
            <a:r>
              <a:rPr sz="700" spc="15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security</a:t>
            </a:r>
            <a:r>
              <a:rPr sz="700" spc="11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systems</a:t>
            </a:r>
            <a:r>
              <a:rPr sz="700" spc="11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4D5056"/>
                </a:solidFill>
                <a:latin typeface="Arial"/>
                <a:cs typeface="Arial"/>
              </a:rPr>
              <a:t>often</a:t>
            </a:r>
            <a:r>
              <a:rPr sz="700" spc="5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4D5056"/>
                </a:solidFill>
                <a:latin typeface="Arial"/>
                <a:cs typeface="Arial"/>
              </a:rPr>
              <a:t>generate</a:t>
            </a:r>
            <a:r>
              <a:rPr sz="700" spc="7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high</a:t>
            </a:r>
            <a:r>
              <a:rPr sz="700" spc="7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false</a:t>
            </a:r>
            <a:r>
              <a:rPr sz="700" spc="8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alarms,</a:t>
            </a:r>
            <a:r>
              <a:rPr sz="700" spc="11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reducing</a:t>
            </a:r>
            <a:r>
              <a:rPr sz="700" spc="9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D5056"/>
                </a:solidFill>
                <a:latin typeface="Arial"/>
                <a:cs typeface="Arial"/>
              </a:rPr>
              <a:t>trust.</a:t>
            </a:r>
            <a:endParaRPr sz="700" dirty="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785"/>
              </a:spcBef>
            </a:pPr>
            <a:r>
              <a:rPr sz="750" b="1" spc="65" dirty="0">
                <a:solidFill>
                  <a:srgbClr val="0A0C0F"/>
                </a:solidFill>
                <a:latin typeface="Arial"/>
                <a:cs typeface="Arial"/>
              </a:rPr>
              <a:t>04</a:t>
            </a:r>
            <a:r>
              <a:rPr sz="750" b="1" spc="275" dirty="0">
                <a:solidFill>
                  <a:srgbClr val="0A0C0F"/>
                </a:solidFill>
                <a:latin typeface="Arial"/>
                <a:cs typeface="Arial"/>
              </a:rPr>
              <a:t>  </a:t>
            </a:r>
            <a:r>
              <a:rPr sz="1050" b="1" spc="-125" dirty="0">
                <a:solidFill>
                  <a:srgbClr val="4D5056"/>
                </a:solidFill>
                <a:latin typeface="Times New Roman"/>
                <a:cs typeface="Times New Roman"/>
              </a:rPr>
              <a:t>DATA</a:t>
            </a:r>
            <a:r>
              <a:rPr lang="en-US" sz="1050" b="1" spc="-125" dirty="0">
                <a:solidFill>
                  <a:srgbClr val="4D5056"/>
                </a:solidFill>
                <a:latin typeface="Times New Roman"/>
                <a:cs typeface="Times New Roman"/>
              </a:rPr>
              <a:t> </a:t>
            </a:r>
            <a:r>
              <a:rPr sz="1050" b="1" spc="-80" dirty="0">
                <a:solidFill>
                  <a:srgbClr val="4D5056"/>
                </a:solidFill>
                <a:latin typeface="Times New Roman"/>
                <a:cs typeface="Times New Roman"/>
              </a:rPr>
              <a:t> </a:t>
            </a:r>
            <a:r>
              <a:rPr sz="1050" b="1" spc="-125" dirty="0">
                <a:solidFill>
                  <a:srgbClr val="4D5056"/>
                </a:solidFill>
                <a:latin typeface="Times New Roman"/>
                <a:cs typeface="Times New Roman"/>
              </a:rPr>
              <a:t>MANAGE</a:t>
            </a:r>
            <a:r>
              <a:rPr lang="en-US" sz="1050" b="1" spc="-125" dirty="0">
                <a:solidFill>
                  <a:srgbClr val="4D5056"/>
                </a:solidFill>
                <a:latin typeface="Times New Roman"/>
                <a:cs typeface="Times New Roman"/>
              </a:rPr>
              <a:t> </a:t>
            </a:r>
            <a:r>
              <a:rPr sz="1050" b="1" spc="-125" dirty="0">
                <a:solidFill>
                  <a:srgbClr val="4D5056"/>
                </a:solidFill>
                <a:latin typeface="Times New Roman"/>
                <a:cs typeface="Times New Roman"/>
              </a:rPr>
              <a:t>MENT</a:t>
            </a:r>
            <a:r>
              <a:rPr sz="1050" b="1" spc="60" dirty="0">
                <a:solidFill>
                  <a:srgbClr val="4D5056"/>
                </a:solidFill>
                <a:latin typeface="Times New Roman"/>
                <a:cs typeface="Times New Roman"/>
              </a:rPr>
              <a:t> </a:t>
            </a:r>
            <a:r>
              <a:rPr lang="en-US" sz="1050" b="1" spc="60" dirty="0">
                <a:solidFill>
                  <a:srgbClr val="4D5056"/>
                </a:solidFill>
                <a:latin typeface="Times New Roman"/>
                <a:cs typeface="Times New Roman"/>
              </a:rPr>
              <a:t> </a:t>
            </a:r>
            <a:r>
              <a:rPr sz="1050" b="1" spc="-10" dirty="0">
                <a:solidFill>
                  <a:srgbClr val="4D5056"/>
                </a:solidFill>
                <a:latin typeface="Times New Roman"/>
                <a:cs typeface="Times New Roman"/>
              </a:rPr>
              <a:t>CHALLENGES</a:t>
            </a:r>
            <a:endParaRPr sz="1050" dirty="0">
              <a:latin typeface="Times New Roman"/>
              <a:cs typeface="Times New Roman"/>
            </a:endParaRPr>
          </a:p>
          <a:p>
            <a:pPr marL="253365">
              <a:lnSpc>
                <a:spcPct val="100000"/>
              </a:lnSpc>
              <a:spcBef>
                <a:spcPts val="675"/>
              </a:spcBef>
            </a:pPr>
            <a:r>
              <a:rPr sz="700" spc="10" dirty="0">
                <a:solidFill>
                  <a:srgbClr val="4D5056"/>
                </a:solidFill>
                <a:latin typeface="Arial"/>
                <a:cs typeface="Arial"/>
              </a:rPr>
              <a:t>lv1anaging</a:t>
            </a:r>
            <a:r>
              <a:rPr sz="700" spc="6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4D5056"/>
                </a:solidFill>
                <a:latin typeface="Arial"/>
                <a:cs typeface="Arial"/>
              </a:rPr>
              <a:t>large</a:t>
            </a:r>
            <a:r>
              <a:rPr sz="70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amounts</a:t>
            </a:r>
            <a:r>
              <a:rPr sz="700" spc="6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of</a:t>
            </a:r>
            <a:r>
              <a:rPr sz="700" spc="15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4D5056"/>
                </a:solidFill>
                <a:latin typeface="Arial"/>
                <a:cs typeface="Arial"/>
              </a:rPr>
              <a:t>network</a:t>
            </a:r>
            <a:r>
              <a:rPr sz="700" spc="7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60" dirty="0">
                <a:solidFill>
                  <a:srgbClr val="4D5056"/>
                </a:solidFill>
                <a:latin typeface="Arial"/>
                <a:cs typeface="Arial"/>
              </a:rPr>
              <a:t>data</a:t>
            </a:r>
            <a:r>
              <a:rPr sz="700" spc="2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poses</a:t>
            </a:r>
            <a:r>
              <a:rPr sz="700" spc="4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significant</a:t>
            </a:r>
            <a:r>
              <a:rPr sz="700" spc="8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D5056"/>
                </a:solidFill>
                <a:latin typeface="Arial"/>
                <a:cs typeface="Arial"/>
              </a:rPr>
              <a:t>challenges.</a:t>
            </a:r>
            <a:endParaRPr sz="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050" b="1" dirty="0" err="1">
                <a:solidFill>
                  <a:srgbClr val="0A0C0F"/>
                </a:solidFill>
                <a:latin typeface="Arial"/>
                <a:cs typeface="Arial"/>
              </a:rPr>
              <a:t>os</a:t>
            </a:r>
            <a:r>
              <a:rPr sz="1050" b="1" spc="340" dirty="0">
                <a:solidFill>
                  <a:srgbClr val="0A0C0F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4D5056"/>
                </a:solidFill>
                <a:latin typeface="Times New Roman"/>
                <a:cs typeface="Times New Roman"/>
              </a:rPr>
              <a:t>OUR</a:t>
            </a:r>
            <a:r>
              <a:rPr lang="en-US" sz="1050" b="1" spc="-10" dirty="0">
                <a:solidFill>
                  <a:srgbClr val="4D5056"/>
                </a:solidFill>
                <a:latin typeface="Times New Roman"/>
                <a:cs typeface="Times New Roman"/>
              </a:rPr>
              <a:t> </a:t>
            </a:r>
            <a:r>
              <a:rPr sz="1050" b="1" spc="-10" dirty="0">
                <a:solidFill>
                  <a:srgbClr val="4D5056"/>
                </a:solidFill>
                <a:latin typeface="Times New Roman"/>
                <a:cs typeface="Times New Roman"/>
              </a:rPr>
              <a:t>GOAL</a:t>
            </a:r>
            <a:endParaRPr sz="1050" dirty="0">
              <a:latin typeface="Times New Roman"/>
              <a:cs typeface="Times New Roman"/>
            </a:endParaRPr>
          </a:p>
          <a:p>
            <a:pPr marL="250825">
              <a:lnSpc>
                <a:spcPct val="100000"/>
              </a:lnSpc>
              <a:spcBef>
                <a:spcPts val="680"/>
              </a:spcBef>
            </a:pPr>
            <a:r>
              <a:rPr sz="700" dirty="0">
                <a:solidFill>
                  <a:srgbClr val="4D5056"/>
                </a:solidFill>
                <a:latin typeface="Arial"/>
                <a:cs typeface="Arial"/>
              </a:rPr>
              <a:t>To</a:t>
            </a:r>
            <a:r>
              <a:rPr sz="700" spc="9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4D5056"/>
                </a:solidFill>
                <a:latin typeface="Arial"/>
                <a:cs typeface="Arial"/>
              </a:rPr>
              <a:t>create</a:t>
            </a:r>
            <a:r>
              <a:rPr sz="700" spc="9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65" dirty="0">
                <a:solidFill>
                  <a:srgbClr val="4D5056"/>
                </a:solidFill>
                <a:latin typeface="Arial"/>
                <a:cs typeface="Arial"/>
              </a:rPr>
              <a:t>a</a:t>
            </a:r>
            <a:r>
              <a:rPr sz="700" spc="15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D5056"/>
                </a:solidFill>
                <a:latin typeface="Arial"/>
                <a:cs typeface="Arial"/>
              </a:rPr>
              <a:t>smart</a:t>
            </a:r>
            <a:r>
              <a:rPr sz="700" spc="18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D5056"/>
                </a:solidFill>
                <a:latin typeface="Arial"/>
                <a:cs typeface="Arial"/>
              </a:rPr>
              <a:t>intrusion</a:t>
            </a:r>
            <a:r>
              <a:rPr sz="700" spc="17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D5056"/>
                </a:solidFill>
                <a:latin typeface="Arial"/>
                <a:cs typeface="Arial"/>
              </a:rPr>
              <a:t>detection</a:t>
            </a:r>
            <a:r>
              <a:rPr sz="700" spc="15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D5056"/>
                </a:solidFill>
                <a:latin typeface="Arial"/>
                <a:cs typeface="Arial"/>
              </a:rPr>
              <a:t>system</a:t>
            </a:r>
            <a:r>
              <a:rPr sz="700" spc="15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60" dirty="0">
                <a:solidFill>
                  <a:srgbClr val="4D5056"/>
                </a:solidFill>
                <a:latin typeface="Arial"/>
                <a:cs typeface="Arial"/>
              </a:rPr>
              <a:t>that</a:t>
            </a:r>
            <a:r>
              <a:rPr sz="700" spc="14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D5056"/>
                </a:solidFill>
                <a:latin typeface="Arial"/>
                <a:cs typeface="Arial"/>
              </a:rPr>
              <a:t>is</a:t>
            </a:r>
            <a:r>
              <a:rPr sz="700" spc="16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D5056"/>
                </a:solidFill>
                <a:latin typeface="Arial"/>
                <a:cs typeface="Arial"/>
              </a:rPr>
              <a:t>fast,</a:t>
            </a:r>
            <a:r>
              <a:rPr sz="700" spc="5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D5056"/>
                </a:solidFill>
                <a:latin typeface="Arial"/>
                <a:cs typeface="Arial"/>
              </a:rPr>
              <a:t>accurate,</a:t>
            </a:r>
            <a:r>
              <a:rPr sz="700" spc="15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55" dirty="0">
                <a:solidFill>
                  <a:srgbClr val="4D5056"/>
                </a:solidFill>
                <a:latin typeface="Arial"/>
                <a:cs typeface="Arial"/>
              </a:rPr>
              <a:t>and</a:t>
            </a:r>
            <a:r>
              <a:rPr sz="700" spc="10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D5056"/>
                </a:solidFill>
                <a:latin typeface="Arial"/>
                <a:cs typeface="Arial"/>
              </a:rPr>
              <a:t>scalable.</a:t>
            </a:r>
            <a:endParaRPr sz="700" dirty="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71622" y="3917989"/>
            <a:ext cx="0" cy="648335"/>
          </a:xfrm>
          <a:custGeom>
            <a:avLst/>
            <a:gdLst/>
            <a:ahLst/>
            <a:cxnLst/>
            <a:rect l="l" t="t" r="r" b="b"/>
            <a:pathLst>
              <a:path h="648335">
                <a:moveTo>
                  <a:pt x="0" y="647899"/>
                </a:moveTo>
                <a:lnTo>
                  <a:pt x="0" y="0"/>
                </a:lnTo>
              </a:path>
            </a:pathLst>
          </a:custGeom>
          <a:ln w="61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4836" y="1517179"/>
            <a:ext cx="4987925" cy="1193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635" algn="ctr">
              <a:lnSpc>
                <a:spcPct val="100099"/>
              </a:lnSpc>
              <a:spcBef>
                <a:spcPts val="100"/>
              </a:spcBef>
            </a:pPr>
            <a:r>
              <a:rPr sz="2650" spc="-145" dirty="0">
                <a:solidFill>
                  <a:srgbClr val="313841"/>
                </a:solidFill>
              </a:rPr>
              <a:t>BUILD</a:t>
            </a:r>
            <a:r>
              <a:rPr sz="2650" spc="-160" dirty="0">
                <a:solidFill>
                  <a:srgbClr val="313841"/>
                </a:solidFill>
              </a:rPr>
              <a:t> </a:t>
            </a:r>
            <a:r>
              <a:rPr sz="2650" spc="-140" dirty="0">
                <a:solidFill>
                  <a:srgbClr val="313841"/>
                </a:solidFill>
              </a:rPr>
              <a:t>A</a:t>
            </a:r>
            <a:r>
              <a:rPr sz="2650" spc="-335" dirty="0">
                <a:solidFill>
                  <a:srgbClr val="313841"/>
                </a:solidFill>
              </a:rPr>
              <a:t> </a:t>
            </a:r>
            <a:r>
              <a:rPr sz="2650" spc="-250" dirty="0">
                <a:solidFill>
                  <a:srgbClr val="313841"/>
                </a:solidFill>
              </a:rPr>
              <a:t>SYSTEM</a:t>
            </a:r>
            <a:r>
              <a:rPr sz="2650" spc="-40" dirty="0">
                <a:solidFill>
                  <a:srgbClr val="313841"/>
                </a:solidFill>
              </a:rPr>
              <a:t> </a:t>
            </a:r>
            <a:r>
              <a:rPr sz="2650" spc="-160" dirty="0">
                <a:solidFill>
                  <a:srgbClr val="313841"/>
                </a:solidFill>
              </a:rPr>
              <a:t>THAT</a:t>
            </a:r>
            <a:r>
              <a:rPr sz="2650" spc="-185" dirty="0">
                <a:solidFill>
                  <a:srgbClr val="313841"/>
                </a:solidFill>
              </a:rPr>
              <a:t> </a:t>
            </a:r>
            <a:r>
              <a:rPr sz="2650" spc="-140" dirty="0">
                <a:solidFill>
                  <a:srgbClr val="313841"/>
                </a:solidFill>
              </a:rPr>
              <a:t>DETECTS </a:t>
            </a:r>
            <a:r>
              <a:rPr sz="2650" spc="-190" dirty="0">
                <a:solidFill>
                  <a:srgbClr val="313841"/>
                </a:solidFill>
              </a:rPr>
              <a:t>THREATS</a:t>
            </a:r>
            <a:r>
              <a:rPr sz="2650" spc="-105" dirty="0">
                <a:solidFill>
                  <a:srgbClr val="313841"/>
                </a:solidFill>
              </a:rPr>
              <a:t> </a:t>
            </a:r>
            <a:r>
              <a:rPr sz="2650" spc="-180" dirty="0">
                <a:solidFill>
                  <a:srgbClr val="313841"/>
                </a:solidFill>
              </a:rPr>
              <a:t>WITH</a:t>
            </a:r>
            <a:r>
              <a:rPr sz="2650" spc="-175" dirty="0">
                <a:solidFill>
                  <a:srgbClr val="313841"/>
                </a:solidFill>
              </a:rPr>
              <a:t> </a:t>
            </a:r>
            <a:r>
              <a:rPr sz="2650" spc="-190" dirty="0">
                <a:solidFill>
                  <a:srgbClr val="313841"/>
                </a:solidFill>
              </a:rPr>
              <a:t>HIGH</a:t>
            </a:r>
            <a:r>
              <a:rPr sz="2650" spc="-180" dirty="0">
                <a:solidFill>
                  <a:srgbClr val="313841"/>
                </a:solidFill>
              </a:rPr>
              <a:t> </a:t>
            </a:r>
            <a:r>
              <a:rPr sz="2650" spc="-325" dirty="0">
                <a:solidFill>
                  <a:srgbClr val="313841"/>
                </a:solidFill>
              </a:rPr>
              <a:t>ACCURACY </a:t>
            </a:r>
            <a:r>
              <a:rPr sz="2350" spc="-10" dirty="0">
                <a:solidFill>
                  <a:srgbClr val="313841"/>
                </a:solidFill>
                <a:latin typeface="Arial"/>
                <a:cs typeface="Arial"/>
              </a:rPr>
              <a:t>(&gt;99%)</a:t>
            </a:r>
            <a:endParaRPr sz="23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4721" y="2797697"/>
            <a:ext cx="370522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20" dirty="0">
                <a:solidFill>
                  <a:srgbClr val="4F565D"/>
                </a:solidFill>
                <a:latin typeface="Arial"/>
                <a:cs typeface="Arial"/>
              </a:rPr>
              <a:t>Aim</a:t>
            </a:r>
            <a:r>
              <a:rPr sz="850" spc="5" dirty="0">
                <a:solidFill>
                  <a:srgbClr val="4F565D"/>
                </a:solidFill>
                <a:latin typeface="Arial"/>
                <a:cs typeface="Arial"/>
              </a:rPr>
              <a:t> </a:t>
            </a:r>
            <a:r>
              <a:rPr sz="850" spc="20" dirty="0">
                <a:solidFill>
                  <a:srgbClr val="4F565D"/>
                </a:solidFill>
                <a:latin typeface="Arial"/>
                <a:cs typeface="Arial"/>
              </a:rPr>
              <a:t>to</a:t>
            </a:r>
            <a:r>
              <a:rPr sz="850" spc="80" dirty="0">
                <a:solidFill>
                  <a:srgbClr val="4F565D"/>
                </a:solidFill>
                <a:latin typeface="Arial"/>
                <a:cs typeface="Arial"/>
              </a:rPr>
              <a:t> </a:t>
            </a:r>
            <a:r>
              <a:rPr sz="850" spc="20" dirty="0">
                <a:solidFill>
                  <a:srgbClr val="4F565D"/>
                </a:solidFill>
                <a:latin typeface="Arial"/>
                <a:cs typeface="Arial"/>
              </a:rPr>
              <a:t>create </a:t>
            </a:r>
            <a:r>
              <a:rPr sz="850" spc="50" dirty="0">
                <a:solidFill>
                  <a:srgbClr val="4F565D"/>
                </a:solidFill>
                <a:latin typeface="Arial"/>
                <a:cs typeface="Arial"/>
              </a:rPr>
              <a:t>a</a:t>
            </a:r>
            <a:r>
              <a:rPr sz="850" spc="25" dirty="0">
                <a:solidFill>
                  <a:srgbClr val="4F565D"/>
                </a:solidFill>
                <a:latin typeface="Arial"/>
                <a:cs typeface="Arial"/>
              </a:rPr>
              <a:t> </a:t>
            </a:r>
            <a:r>
              <a:rPr sz="850" spc="20" dirty="0">
                <a:solidFill>
                  <a:srgbClr val="4F565D"/>
                </a:solidFill>
                <a:latin typeface="Arial"/>
                <a:cs typeface="Arial"/>
              </a:rPr>
              <a:t>robust</a:t>
            </a:r>
            <a:r>
              <a:rPr sz="850" spc="30" dirty="0">
                <a:solidFill>
                  <a:srgbClr val="4F565D"/>
                </a:solidFill>
                <a:latin typeface="Arial"/>
                <a:cs typeface="Arial"/>
              </a:rPr>
              <a:t> </a:t>
            </a:r>
            <a:r>
              <a:rPr sz="850" spc="20" dirty="0">
                <a:solidFill>
                  <a:srgbClr val="4F565D"/>
                </a:solidFill>
                <a:latin typeface="Arial"/>
                <a:cs typeface="Arial"/>
              </a:rPr>
              <a:t>detect</a:t>
            </a:r>
            <a:r>
              <a:rPr sz="850" spc="20" dirty="0">
                <a:solidFill>
                  <a:srgbClr val="6B7075"/>
                </a:solidFill>
                <a:latin typeface="Arial"/>
                <a:cs typeface="Arial"/>
              </a:rPr>
              <a:t>i</a:t>
            </a:r>
            <a:r>
              <a:rPr sz="850" spc="20" dirty="0">
                <a:solidFill>
                  <a:srgbClr val="4F565D"/>
                </a:solidFill>
                <a:latin typeface="Arial"/>
                <a:cs typeface="Arial"/>
              </a:rPr>
              <a:t>on system</a:t>
            </a:r>
            <a:r>
              <a:rPr sz="850" spc="50" dirty="0">
                <a:solidFill>
                  <a:srgbClr val="4F565D"/>
                </a:solidFill>
                <a:latin typeface="Arial"/>
                <a:cs typeface="Arial"/>
              </a:rPr>
              <a:t> </a:t>
            </a:r>
            <a:r>
              <a:rPr sz="850" spc="55" dirty="0">
                <a:solidFill>
                  <a:srgbClr val="4F565D"/>
                </a:solidFill>
                <a:latin typeface="Arial"/>
                <a:cs typeface="Arial"/>
              </a:rPr>
              <a:t>that</a:t>
            </a:r>
            <a:r>
              <a:rPr sz="850" spc="50" dirty="0">
                <a:solidFill>
                  <a:srgbClr val="4F565D"/>
                </a:solidFill>
                <a:latin typeface="Arial"/>
                <a:cs typeface="Arial"/>
              </a:rPr>
              <a:t> </a:t>
            </a:r>
            <a:r>
              <a:rPr sz="850" spc="10" dirty="0">
                <a:solidFill>
                  <a:srgbClr val="4F565D"/>
                </a:solidFill>
                <a:latin typeface="Arial"/>
                <a:cs typeface="Arial"/>
              </a:rPr>
              <a:t>minimizes</a:t>
            </a:r>
            <a:r>
              <a:rPr sz="850" spc="110" dirty="0">
                <a:solidFill>
                  <a:srgbClr val="4F565D"/>
                </a:solidFill>
                <a:latin typeface="Arial"/>
                <a:cs typeface="Arial"/>
              </a:rPr>
              <a:t> </a:t>
            </a:r>
            <a:r>
              <a:rPr sz="850" spc="20" dirty="0">
                <a:solidFill>
                  <a:srgbClr val="4F565D"/>
                </a:solidFill>
                <a:latin typeface="Arial"/>
                <a:cs typeface="Arial"/>
              </a:rPr>
              <a:t>false</a:t>
            </a:r>
            <a:r>
              <a:rPr sz="850" spc="40" dirty="0">
                <a:solidFill>
                  <a:srgbClr val="4F565D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4F565D"/>
                </a:solidFill>
                <a:latin typeface="Arial"/>
                <a:cs typeface="Arial"/>
              </a:rPr>
              <a:t>negatives</a:t>
            </a:r>
            <a:r>
              <a:rPr sz="850" spc="-10" dirty="0">
                <a:solidFill>
                  <a:srgbClr val="6B7075"/>
                </a:solidFill>
                <a:latin typeface="Arial"/>
                <a:cs typeface="Arial"/>
              </a:rPr>
              <a:t>.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61273"/>
            <a:ext cx="427306" cy="8923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5321" y="996330"/>
            <a:ext cx="1684808" cy="326394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430">
              <a:lnSpc>
                <a:spcPct val="100000"/>
              </a:lnSpc>
              <a:spcBef>
                <a:spcPts val="105"/>
              </a:spcBef>
            </a:pPr>
            <a:r>
              <a:rPr spc="-120" dirty="0">
                <a:solidFill>
                  <a:srgbClr val="3A3F46"/>
                </a:solidFill>
              </a:rPr>
              <a:t>CICIDS-</a:t>
            </a:r>
            <a:r>
              <a:rPr spc="-105" dirty="0">
                <a:solidFill>
                  <a:srgbClr val="3A3F46"/>
                </a:solidFill>
              </a:rPr>
              <a:t>2017</a:t>
            </a:r>
            <a:r>
              <a:rPr spc="25" dirty="0">
                <a:solidFill>
                  <a:srgbClr val="3A3F46"/>
                </a:solidFill>
              </a:rPr>
              <a:t> </a:t>
            </a:r>
            <a:r>
              <a:rPr spc="-190" dirty="0">
                <a:solidFill>
                  <a:srgbClr val="3A3F46"/>
                </a:solidFill>
              </a:rPr>
              <a:t>DATASET</a:t>
            </a:r>
            <a:r>
              <a:rPr spc="-55" dirty="0">
                <a:solidFill>
                  <a:srgbClr val="3A3F46"/>
                </a:solidFill>
              </a:rPr>
              <a:t> </a:t>
            </a:r>
            <a:r>
              <a:rPr spc="-225" dirty="0">
                <a:solidFill>
                  <a:srgbClr val="3A3F46"/>
                </a:solidFill>
              </a:rPr>
              <a:t>OVERVIEW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0410" y="624789"/>
            <a:ext cx="187515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4D5056"/>
                </a:solidFill>
                <a:latin typeface="Arial"/>
                <a:cs typeface="Arial"/>
              </a:rPr>
              <a:t>Key</a:t>
            </a:r>
            <a:r>
              <a:rPr sz="850" spc="8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4D5056"/>
                </a:solidFill>
                <a:latin typeface="Arial"/>
                <a:cs typeface="Arial"/>
              </a:rPr>
              <a:t>Features</a:t>
            </a:r>
            <a:r>
              <a:rPr sz="850" spc="4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4D5056"/>
                </a:solidFill>
                <a:latin typeface="Arial"/>
                <a:cs typeface="Arial"/>
              </a:rPr>
              <a:t>and</a:t>
            </a:r>
            <a:r>
              <a:rPr sz="850" spc="15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850" spc="50" dirty="0">
                <a:solidFill>
                  <a:srgbClr val="4D5056"/>
                </a:solidFill>
                <a:latin typeface="Arial"/>
                <a:cs typeface="Arial"/>
              </a:rPr>
              <a:t>Data</a:t>
            </a:r>
            <a:r>
              <a:rPr sz="850" spc="7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4D5056"/>
                </a:solidFill>
                <a:latin typeface="Arial"/>
                <a:cs typeface="Arial"/>
              </a:rPr>
              <a:t>Preparation</a:t>
            </a:r>
            <a:endParaRPr sz="8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3496" y="1262502"/>
            <a:ext cx="2332355" cy="522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0130">
              <a:lnSpc>
                <a:spcPct val="100000"/>
              </a:lnSpc>
              <a:spcBef>
                <a:spcPts val="100"/>
              </a:spcBef>
            </a:pPr>
            <a:r>
              <a:rPr sz="1050" b="1" spc="-105" dirty="0">
                <a:solidFill>
                  <a:srgbClr val="3A3F46"/>
                </a:solidFill>
                <a:latin typeface="Times New Roman"/>
                <a:cs typeface="Times New Roman"/>
              </a:rPr>
              <a:t>DATASET</a:t>
            </a:r>
            <a:r>
              <a:rPr sz="1050" b="1" spc="-50" dirty="0">
                <a:solidFill>
                  <a:srgbClr val="3A3F46"/>
                </a:solidFill>
                <a:latin typeface="Times New Roman"/>
                <a:cs typeface="Times New Roman"/>
              </a:rPr>
              <a:t> </a:t>
            </a:r>
            <a:r>
              <a:rPr sz="1050" b="1" spc="-60" dirty="0">
                <a:solidFill>
                  <a:srgbClr val="4D5056"/>
                </a:solidFill>
                <a:latin typeface="Times New Roman"/>
                <a:cs typeface="Times New Roman"/>
              </a:rPr>
              <a:t>SELECTION</a:t>
            </a:r>
            <a:endParaRPr sz="1050">
              <a:latin typeface="Times New Roman"/>
              <a:cs typeface="Times New Roman"/>
            </a:endParaRPr>
          </a:p>
          <a:p>
            <a:pPr marR="12065" algn="r">
              <a:lnSpc>
                <a:spcPct val="100000"/>
              </a:lnSpc>
              <a:spcBef>
                <a:spcPts val="630"/>
              </a:spcBef>
            </a:pPr>
            <a:r>
              <a:rPr sz="700" spc="20" dirty="0">
                <a:solidFill>
                  <a:srgbClr val="5D6267"/>
                </a:solidFill>
                <a:latin typeface="Arial"/>
                <a:cs typeface="Arial"/>
              </a:rPr>
              <a:t>We</a:t>
            </a:r>
            <a:r>
              <a:rPr sz="700" spc="40" dirty="0">
                <a:solidFill>
                  <a:srgbClr val="5D6267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utilized</a:t>
            </a:r>
            <a:r>
              <a:rPr sz="700" spc="6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the</a:t>
            </a:r>
            <a:r>
              <a:rPr sz="700" spc="12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CICIDS-2017</a:t>
            </a:r>
            <a:r>
              <a:rPr sz="700" spc="10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dataset,</a:t>
            </a:r>
            <a:r>
              <a:rPr sz="700" spc="7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5D6267"/>
                </a:solidFill>
                <a:latin typeface="Arial"/>
                <a:cs typeface="Arial"/>
              </a:rPr>
              <a:t>wh</a:t>
            </a:r>
            <a:r>
              <a:rPr sz="700" spc="20" dirty="0">
                <a:solidFill>
                  <a:srgbClr val="3A3F46"/>
                </a:solidFill>
                <a:latin typeface="Arial"/>
                <a:cs typeface="Arial"/>
              </a:rPr>
              <a:t>ich</a:t>
            </a:r>
            <a:r>
              <a:rPr sz="700" spc="70" dirty="0">
                <a:solidFill>
                  <a:srgbClr val="3A3F46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D5056"/>
                </a:solidFill>
                <a:latin typeface="Arial"/>
                <a:cs typeface="Arial"/>
              </a:rPr>
              <a:t>features</a:t>
            </a:r>
            <a:endParaRPr sz="7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340"/>
              </a:spcBef>
            </a:pP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authentic</a:t>
            </a:r>
            <a:r>
              <a:rPr sz="700" spc="204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4D5056"/>
                </a:solidFill>
                <a:latin typeface="Arial"/>
                <a:cs typeface="Arial"/>
              </a:rPr>
              <a:t>loT</a:t>
            </a:r>
            <a:r>
              <a:rPr sz="700" spc="7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network</a:t>
            </a:r>
            <a:r>
              <a:rPr sz="700" spc="12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55" dirty="0">
                <a:solidFill>
                  <a:srgbClr val="4D5056"/>
                </a:solidFill>
                <a:latin typeface="Arial"/>
                <a:cs typeface="Arial"/>
              </a:rPr>
              <a:t>traffic</a:t>
            </a:r>
            <a:r>
              <a:rPr sz="700" spc="8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55" dirty="0">
                <a:solidFill>
                  <a:srgbClr val="4D5056"/>
                </a:solidFill>
                <a:latin typeface="Arial"/>
                <a:cs typeface="Arial"/>
              </a:rPr>
              <a:t>data.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6649" y="2344371"/>
            <a:ext cx="2670810" cy="516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5385">
              <a:lnSpc>
                <a:spcPct val="100000"/>
              </a:lnSpc>
              <a:spcBef>
                <a:spcPts val="100"/>
              </a:spcBef>
            </a:pPr>
            <a:r>
              <a:rPr sz="1050" b="1" spc="-90" dirty="0">
                <a:solidFill>
                  <a:srgbClr val="4D5056"/>
                </a:solidFill>
                <a:latin typeface="Times New Roman"/>
                <a:cs typeface="Times New Roman"/>
              </a:rPr>
              <a:t>TRAFFIC</a:t>
            </a:r>
            <a:r>
              <a:rPr sz="1050" b="1" spc="-25" dirty="0">
                <a:solidFill>
                  <a:srgbClr val="4D5056"/>
                </a:solidFill>
                <a:latin typeface="Times New Roman"/>
                <a:cs typeface="Times New Roman"/>
              </a:rPr>
              <a:t> </a:t>
            </a:r>
            <a:r>
              <a:rPr sz="1050" b="1" spc="-110" dirty="0">
                <a:solidFill>
                  <a:srgbClr val="4D5056"/>
                </a:solidFill>
                <a:latin typeface="Times New Roman"/>
                <a:cs typeface="Times New Roman"/>
              </a:rPr>
              <a:t>FLOW</a:t>
            </a:r>
            <a:r>
              <a:rPr sz="1050" b="1" spc="-75" dirty="0">
                <a:solidFill>
                  <a:srgbClr val="4D5056"/>
                </a:solidFill>
                <a:latin typeface="Times New Roman"/>
                <a:cs typeface="Times New Roman"/>
              </a:rPr>
              <a:t> </a:t>
            </a:r>
            <a:r>
              <a:rPr sz="1050" b="1" spc="-70" dirty="0">
                <a:solidFill>
                  <a:srgbClr val="4D5056"/>
                </a:solidFill>
                <a:latin typeface="Times New Roman"/>
                <a:cs typeface="Times New Roman"/>
              </a:rPr>
              <a:t>METRICS</a:t>
            </a:r>
            <a:endParaRPr sz="10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655"/>
              </a:spcBef>
            </a:pPr>
            <a:r>
              <a:rPr sz="700" spc="30" dirty="0">
                <a:solidFill>
                  <a:srgbClr val="3A3F46"/>
                </a:solidFill>
                <a:latin typeface="Arial"/>
                <a:cs typeface="Arial"/>
              </a:rPr>
              <a:t>In</a:t>
            </a:r>
            <a:r>
              <a:rPr sz="700" spc="30" dirty="0">
                <a:solidFill>
                  <a:srgbClr val="5D6267"/>
                </a:solidFill>
                <a:latin typeface="Arial"/>
                <a:cs typeface="Arial"/>
              </a:rPr>
              <a:t>cludes</a:t>
            </a:r>
            <a:r>
              <a:rPr sz="700" spc="-15" dirty="0">
                <a:solidFill>
                  <a:srgbClr val="5D6267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metrics</a:t>
            </a:r>
            <a:r>
              <a:rPr sz="700" spc="8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3A3F46"/>
                </a:solidFill>
                <a:latin typeface="Arial"/>
                <a:cs typeface="Arial"/>
              </a:rPr>
              <a:t>li</a:t>
            </a:r>
            <a:r>
              <a:rPr sz="700" spc="30" dirty="0">
                <a:solidFill>
                  <a:srgbClr val="5D6267"/>
                </a:solidFill>
                <a:latin typeface="Arial"/>
                <a:cs typeface="Arial"/>
              </a:rPr>
              <a:t>ke</a:t>
            </a:r>
            <a:r>
              <a:rPr sz="700" spc="105" dirty="0">
                <a:solidFill>
                  <a:srgbClr val="5D6267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traffic</a:t>
            </a:r>
            <a:r>
              <a:rPr sz="700" spc="8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fiow</a:t>
            </a:r>
            <a:r>
              <a:rPr sz="700" spc="4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duration,</a:t>
            </a:r>
            <a:r>
              <a:rPr sz="700" spc="10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bytes</a:t>
            </a:r>
            <a:r>
              <a:rPr sz="700" spc="3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45" dirty="0">
                <a:solidFill>
                  <a:srgbClr val="3A3F46"/>
                </a:solidFill>
                <a:latin typeface="Arial"/>
                <a:cs typeface="Arial"/>
              </a:rPr>
              <a:t>tran</a:t>
            </a:r>
            <a:r>
              <a:rPr sz="700" spc="45" dirty="0">
                <a:solidFill>
                  <a:srgbClr val="5D6267"/>
                </a:solidFill>
                <a:latin typeface="Arial"/>
                <a:cs typeface="Arial"/>
              </a:rPr>
              <a:t>sfe</a:t>
            </a:r>
            <a:r>
              <a:rPr sz="700" spc="45" dirty="0">
                <a:solidFill>
                  <a:srgbClr val="3A3F46"/>
                </a:solidFill>
                <a:latin typeface="Arial"/>
                <a:cs typeface="Arial"/>
              </a:rPr>
              <a:t>rred</a:t>
            </a:r>
            <a:r>
              <a:rPr sz="700" spc="45" dirty="0">
                <a:solidFill>
                  <a:srgbClr val="5D6267"/>
                </a:solidFill>
                <a:latin typeface="Arial"/>
                <a:cs typeface="Arial"/>
              </a:rPr>
              <a:t>,</a:t>
            </a:r>
            <a:endParaRPr sz="7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265"/>
              </a:spcBef>
            </a:pPr>
            <a:r>
              <a:rPr sz="700" spc="70" dirty="0">
                <a:solidFill>
                  <a:srgbClr val="4D5056"/>
                </a:solidFill>
                <a:latin typeface="Arial"/>
                <a:cs typeface="Arial"/>
              </a:rPr>
              <a:t>and</a:t>
            </a:r>
            <a:r>
              <a:rPr sz="70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3A3F46"/>
                </a:solidFill>
                <a:latin typeface="Arial"/>
                <a:cs typeface="Arial"/>
              </a:rPr>
              <a:t>packet</a:t>
            </a:r>
            <a:r>
              <a:rPr sz="700" spc="95" dirty="0">
                <a:solidFill>
                  <a:srgbClr val="3A3F46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3A3F46"/>
                </a:solidFill>
                <a:latin typeface="Arial"/>
                <a:cs typeface="Arial"/>
              </a:rPr>
              <a:t>length</a:t>
            </a:r>
            <a:r>
              <a:rPr sz="700" spc="-10" dirty="0">
                <a:solidFill>
                  <a:srgbClr val="5D6267"/>
                </a:solidFill>
                <a:latin typeface="Arial"/>
                <a:cs typeface="Arial"/>
              </a:rPr>
              <a:t>s.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1162" y="3426240"/>
            <a:ext cx="2199640" cy="6668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8155">
              <a:lnSpc>
                <a:spcPct val="100000"/>
              </a:lnSpc>
              <a:spcBef>
                <a:spcPts val="100"/>
              </a:spcBef>
            </a:pPr>
            <a:r>
              <a:rPr sz="1050" b="1" spc="-70" dirty="0">
                <a:solidFill>
                  <a:srgbClr val="3A3F46"/>
                </a:solidFill>
                <a:latin typeface="Times New Roman"/>
                <a:cs typeface="Times New Roman"/>
              </a:rPr>
              <a:t>DATA</a:t>
            </a:r>
            <a:r>
              <a:rPr lang="en-US" sz="1050" b="1" spc="-70" dirty="0">
                <a:solidFill>
                  <a:srgbClr val="3A3F46"/>
                </a:solidFill>
                <a:latin typeface="Times New Roman"/>
                <a:cs typeface="Times New Roman"/>
              </a:rPr>
              <a:t> </a:t>
            </a:r>
            <a:r>
              <a:rPr sz="1050" b="1" spc="-70" dirty="0">
                <a:solidFill>
                  <a:srgbClr val="3A3F46"/>
                </a:solidFill>
                <a:latin typeface="Times New Roman"/>
                <a:cs typeface="Times New Roman"/>
              </a:rPr>
              <a:t>SCALING</a:t>
            </a:r>
            <a:r>
              <a:rPr lang="en-US" sz="1050" b="1" spc="-70" dirty="0">
                <a:solidFill>
                  <a:srgbClr val="3A3F46"/>
                </a:solidFill>
                <a:latin typeface="Times New Roman"/>
                <a:cs typeface="Times New Roman"/>
              </a:rPr>
              <a:t> </a:t>
            </a:r>
            <a:r>
              <a:rPr sz="1050" b="1" spc="-70" dirty="0">
                <a:solidFill>
                  <a:srgbClr val="3A3F46"/>
                </a:solidFill>
                <a:latin typeface="Times New Roman"/>
                <a:cs typeface="Times New Roman"/>
              </a:rPr>
              <a:t>TECHNIQUES</a:t>
            </a:r>
            <a:endParaRPr sz="1050" dirty="0">
              <a:latin typeface="Times New Roman"/>
              <a:cs typeface="Times New Roman"/>
            </a:endParaRPr>
          </a:p>
          <a:p>
            <a:pPr marR="13970" algn="r">
              <a:lnSpc>
                <a:spcPct val="100000"/>
              </a:lnSpc>
              <a:spcBef>
                <a:spcPts val="630"/>
              </a:spcBef>
            </a:pPr>
            <a:r>
              <a:rPr sz="700" spc="70" dirty="0">
                <a:solidFill>
                  <a:srgbClr val="4D5056"/>
                </a:solidFill>
                <a:latin typeface="Arial"/>
                <a:cs typeface="Arial"/>
              </a:rPr>
              <a:t>Data</a:t>
            </a:r>
            <a:r>
              <a:rPr sz="700" spc="6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4D5056"/>
                </a:solidFill>
                <a:latin typeface="Arial"/>
                <a:cs typeface="Arial"/>
              </a:rPr>
              <a:t>was</a:t>
            </a:r>
            <a:r>
              <a:rPr sz="700" spc="5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4D5056"/>
                </a:solidFill>
                <a:latin typeface="Arial"/>
                <a:cs typeface="Arial"/>
              </a:rPr>
              <a:t>scaled</a:t>
            </a:r>
            <a:r>
              <a:rPr sz="700" spc="7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55" dirty="0">
                <a:solidFill>
                  <a:srgbClr val="4D5056"/>
                </a:solidFill>
                <a:latin typeface="Arial"/>
                <a:cs typeface="Arial"/>
              </a:rPr>
              <a:t>appropriately</a:t>
            </a:r>
            <a:r>
              <a:rPr sz="700" spc="114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4D5056"/>
                </a:solidFill>
                <a:latin typeface="Arial"/>
                <a:cs typeface="Arial"/>
              </a:rPr>
              <a:t>to</a:t>
            </a:r>
            <a:r>
              <a:rPr sz="700" spc="8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4D5056"/>
                </a:solidFill>
                <a:latin typeface="Arial"/>
                <a:cs typeface="Arial"/>
              </a:rPr>
              <a:t>ensure</a:t>
            </a: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40" dirty="0">
                <a:solidFill>
                  <a:srgbClr val="4D5056"/>
                </a:solidFill>
                <a:latin typeface="Arial"/>
                <a:cs typeface="Arial"/>
              </a:rPr>
              <a:t>optimal</a:t>
            </a:r>
            <a:endParaRPr sz="700" dirty="0">
              <a:latin typeface="Arial"/>
              <a:cs typeface="Arial"/>
            </a:endParaRPr>
          </a:p>
          <a:p>
            <a:pPr marR="17145" algn="r">
              <a:lnSpc>
                <a:spcPct val="100000"/>
              </a:lnSpc>
              <a:spcBef>
                <a:spcPts val="315"/>
              </a:spcBef>
            </a:pPr>
            <a:r>
              <a:rPr sz="700" spc="55" dirty="0">
                <a:solidFill>
                  <a:srgbClr val="4D5056"/>
                </a:solidFill>
                <a:latin typeface="Arial"/>
                <a:cs typeface="Arial"/>
              </a:rPr>
              <a:t>performance</a:t>
            </a:r>
            <a:r>
              <a:rPr sz="700" spc="7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D5056"/>
                </a:solidFill>
                <a:latin typeface="Arial"/>
                <a:cs typeface="Arial"/>
              </a:rPr>
              <a:t>for</a:t>
            </a:r>
            <a:r>
              <a:rPr sz="700" spc="15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D5056"/>
                </a:solidFill>
                <a:latin typeface="Arial"/>
                <a:cs typeface="Arial"/>
              </a:rPr>
              <a:t>modeling.</a:t>
            </a:r>
            <a:endParaRPr sz="7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07138" y="1800380"/>
            <a:ext cx="2557145" cy="522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5" dirty="0">
                <a:solidFill>
                  <a:srgbClr val="4D5056"/>
                </a:solidFill>
                <a:latin typeface="Times New Roman"/>
                <a:cs typeface="Times New Roman"/>
              </a:rPr>
              <a:t>DATASET</a:t>
            </a:r>
            <a:r>
              <a:rPr sz="1050" b="1" spc="-15" dirty="0">
                <a:solidFill>
                  <a:srgbClr val="4D5056"/>
                </a:solidFill>
                <a:latin typeface="Times New Roman"/>
                <a:cs typeface="Times New Roman"/>
              </a:rPr>
              <a:t> </a:t>
            </a:r>
            <a:r>
              <a:rPr sz="1050" b="1" spc="-10" dirty="0">
                <a:solidFill>
                  <a:srgbClr val="4D5056"/>
                </a:solidFill>
                <a:latin typeface="Times New Roman"/>
                <a:cs typeface="Times New Roman"/>
              </a:rPr>
              <a:t>COMPOSITION</a:t>
            </a:r>
            <a:endParaRPr sz="1050">
              <a:latin typeface="Times New Roman"/>
              <a:cs typeface="Times New Roman"/>
            </a:endParaRPr>
          </a:p>
          <a:p>
            <a:pPr marL="16510" marR="5080" indent="-635">
              <a:lnSpc>
                <a:spcPct val="137500"/>
              </a:lnSpc>
              <a:spcBef>
                <a:spcPts val="340"/>
              </a:spcBef>
            </a:pP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Contains</a:t>
            </a:r>
            <a:r>
              <a:rPr sz="700" spc="5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details</a:t>
            </a:r>
            <a:r>
              <a:rPr sz="700" spc="2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of</a:t>
            </a:r>
            <a:r>
              <a:rPr sz="700" spc="14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65" dirty="0">
                <a:solidFill>
                  <a:srgbClr val="4D5056"/>
                </a:solidFill>
                <a:latin typeface="Arial"/>
                <a:cs typeface="Arial"/>
              </a:rPr>
              <a:t>both</a:t>
            </a:r>
            <a:r>
              <a:rPr sz="700" spc="-1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60" dirty="0">
                <a:solidFill>
                  <a:srgbClr val="3A3F46"/>
                </a:solidFill>
                <a:latin typeface="Arial"/>
                <a:cs typeface="Arial"/>
              </a:rPr>
              <a:t>norma</a:t>
            </a:r>
            <a:r>
              <a:rPr sz="700" spc="60" dirty="0">
                <a:solidFill>
                  <a:srgbClr val="5D6267"/>
                </a:solidFill>
                <a:latin typeface="Arial"/>
                <a:cs typeface="Arial"/>
              </a:rPr>
              <a:t>l</a:t>
            </a:r>
            <a:r>
              <a:rPr sz="700" spc="-10" dirty="0">
                <a:solidFill>
                  <a:srgbClr val="5D6267"/>
                </a:solidFill>
                <a:latin typeface="Arial"/>
                <a:cs typeface="Arial"/>
              </a:rPr>
              <a:t> </a:t>
            </a:r>
            <a:r>
              <a:rPr sz="700" spc="65" dirty="0">
                <a:solidFill>
                  <a:srgbClr val="4D5056"/>
                </a:solidFill>
                <a:latin typeface="Arial"/>
                <a:cs typeface="Arial"/>
              </a:rPr>
              <a:t>and</a:t>
            </a:r>
            <a:r>
              <a:rPr sz="700" spc="-3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4D5056"/>
                </a:solidFill>
                <a:latin typeface="Arial"/>
                <a:cs typeface="Arial"/>
              </a:rPr>
              <a:t>attack traffic,</a:t>
            </a:r>
            <a:r>
              <a:rPr sz="700" spc="-1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D5056"/>
                </a:solidFill>
                <a:latin typeface="Arial"/>
                <a:cs typeface="Arial"/>
              </a:rPr>
              <a:t>crucial</a:t>
            </a:r>
            <a:r>
              <a:rPr sz="700" spc="50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D5056"/>
                </a:solidFill>
                <a:latin typeface="Arial"/>
                <a:cs typeface="Arial"/>
              </a:rPr>
              <a:t>for</a:t>
            </a:r>
            <a:r>
              <a:rPr sz="700" spc="19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55" dirty="0">
                <a:solidFill>
                  <a:srgbClr val="3A3F46"/>
                </a:solidFill>
                <a:latin typeface="Arial"/>
                <a:cs typeface="Arial"/>
              </a:rPr>
              <a:t>net</a:t>
            </a:r>
            <a:r>
              <a:rPr sz="700" spc="55" dirty="0">
                <a:solidFill>
                  <a:srgbClr val="5D6267"/>
                </a:solidFill>
                <a:latin typeface="Arial"/>
                <a:cs typeface="Arial"/>
              </a:rPr>
              <a:t>work</a:t>
            </a:r>
            <a:r>
              <a:rPr sz="700" spc="10" dirty="0">
                <a:solidFill>
                  <a:srgbClr val="5D6267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D5056"/>
                </a:solidFill>
                <a:latin typeface="Arial"/>
                <a:cs typeface="Arial"/>
              </a:rPr>
              <a:t>analysis.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08988" y="2885305"/>
            <a:ext cx="2526665" cy="4950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1050" b="1" spc="-125" dirty="0">
                <a:solidFill>
                  <a:srgbClr val="4D5056"/>
                </a:solidFill>
                <a:latin typeface="Times New Roman"/>
                <a:cs typeface="Times New Roman"/>
              </a:rPr>
              <a:t>DATA</a:t>
            </a:r>
            <a:r>
              <a:rPr sz="1050" b="1" spc="-75" dirty="0">
                <a:solidFill>
                  <a:srgbClr val="4D5056"/>
                </a:solidFill>
                <a:latin typeface="Times New Roman"/>
                <a:cs typeface="Times New Roman"/>
              </a:rPr>
              <a:t> </a:t>
            </a:r>
            <a:r>
              <a:rPr sz="1050" b="1" spc="-100" dirty="0">
                <a:solidFill>
                  <a:srgbClr val="4D5056"/>
                </a:solidFill>
                <a:latin typeface="Times New Roman"/>
                <a:cs typeface="Times New Roman"/>
              </a:rPr>
              <a:t>CLEAN</a:t>
            </a:r>
            <a:r>
              <a:rPr lang="en-US" sz="1050" b="1" spc="-100" dirty="0">
                <a:solidFill>
                  <a:srgbClr val="4D5056"/>
                </a:solidFill>
                <a:latin typeface="Times New Roman"/>
                <a:cs typeface="Times New Roman"/>
              </a:rPr>
              <a:t>  </a:t>
            </a:r>
            <a:r>
              <a:rPr sz="1050" b="1" spc="-100" dirty="0">
                <a:solidFill>
                  <a:srgbClr val="4D5056"/>
                </a:solidFill>
                <a:latin typeface="Times New Roman"/>
                <a:cs typeface="Times New Roman"/>
              </a:rPr>
              <a:t>UP</a:t>
            </a:r>
            <a:r>
              <a:rPr sz="1050" b="1" dirty="0">
                <a:solidFill>
                  <a:srgbClr val="4D5056"/>
                </a:solidFill>
                <a:latin typeface="Times New Roman"/>
                <a:cs typeface="Times New Roman"/>
              </a:rPr>
              <a:t> </a:t>
            </a:r>
            <a:r>
              <a:rPr lang="en-US" sz="1050" b="1" dirty="0">
                <a:solidFill>
                  <a:srgbClr val="4D5056"/>
                </a:solidFill>
                <a:latin typeface="Times New Roman"/>
                <a:cs typeface="Times New Roman"/>
              </a:rPr>
              <a:t> </a:t>
            </a:r>
            <a:r>
              <a:rPr sz="1050" b="1" spc="-10" dirty="0">
                <a:solidFill>
                  <a:srgbClr val="3A3F46"/>
                </a:solidFill>
                <a:latin typeface="Times New Roman"/>
                <a:cs typeface="Times New Roman"/>
              </a:rPr>
              <a:t>PROCESS</a:t>
            </a:r>
            <a:endParaRPr sz="1050" dirty="0">
              <a:latin typeface="Times New Roman"/>
              <a:cs typeface="Times New Roman"/>
            </a:endParaRPr>
          </a:p>
          <a:p>
            <a:pPr marL="12700" marR="5080" indent="1905">
              <a:lnSpc>
                <a:spcPct val="131800"/>
              </a:lnSpc>
              <a:spcBef>
                <a:spcPts val="409"/>
              </a:spcBef>
            </a:pPr>
            <a:r>
              <a:rPr sz="700" spc="20" dirty="0">
                <a:solidFill>
                  <a:srgbClr val="3A3F46"/>
                </a:solidFill>
                <a:latin typeface="Arial"/>
                <a:cs typeface="Arial"/>
              </a:rPr>
              <a:t>Errors</a:t>
            </a:r>
            <a:r>
              <a:rPr sz="700" spc="60" dirty="0">
                <a:solidFill>
                  <a:srgbClr val="3A3F46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4D5056"/>
                </a:solidFill>
                <a:latin typeface="Arial"/>
                <a:cs typeface="Arial"/>
              </a:rPr>
              <a:t>and</a:t>
            </a:r>
            <a:r>
              <a:rPr sz="700" spc="8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irrelevant</a:t>
            </a:r>
            <a:r>
              <a:rPr sz="700" spc="11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70" dirty="0">
                <a:solidFill>
                  <a:srgbClr val="4D5056"/>
                </a:solidFill>
                <a:latin typeface="Arial"/>
                <a:cs typeface="Arial"/>
              </a:rPr>
              <a:t>data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were</a:t>
            </a:r>
            <a:r>
              <a:rPr sz="700" spc="4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4D5056"/>
                </a:solidFill>
                <a:latin typeface="Arial"/>
                <a:cs typeface="Arial"/>
              </a:rPr>
              <a:t>removed</a:t>
            </a:r>
            <a:r>
              <a:rPr sz="700" spc="10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to</a:t>
            </a:r>
            <a:r>
              <a:rPr sz="700" spc="9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enhance</a:t>
            </a:r>
            <a:r>
              <a:rPr sz="700" spc="8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5D6267"/>
                </a:solidFill>
                <a:latin typeface="Arial"/>
                <a:cs typeface="Arial"/>
              </a:rPr>
              <a:t>the</a:t>
            </a:r>
            <a:r>
              <a:rPr sz="700" spc="30" dirty="0">
                <a:solidFill>
                  <a:srgbClr val="5D6267"/>
                </a:solidFill>
                <a:latin typeface="Arial"/>
                <a:cs typeface="Arial"/>
              </a:rPr>
              <a:t> da</a:t>
            </a:r>
            <a:r>
              <a:rPr sz="700" spc="30" dirty="0">
                <a:solidFill>
                  <a:srgbClr val="3A3F46"/>
                </a:solidFill>
                <a:latin typeface="Arial"/>
                <a:cs typeface="Arial"/>
              </a:rPr>
              <a:t>taset's</a:t>
            </a:r>
            <a:r>
              <a:rPr sz="700" spc="55" dirty="0">
                <a:solidFill>
                  <a:srgbClr val="3A3F46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D5056"/>
                </a:solidFill>
                <a:latin typeface="Arial"/>
                <a:cs typeface="Arial"/>
              </a:rPr>
              <a:t>quality.</a:t>
            </a:r>
            <a:endParaRPr sz="700" dirty="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845" y="1852046"/>
            <a:ext cx="647064" cy="6356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1845" y="2732210"/>
            <a:ext cx="659273" cy="66012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93476" y="1839821"/>
            <a:ext cx="683690" cy="6723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5685" y="2719986"/>
            <a:ext cx="659273" cy="6723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69524" y="1839821"/>
            <a:ext cx="659273" cy="66012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661273"/>
            <a:ext cx="427306" cy="89238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18151" y="72632"/>
            <a:ext cx="4745355" cy="709295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350" spc="-90" dirty="0">
                <a:solidFill>
                  <a:srgbClr val="3B3F46"/>
                </a:solidFill>
                <a:latin typeface="Courier New"/>
                <a:cs typeface="Courier New"/>
              </a:rPr>
              <a:t>FRAMEWORKSTEPSFORIOTSECURITY</a:t>
            </a:r>
            <a:endParaRPr sz="2350">
              <a:latin typeface="Courier New"/>
              <a:cs typeface="Courier New"/>
            </a:endParaRPr>
          </a:p>
          <a:p>
            <a:pPr marL="29845">
              <a:lnSpc>
                <a:spcPct val="100000"/>
              </a:lnSpc>
              <a:spcBef>
                <a:spcPts val="409"/>
              </a:spcBef>
            </a:pPr>
            <a:r>
              <a:rPr sz="850" b="0" dirty="0">
                <a:solidFill>
                  <a:srgbClr val="4F5257"/>
                </a:solidFill>
                <a:latin typeface="Arial"/>
                <a:cs typeface="Arial"/>
              </a:rPr>
              <a:t>A</a:t>
            </a:r>
            <a:r>
              <a:rPr sz="850" b="0" spc="13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50" b="0" dirty="0">
                <a:solidFill>
                  <a:srgbClr val="4F5257"/>
                </a:solidFill>
                <a:latin typeface="Arial"/>
                <a:cs typeface="Arial"/>
              </a:rPr>
              <a:t>systematic</a:t>
            </a:r>
            <a:r>
              <a:rPr sz="850" b="0" spc="22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50" b="0" dirty="0">
                <a:solidFill>
                  <a:srgbClr val="4F5257"/>
                </a:solidFill>
                <a:latin typeface="Arial"/>
                <a:cs typeface="Arial"/>
              </a:rPr>
              <a:t>approach</a:t>
            </a:r>
            <a:r>
              <a:rPr sz="850" b="0" spc="114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50" b="0" dirty="0">
                <a:solidFill>
                  <a:srgbClr val="4F5257"/>
                </a:solidFill>
                <a:latin typeface="Arial"/>
                <a:cs typeface="Arial"/>
              </a:rPr>
              <a:t>to</a:t>
            </a:r>
            <a:r>
              <a:rPr sz="850" b="0" spc="15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50" b="0" dirty="0">
                <a:solidFill>
                  <a:srgbClr val="4F5257"/>
                </a:solidFill>
                <a:latin typeface="Arial"/>
                <a:cs typeface="Arial"/>
              </a:rPr>
              <a:t>enhancing</a:t>
            </a:r>
            <a:r>
              <a:rPr sz="850" b="0" spc="16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4F5257"/>
                </a:solidFill>
                <a:latin typeface="Arial"/>
                <a:cs typeface="Arial"/>
              </a:rPr>
              <a:t>loT</a:t>
            </a:r>
            <a:r>
              <a:rPr sz="900" spc="8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50" b="0" spc="-10" dirty="0">
                <a:solidFill>
                  <a:srgbClr val="4F5257"/>
                </a:solidFill>
                <a:latin typeface="Arial"/>
                <a:cs typeface="Arial"/>
              </a:rPr>
              <a:t>security</a:t>
            </a:r>
            <a:endParaRPr sz="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5681" y="1827885"/>
            <a:ext cx="1530350" cy="636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050" b="1" spc="-110" dirty="0">
                <a:solidFill>
                  <a:srgbClr val="4F5257"/>
                </a:solidFill>
                <a:latin typeface="Times New Roman"/>
                <a:cs typeface="Times New Roman"/>
              </a:rPr>
              <a:t>COLLECTING</a:t>
            </a:r>
            <a:r>
              <a:rPr sz="1050" b="1" spc="90" dirty="0">
                <a:solidFill>
                  <a:srgbClr val="4F5257"/>
                </a:solidFill>
                <a:latin typeface="Times New Roman"/>
                <a:cs typeface="Times New Roman"/>
              </a:rPr>
              <a:t> </a:t>
            </a:r>
            <a:r>
              <a:rPr lang="en-US" sz="1050" b="1" spc="90" dirty="0">
                <a:solidFill>
                  <a:srgbClr val="4F5257"/>
                </a:solidFill>
                <a:latin typeface="Times New Roman"/>
                <a:cs typeface="Times New Roman"/>
              </a:rPr>
              <a:t> </a:t>
            </a:r>
            <a:r>
              <a:rPr sz="1050" b="1" spc="-20" dirty="0">
                <a:solidFill>
                  <a:srgbClr val="3B3F46"/>
                </a:solidFill>
                <a:latin typeface="Times New Roman"/>
                <a:cs typeface="Times New Roman"/>
              </a:rPr>
              <a:t>DATA</a:t>
            </a:r>
            <a:endParaRPr sz="1050" dirty="0">
              <a:latin typeface="Times New Roman"/>
              <a:cs typeface="Times New Roman"/>
            </a:endParaRPr>
          </a:p>
          <a:p>
            <a:pPr marL="13335" marR="5080" indent="-1270">
              <a:lnSpc>
                <a:spcPct val="136100"/>
              </a:lnSpc>
              <a:spcBef>
                <a:spcPts val="330"/>
              </a:spcBef>
            </a:pPr>
            <a:r>
              <a:rPr sz="700" dirty="0">
                <a:solidFill>
                  <a:srgbClr val="4F5257"/>
                </a:solidFill>
                <a:latin typeface="Arial"/>
                <a:cs typeface="Arial"/>
              </a:rPr>
              <a:t>U</a:t>
            </a:r>
            <a:r>
              <a:rPr sz="700" dirty="0">
                <a:solidFill>
                  <a:srgbClr val="676B6E"/>
                </a:solidFill>
                <a:latin typeface="Arial"/>
                <a:cs typeface="Arial"/>
              </a:rPr>
              <a:t>t</a:t>
            </a:r>
            <a:r>
              <a:rPr sz="700" dirty="0">
                <a:solidFill>
                  <a:srgbClr val="4F5257"/>
                </a:solidFill>
                <a:latin typeface="Arial"/>
                <a:cs typeface="Arial"/>
              </a:rPr>
              <a:t>ilize</a:t>
            </a:r>
            <a:r>
              <a:rPr sz="700" spc="114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F5257"/>
                </a:solidFill>
                <a:latin typeface="Arial"/>
                <a:cs typeface="Arial"/>
              </a:rPr>
              <a:t>the</a:t>
            </a:r>
            <a:r>
              <a:rPr sz="700" spc="24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F5257"/>
                </a:solidFill>
                <a:latin typeface="Arial"/>
                <a:cs typeface="Arial"/>
              </a:rPr>
              <a:t>CICIDS</a:t>
            </a:r>
            <a:r>
              <a:rPr sz="700" dirty="0">
                <a:solidFill>
                  <a:srgbClr val="676B6E"/>
                </a:solidFill>
                <a:latin typeface="Arial"/>
                <a:cs typeface="Arial"/>
              </a:rPr>
              <a:t>-</a:t>
            </a:r>
            <a:r>
              <a:rPr sz="700" dirty="0">
                <a:solidFill>
                  <a:srgbClr val="4F5257"/>
                </a:solidFill>
                <a:latin typeface="Arial"/>
                <a:cs typeface="Arial"/>
              </a:rPr>
              <a:t>201</a:t>
            </a:r>
            <a:r>
              <a:rPr sz="700" dirty="0">
                <a:solidFill>
                  <a:srgbClr val="676B6E"/>
                </a:solidFill>
                <a:latin typeface="Arial"/>
                <a:cs typeface="Arial"/>
              </a:rPr>
              <a:t>7</a:t>
            </a:r>
            <a:r>
              <a:rPr sz="700" spc="135" dirty="0">
                <a:solidFill>
                  <a:srgbClr val="676B6E"/>
                </a:solidFill>
                <a:latin typeface="Arial"/>
                <a:cs typeface="Arial"/>
              </a:rPr>
              <a:t> </a:t>
            </a:r>
            <a:r>
              <a:rPr sz="700" spc="45" dirty="0">
                <a:solidFill>
                  <a:srgbClr val="4F5257"/>
                </a:solidFill>
                <a:latin typeface="Arial"/>
                <a:cs typeface="Arial"/>
              </a:rPr>
              <a:t>dataset</a:t>
            </a:r>
            <a:r>
              <a:rPr sz="700" spc="14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4F5257"/>
                </a:solidFill>
                <a:latin typeface="Arial"/>
                <a:cs typeface="Arial"/>
              </a:rPr>
              <a:t>to</a:t>
            </a:r>
            <a:r>
              <a:rPr sz="700" spc="60" dirty="0">
                <a:solidFill>
                  <a:srgbClr val="4F5257"/>
                </a:solidFill>
                <a:latin typeface="Arial"/>
                <a:cs typeface="Arial"/>
              </a:rPr>
              <a:t> gather</a:t>
            </a:r>
            <a:r>
              <a:rPr sz="700" spc="13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network</a:t>
            </a:r>
            <a:r>
              <a:rPr sz="700" spc="10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intrusion</a:t>
            </a:r>
            <a:r>
              <a:rPr sz="700" spc="9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60" dirty="0">
                <a:solidFill>
                  <a:srgbClr val="4F5257"/>
                </a:solidFill>
                <a:latin typeface="Arial"/>
                <a:cs typeface="Arial"/>
              </a:rPr>
              <a:t>data</a:t>
            </a:r>
            <a:r>
              <a:rPr sz="700" spc="8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4F5257"/>
                </a:solidFill>
                <a:latin typeface="Arial"/>
                <a:cs typeface="Arial"/>
              </a:rPr>
              <a:t>for</a:t>
            </a:r>
            <a:r>
              <a:rPr sz="700" spc="50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F5257"/>
                </a:solidFill>
                <a:latin typeface="Arial"/>
                <a:cs typeface="Arial"/>
              </a:rPr>
              <a:t>ana</a:t>
            </a:r>
            <a:r>
              <a:rPr sz="700" spc="-10" dirty="0">
                <a:solidFill>
                  <a:srgbClr val="676B6E"/>
                </a:solidFill>
                <a:latin typeface="Arial"/>
                <a:cs typeface="Arial"/>
              </a:rPr>
              <a:t>l</a:t>
            </a:r>
            <a:r>
              <a:rPr sz="700" spc="-10" dirty="0">
                <a:solidFill>
                  <a:srgbClr val="4F5257"/>
                </a:solidFill>
                <a:latin typeface="Arial"/>
                <a:cs typeface="Arial"/>
              </a:rPr>
              <a:t>ysis.</a:t>
            </a:r>
            <a:endParaRPr sz="7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16724" y="2720275"/>
            <a:ext cx="154876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5" dirty="0">
                <a:solidFill>
                  <a:srgbClr val="3B3F46"/>
                </a:solidFill>
                <a:latin typeface="Times New Roman"/>
                <a:cs typeface="Times New Roman"/>
              </a:rPr>
              <a:t>RESULT</a:t>
            </a:r>
            <a:r>
              <a:rPr sz="1050" b="1" spc="-25" dirty="0">
                <a:solidFill>
                  <a:srgbClr val="3B3F46"/>
                </a:solidFill>
                <a:latin typeface="Times New Roman"/>
                <a:cs typeface="Times New Roman"/>
              </a:rPr>
              <a:t> </a:t>
            </a:r>
            <a:r>
              <a:rPr lang="en-US" sz="1050" b="1" spc="-25" dirty="0">
                <a:solidFill>
                  <a:srgbClr val="3B3F46"/>
                </a:solidFill>
                <a:latin typeface="Times New Roman"/>
                <a:cs typeface="Times New Roman"/>
              </a:rPr>
              <a:t> </a:t>
            </a:r>
            <a:r>
              <a:rPr sz="1050" b="1" spc="-10" dirty="0">
                <a:solidFill>
                  <a:srgbClr val="4F5257"/>
                </a:solidFill>
                <a:latin typeface="Times New Roman"/>
                <a:cs typeface="Times New Roman"/>
              </a:rPr>
              <a:t>ANALYSIS</a:t>
            </a:r>
            <a:endParaRPr sz="1050" dirty="0">
              <a:latin typeface="Times New Roman"/>
              <a:cs typeface="Times New Roman"/>
            </a:endParaRPr>
          </a:p>
          <a:p>
            <a:pPr marL="12700" marR="5080" indent="1270">
              <a:lnSpc>
                <a:spcPct val="136100"/>
              </a:lnSpc>
              <a:spcBef>
                <a:spcPts val="350"/>
              </a:spcBef>
            </a:pPr>
            <a:r>
              <a:rPr sz="700" spc="10" dirty="0">
                <a:solidFill>
                  <a:srgbClr val="4F5257"/>
                </a:solidFill>
                <a:latin typeface="Arial"/>
                <a:cs typeface="Arial"/>
              </a:rPr>
              <a:t>Conduct</a:t>
            </a:r>
            <a:r>
              <a:rPr sz="700" spc="10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4F5257"/>
                </a:solidFill>
                <a:latin typeface="Arial"/>
                <a:cs typeface="Arial"/>
              </a:rPr>
              <a:t>o</a:t>
            </a:r>
            <a:r>
              <a:rPr sz="700" spc="8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4F5257"/>
                </a:solidFill>
                <a:latin typeface="Arial"/>
                <a:cs typeface="Arial"/>
              </a:rPr>
              <a:t>thorough</a:t>
            </a:r>
            <a:r>
              <a:rPr sz="700" spc="10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F5257"/>
                </a:solidFill>
                <a:latin typeface="Arial"/>
                <a:cs typeface="Arial"/>
              </a:rPr>
              <a:t>comparison</a:t>
            </a:r>
            <a:r>
              <a:rPr sz="700" spc="500" dirty="0">
                <a:solidFill>
                  <a:srgbClr val="4F5257"/>
                </a:solidFill>
                <a:latin typeface="Arial"/>
                <a:cs typeface="Arial"/>
              </a:rPr>
              <a:t>  </a:t>
            </a:r>
            <a:r>
              <a:rPr sz="700" spc="10" dirty="0">
                <a:solidFill>
                  <a:srgbClr val="4F5257"/>
                </a:solidFill>
                <a:latin typeface="Arial"/>
                <a:cs typeface="Arial"/>
              </a:rPr>
              <a:t>of</a:t>
            </a:r>
            <a:r>
              <a:rPr sz="700" spc="17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4F5257"/>
                </a:solidFill>
                <a:latin typeface="Arial"/>
                <a:cs typeface="Arial"/>
              </a:rPr>
              <a:t>model</a:t>
            </a:r>
            <a:r>
              <a:rPr sz="700" spc="7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4F5257"/>
                </a:solidFill>
                <a:latin typeface="Arial"/>
                <a:cs typeface="Arial"/>
              </a:rPr>
              <a:t>performances</a:t>
            </a:r>
            <a:r>
              <a:rPr sz="700" spc="9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4F5257"/>
                </a:solidFill>
                <a:latin typeface="Arial"/>
                <a:cs typeface="Arial"/>
              </a:rPr>
              <a:t>to</a:t>
            </a:r>
            <a:r>
              <a:rPr sz="700" spc="8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40" dirty="0">
                <a:solidFill>
                  <a:srgbClr val="4F5257"/>
                </a:solidFill>
                <a:latin typeface="Arial"/>
                <a:cs typeface="Arial"/>
              </a:rPr>
              <a:t>identify </a:t>
            </a:r>
            <a:r>
              <a:rPr sz="700" spc="55" dirty="0">
                <a:solidFill>
                  <a:srgbClr val="4F5257"/>
                </a:solidFill>
                <a:latin typeface="Arial"/>
                <a:cs typeface="Arial"/>
              </a:rPr>
              <a:t>the</a:t>
            </a:r>
            <a:r>
              <a:rPr sz="700" spc="3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most</a:t>
            </a:r>
            <a:r>
              <a:rPr sz="700" spc="9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effective</a:t>
            </a:r>
            <a:r>
              <a:rPr sz="700" spc="7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40" dirty="0">
                <a:solidFill>
                  <a:srgbClr val="4F5257"/>
                </a:solidFill>
                <a:latin typeface="Arial"/>
                <a:cs typeface="Arial"/>
              </a:rPr>
              <a:t>approach.</a:t>
            </a:r>
            <a:endParaRPr sz="7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81765" y="1827885"/>
            <a:ext cx="1555115" cy="662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25" dirty="0">
                <a:solidFill>
                  <a:srgbClr val="3B3F46"/>
                </a:solidFill>
                <a:latin typeface="Times New Roman"/>
                <a:cs typeface="Times New Roman"/>
              </a:rPr>
              <a:t>DATA</a:t>
            </a:r>
            <a:r>
              <a:rPr sz="1050" b="1" spc="-90" dirty="0">
                <a:solidFill>
                  <a:srgbClr val="3B3F46"/>
                </a:solidFill>
                <a:latin typeface="Times New Roman"/>
                <a:cs typeface="Times New Roman"/>
              </a:rPr>
              <a:t> </a:t>
            </a:r>
            <a:r>
              <a:rPr lang="en-US" sz="1050" b="1" spc="-90" dirty="0">
                <a:solidFill>
                  <a:srgbClr val="3B3F46"/>
                </a:solidFill>
                <a:latin typeface="Times New Roman"/>
                <a:cs typeface="Times New Roman"/>
              </a:rPr>
              <a:t>  </a:t>
            </a:r>
            <a:r>
              <a:rPr sz="1050" b="1" spc="-20" dirty="0">
                <a:solidFill>
                  <a:srgbClr val="3B3F46"/>
                </a:solidFill>
                <a:latin typeface="Times New Roman"/>
                <a:cs typeface="Times New Roman"/>
              </a:rPr>
              <a:t>PREPROCESSING</a:t>
            </a:r>
            <a:endParaRPr sz="1050" dirty="0">
              <a:latin typeface="Times New Roman"/>
              <a:cs typeface="Times New Roman"/>
            </a:endParaRPr>
          </a:p>
          <a:p>
            <a:pPr marL="13970" marR="5080" indent="-1270">
              <a:lnSpc>
                <a:spcPct val="134600"/>
              </a:lnSpc>
              <a:spcBef>
                <a:spcPts val="365"/>
              </a:spcBef>
            </a:pP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Cleanse</a:t>
            </a:r>
            <a:r>
              <a:rPr sz="700" spc="7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and</a:t>
            </a:r>
            <a:r>
              <a:rPr sz="700" spc="114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normalize</a:t>
            </a:r>
            <a:r>
              <a:rPr sz="700" spc="6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the</a:t>
            </a:r>
            <a:r>
              <a:rPr sz="700" spc="10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60" dirty="0">
                <a:solidFill>
                  <a:srgbClr val="4F5257"/>
                </a:solidFill>
                <a:latin typeface="Arial"/>
                <a:cs typeface="Arial"/>
              </a:rPr>
              <a:t>data</a:t>
            </a:r>
            <a:r>
              <a:rPr sz="700" spc="8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4F5257"/>
                </a:solidFill>
                <a:latin typeface="Arial"/>
                <a:cs typeface="Arial"/>
              </a:rPr>
              <a:t>to</a:t>
            </a:r>
            <a:r>
              <a:rPr sz="700" spc="50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F5257"/>
                </a:solidFill>
                <a:latin typeface="Arial"/>
                <a:cs typeface="Arial"/>
              </a:rPr>
              <a:t>ensure</a:t>
            </a:r>
            <a:r>
              <a:rPr sz="700" spc="4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4F5257"/>
                </a:solidFill>
                <a:latin typeface="Arial"/>
                <a:cs typeface="Arial"/>
              </a:rPr>
              <a:t>compatibility</a:t>
            </a:r>
            <a:r>
              <a:rPr sz="700" spc="9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55" dirty="0">
                <a:solidFill>
                  <a:srgbClr val="4F5257"/>
                </a:solidFill>
                <a:latin typeface="Arial"/>
                <a:cs typeface="Arial"/>
              </a:rPr>
              <a:t>with</a:t>
            </a:r>
            <a:r>
              <a:rPr sz="70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35" dirty="0">
                <a:solidFill>
                  <a:srgbClr val="4F5257"/>
                </a:solidFill>
                <a:latin typeface="Arial"/>
                <a:cs typeface="Arial"/>
              </a:rPr>
              <a:t>deep 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learning</a:t>
            </a:r>
            <a:r>
              <a:rPr sz="700" spc="16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3B3F46"/>
                </a:solidFill>
                <a:latin typeface="Arial"/>
                <a:cs typeface="Arial"/>
              </a:rPr>
              <a:t>algorithms.</a:t>
            </a:r>
            <a:endParaRPr sz="7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50152" y="1827885"/>
            <a:ext cx="1371600" cy="636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1050" b="1" spc="-20" dirty="0">
                <a:solidFill>
                  <a:srgbClr val="4F5257"/>
                </a:solidFill>
                <a:latin typeface="Times New Roman"/>
                <a:cs typeface="Times New Roman"/>
              </a:rPr>
              <a:t>MODEL</a:t>
            </a:r>
            <a:r>
              <a:rPr lang="en-US" sz="1050" b="1" spc="-20" dirty="0">
                <a:solidFill>
                  <a:srgbClr val="4F5257"/>
                </a:solidFill>
                <a:latin typeface="Times New Roman"/>
                <a:cs typeface="Times New Roman"/>
              </a:rPr>
              <a:t>  </a:t>
            </a:r>
            <a:r>
              <a:rPr sz="1050" b="1" spc="-20" dirty="0">
                <a:solidFill>
                  <a:srgbClr val="4F5257"/>
                </a:solidFill>
                <a:latin typeface="Times New Roman"/>
                <a:cs typeface="Times New Roman"/>
              </a:rPr>
              <a:t>TRAINING</a:t>
            </a:r>
            <a:endParaRPr sz="1050" dirty="0">
              <a:latin typeface="Times New Roman"/>
              <a:cs typeface="Times New Roman"/>
            </a:endParaRPr>
          </a:p>
          <a:p>
            <a:pPr marL="12700" marR="5080" indent="635">
              <a:lnSpc>
                <a:spcPct val="136100"/>
              </a:lnSpc>
              <a:spcBef>
                <a:spcPts val="330"/>
              </a:spcBef>
            </a:pP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Implement</a:t>
            </a:r>
            <a:r>
              <a:rPr sz="700" spc="14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4F5257"/>
                </a:solidFill>
                <a:latin typeface="Arial"/>
                <a:cs typeface="Arial"/>
              </a:rPr>
              <a:t>and</a:t>
            </a:r>
            <a:r>
              <a:rPr sz="700" spc="13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evaluate</a:t>
            </a:r>
            <a:r>
              <a:rPr sz="700" spc="114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4F5257"/>
                </a:solidFill>
                <a:latin typeface="Arial"/>
                <a:cs typeface="Arial"/>
              </a:rPr>
              <a:t>CNN</a:t>
            </a:r>
            <a:r>
              <a:rPr sz="700" spc="-20" dirty="0">
                <a:solidFill>
                  <a:srgbClr val="676B6E"/>
                </a:solidFill>
                <a:latin typeface="Arial"/>
                <a:cs typeface="Arial"/>
              </a:rPr>
              <a:t>,</a:t>
            </a:r>
            <a:r>
              <a:rPr sz="700" spc="500" dirty="0">
                <a:solidFill>
                  <a:srgbClr val="676B6E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F5257"/>
                </a:solidFill>
                <a:latin typeface="Arial"/>
                <a:cs typeface="Arial"/>
              </a:rPr>
              <a:t>RNN,</a:t>
            </a:r>
            <a:r>
              <a:rPr sz="700" spc="7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F5257"/>
                </a:solidFill>
                <a:latin typeface="Arial"/>
                <a:cs typeface="Arial"/>
              </a:rPr>
              <a:t>and</a:t>
            </a:r>
            <a:r>
              <a:rPr sz="700" spc="27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3B3F46"/>
                </a:solidFill>
                <a:latin typeface="Arial"/>
                <a:cs typeface="Arial"/>
              </a:rPr>
              <a:t>BERT</a:t>
            </a:r>
            <a:r>
              <a:rPr sz="700" spc="85" dirty="0">
                <a:solidFill>
                  <a:srgbClr val="3B3F46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F5257"/>
                </a:solidFill>
                <a:latin typeface="Arial"/>
                <a:cs typeface="Arial"/>
              </a:rPr>
              <a:t>models</a:t>
            </a:r>
            <a:r>
              <a:rPr sz="700" spc="9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4F5257"/>
                </a:solidFill>
                <a:latin typeface="Arial"/>
                <a:cs typeface="Arial"/>
              </a:rPr>
              <a:t>for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 effective</a:t>
            </a:r>
            <a:r>
              <a:rPr sz="700" spc="14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intrusion</a:t>
            </a:r>
            <a:r>
              <a:rPr sz="700" spc="10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F5257"/>
                </a:solidFill>
                <a:latin typeface="Arial"/>
                <a:cs typeface="Arial"/>
              </a:rPr>
              <a:t>detection.</a:t>
            </a:r>
            <a:endParaRPr sz="7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79610" y="2720275"/>
            <a:ext cx="1446530" cy="8106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20" dirty="0">
                <a:solidFill>
                  <a:srgbClr val="4F5257"/>
                </a:solidFill>
                <a:latin typeface="Times New Roman"/>
                <a:cs typeface="Times New Roman"/>
              </a:rPr>
              <a:t>SYSTEM</a:t>
            </a:r>
            <a:r>
              <a:rPr sz="1050" b="1" spc="-25" dirty="0">
                <a:solidFill>
                  <a:srgbClr val="4F5257"/>
                </a:solidFill>
                <a:latin typeface="Times New Roman"/>
                <a:cs typeface="Times New Roman"/>
              </a:rPr>
              <a:t> </a:t>
            </a:r>
            <a:r>
              <a:rPr lang="en-US" sz="1050" b="1" spc="-25" dirty="0">
                <a:solidFill>
                  <a:srgbClr val="4F5257"/>
                </a:solidFill>
                <a:latin typeface="Times New Roman"/>
                <a:cs typeface="Times New Roman"/>
              </a:rPr>
              <a:t> </a:t>
            </a:r>
            <a:r>
              <a:rPr sz="1050" b="1" spc="-20" dirty="0">
                <a:solidFill>
                  <a:srgbClr val="3B3F46"/>
                </a:solidFill>
                <a:latin typeface="Times New Roman"/>
                <a:cs typeface="Times New Roman"/>
              </a:rPr>
              <a:t>DEPLOYMENT</a:t>
            </a:r>
            <a:endParaRPr sz="1050" dirty="0">
              <a:latin typeface="Times New Roman"/>
              <a:cs typeface="Times New Roman"/>
            </a:endParaRPr>
          </a:p>
          <a:p>
            <a:pPr marL="16510" marR="5080" indent="-1270">
              <a:lnSpc>
                <a:spcPct val="136100"/>
              </a:lnSpc>
              <a:spcBef>
                <a:spcPts val="350"/>
              </a:spcBef>
            </a:pPr>
            <a:r>
              <a:rPr sz="700" spc="30" dirty="0">
                <a:solidFill>
                  <a:srgbClr val="3B3F46"/>
                </a:solidFill>
                <a:latin typeface="Arial"/>
                <a:cs typeface="Arial"/>
              </a:rPr>
              <a:t>De</a:t>
            </a:r>
            <a:r>
              <a:rPr sz="700" spc="30" dirty="0">
                <a:solidFill>
                  <a:srgbClr val="676B6E"/>
                </a:solidFill>
                <a:latin typeface="Arial"/>
                <a:cs typeface="Arial"/>
              </a:rPr>
              <a:t>v</a:t>
            </a:r>
            <a:r>
              <a:rPr sz="700" spc="30" dirty="0">
                <a:solidFill>
                  <a:srgbClr val="4F5257"/>
                </a:solidFill>
                <a:latin typeface="Arial"/>
                <a:cs typeface="Arial"/>
              </a:rPr>
              <a:t>elop </a:t>
            </a:r>
            <a:r>
              <a:rPr sz="700" spc="50" dirty="0">
                <a:solidFill>
                  <a:srgbClr val="4F5257"/>
                </a:solidFill>
                <a:latin typeface="Arial"/>
                <a:cs typeface="Arial"/>
              </a:rPr>
              <a:t>a</a:t>
            </a:r>
            <a:r>
              <a:rPr sz="700" spc="5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F5257"/>
                </a:solidFill>
                <a:latin typeface="Arial"/>
                <a:cs typeface="Arial"/>
              </a:rPr>
              <a:t>scalable</a:t>
            </a:r>
            <a:r>
              <a:rPr sz="700" spc="4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F5257"/>
                </a:solidFill>
                <a:latin typeface="Arial"/>
                <a:cs typeface="Arial"/>
              </a:rPr>
              <a:t>and</a:t>
            </a:r>
            <a:r>
              <a:rPr sz="700" spc="9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F5257"/>
                </a:solidFill>
                <a:latin typeface="Arial"/>
                <a:cs typeface="Arial"/>
              </a:rPr>
              <a:t>robust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 solution</a:t>
            </a:r>
            <a:r>
              <a:rPr sz="700" spc="4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4F5257"/>
                </a:solidFill>
                <a:latin typeface="Arial"/>
                <a:cs typeface="Arial"/>
              </a:rPr>
              <a:t>aimed</a:t>
            </a:r>
            <a:r>
              <a:rPr sz="700" spc="5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at</a:t>
            </a:r>
            <a:r>
              <a:rPr sz="700" spc="13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enhancing</a:t>
            </a:r>
            <a:r>
              <a:rPr sz="700" spc="114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25" dirty="0">
                <a:solidFill>
                  <a:srgbClr val="4F5257"/>
                </a:solidFill>
                <a:latin typeface="Arial"/>
                <a:cs typeface="Arial"/>
              </a:rPr>
              <a:t>lo</a:t>
            </a:r>
            <a:r>
              <a:rPr sz="700" spc="25" dirty="0">
                <a:solidFill>
                  <a:srgbClr val="3B3F46"/>
                </a:solidFill>
                <a:latin typeface="Arial"/>
                <a:cs typeface="Arial"/>
              </a:rPr>
              <a:t>T 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security</a:t>
            </a:r>
            <a:r>
              <a:rPr sz="700" spc="13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F5257"/>
                </a:solidFill>
                <a:latin typeface="Arial"/>
                <a:cs typeface="Arial"/>
              </a:rPr>
              <a:t>measures.</a:t>
            </a:r>
            <a:endParaRPr sz="700" dirty="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054" y="1729801"/>
            <a:ext cx="976700" cy="58677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59179" y="1729801"/>
            <a:ext cx="2649301" cy="6234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67100" y="1742026"/>
            <a:ext cx="122087" cy="5990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3661273"/>
            <a:ext cx="427306" cy="89238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965610" y="1745081"/>
            <a:ext cx="793750" cy="0"/>
          </a:xfrm>
          <a:custGeom>
            <a:avLst/>
            <a:gdLst/>
            <a:ahLst/>
            <a:cxnLst/>
            <a:rect l="l" t="t" r="r" b="b"/>
            <a:pathLst>
              <a:path w="793750">
                <a:moveTo>
                  <a:pt x="0" y="0"/>
                </a:moveTo>
                <a:lnTo>
                  <a:pt x="793569" y="0"/>
                </a:lnTo>
              </a:path>
            </a:pathLst>
          </a:custGeom>
          <a:ln w="91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08482" y="1754250"/>
            <a:ext cx="2258695" cy="0"/>
          </a:xfrm>
          <a:custGeom>
            <a:avLst/>
            <a:gdLst/>
            <a:ahLst/>
            <a:cxnLst/>
            <a:rect l="l" t="t" r="r" b="b"/>
            <a:pathLst>
              <a:path w="2258695">
                <a:moveTo>
                  <a:pt x="0" y="0"/>
                </a:moveTo>
                <a:lnTo>
                  <a:pt x="2258621" y="0"/>
                </a:lnTo>
              </a:path>
            </a:pathLst>
          </a:custGeom>
          <a:ln w="213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08482" y="2325746"/>
            <a:ext cx="2258695" cy="0"/>
          </a:xfrm>
          <a:custGeom>
            <a:avLst/>
            <a:gdLst/>
            <a:ahLst/>
            <a:cxnLst/>
            <a:rect l="l" t="t" r="r" b="b"/>
            <a:pathLst>
              <a:path w="2258695">
                <a:moveTo>
                  <a:pt x="0" y="0"/>
                </a:moveTo>
                <a:lnTo>
                  <a:pt x="2258621" y="0"/>
                </a:lnTo>
              </a:path>
            </a:pathLst>
          </a:custGeom>
          <a:ln w="244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" dirty="0">
                <a:solidFill>
                  <a:srgbClr val="3D4249"/>
                </a:solidFill>
              </a:rPr>
              <a:t>DEEP</a:t>
            </a:r>
            <a:r>
              <a:rPr spc="-120" dirty="0">
                <a:solidFill>
                  <a:srgbClr val="3D4249"/>
                </a:solidFill>
              </a:rPr>
              <a:t> </a:t>
            </a:r>
            <a:r>
              <a:rPr spc="-195" dirty="0">
                <a:solidFill>
                  <a:srgbClr val="3D4249"/>
                </a:solidFill>
              </a:rPr>
              <a:t>LEARNING</a:t>
            </a:r>
            <a:r>
              <a:rPr spc="10" dirty="0">
                <a:solidFill>
                  <a:srgbClr val="3D4249"/>
                </a:solidFill>
              </a:rPr>
              <a:t> </a:t>
            </a:r>
            <a:r>
              <a:rPr spc="-195" dirty="0">
                <a:solidFill>
                  <a:srgbClr val="3D4249"/>
                </a:solidFill>
              </a:rPr>
              <a:t>MODELS</a:t>
            </a:r>
            <a:r>
              <a:rPr spc="25" dirty="0">
                <a:solidFill>
                  <a:srgbClr val="3D4249"/>
                </a:solidFill>
              </a:rPr>
              <a:t> </a:t>
            </a:r>
            <a:r>
              <a:rPr spc="-220" dirty="0">
                <a:solidFill>
                  <a:srgbClr val="3D4249"/>
                </a:solidFill>
              </a:rPr>
              <a:t>OVERVIEW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30410" y="624789"/>
            <a:ext cx="179895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4F5459"/>
                </a:solidFill>
                <a:latin typeface="Arial"/>
                <a:cs typeface="Arial"/>
              </a:rPr>
              <a:t>Key</a:t>
            </a:r>
            <a:r>
              <a:rPr sz="850" spc="100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4F5459"/>
                </a:solidFill>
                <a:latin typeface="Arial"/>
                <a:cs typeface="Arial"/>
              </a:rPr>
              <a:t>Insights</a:t>
            </a:r>
            <a:r>
              <a:rPr sz="850" spc="114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4F5459"/>
                </a:solidFill>
                <a:latin typeface="Arial"/>
                <a:cs typeface="Arial"/>
              </a:rPr>
              <a:t>on</a:t>
            </a:r>
            <a:r>
              <a:rPr sz="850" spc="15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4F5459"/>
                </a:solidFill>
                <a:latin typeface="Arial"/>
                <a:cs typeface="Arial"/>
              </a:rPr>
              <a:t>Model</a:t>
            </a:r>
            <a:r>
              <a:rPr sz="850" spc="70" dirty="0">
                <a:solidFill>
                  <a:srgbClr val="4F5459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4F5459"/>
                </a:solidFill>
                <a:latin typeface="Arial"/>
                <a:cs typeface="Arial"/>
              </a:rPr>
              <a:t>Applications</a:t>
            </a:r>
            <a:endParaRPr sz="8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2431" y="2428172"/>
            <a:ext cx="2247265" cy="87566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330"/>
              </a:spcBef>
            </a:pPr>
            <a:r>
              <a:rPr sz="1050" b="1" spc="-114" dirty="0">
                <a:solidFill>
                  <a:srgbClr val="4F5459"/>
                </a:solidFill>
                <a:latin typeface="Times New Roman"/>
                <a:cs typeface="Times New Roman"/>
              </a:rPr>
              <a:t>CONVOLUTIONAL</a:t>
            </a:r>
            <a:r>
              <a:rPr sz="1050" b="1" spc="80" dirty="0">
                <a:solidFill>
                  <a:srgbClr val="4F5459"/>
                </a:solidFill>
                <a:latin typeface="Times New Roman"/>
                <a:cs typeface="Times New Roman"/>
              </a:rPr>
              <a:t> </a:t>
            </a:r>
            <a:r>
              <a:rPr sz="1050" b="1" spc="-110" dirty="0">
                <a:solidFill>
                  <a:srgbClr val="3D4249"/>
                </a:solidFill>
                <a:latin typeface="Times New Roman"/>
                <a:cs typeface="Times New Roman"/>
              </a:rPr>
              <a:t>NEURAL</a:t>
            </a:r>
            <a:r>
              <a:rPr sz="1050" b="1" spc="-35" dirty="0">
                <a:solidFill>
                  <a:srgbClr val="3D4249"/>
                </a:solidFill>
                <a:latin typeface="Times New Roman"/>
                <a:cs typeface="Times New Roman"/>
              </a:rPr>
              <a:t> </a:t>
            </a:r>
            <a:r>
              <a:rPr sz="1050" b="1" spc="-75" dirty="0">
                <a:solidFill>
                  <a:srgbClr val="4F5459"/>
                </a:solidFill>
                <a:latin typeface="Times New Roman"/>
                <a:cs typeface="Times New Roman"/>
              </a:rPr>
              <a:t>NETWORK</a:t>
            </a:r>
            <a:endParaRPr sz="1050" dirty="0">
              <a:latin typeface="Times New Roman"/>
              <a:cs typeface="Times New Roman"/>
            </a:endParaRPr>
          </a:p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950" b="1" spc="-10" dirty="0">
                <a:solidFill>
                  <a:srgbClr val="3D4249"/>
                </a:solidFill>
                <a:latin typeface="Times New Roman"/>
                <a:cs typeface="Times New Roman"/>
              </a:rPr>
              <a:t>(CNN)</a:t>
            </a:r>
            <a:endParaRPr sz="950" dirty="0">
              <a:latin typeface="Times New Roman"/>
              <a:cs typeface="Times New Roman"/>
            </a:endParaRPr>
          </a:p>
          <a:p>
            <a:pPr marL="14604" marR="83820" indent="-2540">
              <a:lnSpc>
                <a:spcPct val="136100"/>
              </a:lnSpc>
              <a:spcBef>
                <a:spcPts val="420"/>
              </a:spcBef>
            </a:pPr>
            <a:r>
              <a:rPr sz="700" spc="30" dirty="0">
                <a:solidFill>
                  <a:schemeClr val="tx1"/>
                </a:solidFill>
                <a:latin typeface="Arial"/>
                <a:cs typeface="Arial"/>
              </a:rPr>
              <a:t>Ideal for</a:t>
            </a:r>
            <a:r>
              <a:rPr sz="700" spc="229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chemeClr val="tx1"/>
                </a:solidFill>
                <a:latin typeface="Arial"/>
                <a:cs typeface="Arial"/>
              </a:rPr>
              <a:t>pattern</a:t>
            </a:r>
            <a:r>
              <a:rPr sz="700" spc="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chemeClr val="tx1"/>
                </a:solidFill>
                <a:latin typeface="Arial"/>
                <a:cs typeface="Arial"/>
              </a:rPr>
              <a:t>recognition</a:t>
            </a:r>
            <a:r>
              <a:rPr sz="7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chemeClr val="tx1"/>
                </a:solidFill>
                <a:latin typeface="Arial"/>
                <a:cs typeface="Arial"/>
              </a:rPr>
              <a:t>in</a:t>
            </a:r>
            <a:r>
              <a:rPr sz="7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chemeClr val="tx1"/>
                </a:solidFill>
                <a:latin typeface="Arial"/>
                <a:cs typeface="Arial"/>
              </a:rPr>
              <a:t>structured</a:t>
            </a:r>
            <a:r>
              <a:rPr sz="700" spc="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chemeClr val="tx1"/>
                </a:solidFill>
                <a:latin typeface="Arial"/>
                <a:cs typeface="Arial"/>
              </a:rPr>
              <a:t>data, </a:t>
            </a:r>
            <a:r>
              <a:rPr sz="700" spc="20" dirty="0">
                <a:solidFill>
                  <a:schemeClr val="tx1"/>
                </a:solidFill>
                <a:latin typeface="Arial"/>
                <a:cs typeface="Arial"/>
              </a:rPr>
              <a:t>such</a:t>
            </a:r>
            <a:r>
              <a:rPr sz="700" spc="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chemeClr val="tx1"/>
                </a:solidFill>
                <a:latin typeface="Arial"/>
                <a:cs typeface="Arial"/>
              </a:rPr>
              <a:t>as</a:t>
            </a:r>
            <a:r>
              <a:rPr sz="700" spc="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chemeClr val="tx1"/>
                </a:solidFill>
                <a:latin typeface="Arial"/>
                <a:cs typeface="Arial"/>
              </a:rPr>
              <a:t>analyzing</a:t>
            </a:r>
            <a:r>
              <a:rPr sz="700" spc="1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chemeClr val="tx1"/>
                </a:solidFill>
                <a:latin typeface="Arial"/>
                <a:cs typeface="Arial"/>
              </a:rPr>
              <a:t>packet</a:t>
            </a:r>
            <a:r>
              <a:rPr sz="700" spc="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chemeClr val="tx1"/>
                </a:solidFill>
                <a:latin typeface="Arial"/>
                <a:cs typeface="Arial"/>
              </a:rPr>
              <a:t>lengths</a:t>
            </a:r>
            <a:r>
              <a:rPr sz="700" spc="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z="700" spc="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chemeClr val="tx1"/>
                </a:solidFill>
                <a:latin typeface="Arial"/>
                <a:cs typeface="Arial"/>
              </a:rPr>
              <a:t>traffic</a:t>
            </a:r>
            <a:r>
              <a:rPr sz="700" spc="1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chemeClr val="tx1"/>
                </a:solidFill>
                <a:latin typeface="Arial"/>
                <a:cs typeface="Arial"/>
              </a:rPr>
              <a:t>flow</a:t>
            </a:r>
            <a:r>
              <a:rPr sz="700" spc="5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chemeClr val="tx1"/>
                </a:solidFill>
                <a:latin typeface="Arial"/>
                <a:cs typeface="Arial"/>
              </a:rPr>
              <a:t>durations.</a:t>
            </a:r>
            <a:endParaRPr sz="7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59925" y="2457447"/>
            <a:ext cx="229616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10" dirty="0">
                <a:solidFill>
                  <a:srgbClr val="3D4249"/>
                </a:solidFill>
                <a:latin typeface="Times New Roman"/>
                <a:cs typeface="Times New Roman"/>
              </a:rPr>
              <a:t>RECURRENT</a:t>
            </a:r>
            <a:r>
              <a:rPr sz="1050" b="1" spc="40" dirty="0">
                <a:solidFill>
                  <a:srgbClr val="3D4249"/>
                </a:solidFill>
                <a:latin typeface="Times New Roman"/>
                <a:cs typeface="Times New Roman"/>
              </a:rPr>
              <a:t> </a:t>
            </a:r>
            <a:r>
              <a:rPr sz="1050" b="1" spc="-110" dirty="0">
                <a:solidFill>
                  <a:srgbClr val="4F5459"/>
                </a:solidFill>
                <a:latin typeface="Times New Roman"/>
                <a:cs typeface="Times New Roman"/>
              </a:rPr>
              <a:t>NEURAL</a:t>
            </a:r>
            <a:r>
              <a:rPr sz="1050" b="1" spc="5" dirty="0">
                <a:solidFill>
                  <a:srgbClr val="4F5459"/>
                </a:solidFill>
                <a:latin typeface="Times New Roman"/>
                <a:cs typeface="Times New Roman"/>
              </a:rPr>
              <a:t> </a:t>
            </a:r>
            <a:r>
              <a:rPr sz="1050" b="1" spc="-125" dirty="0">
                <a:solidFill>
                  <a:srgbClr val="4F5459"/>
                </a:solidFill>
                <a:latin typeface="Times New Roman"/>
                <a:cs typeface="Times New Roman"/>
              </a:rPr>
              <a:t>NETWORK</a:t>
            </a:r>
            <a:r>
              <a:rPr sz="1050" b="1" spc="65" dirty="0">
                <a:solidFill>
                  <a:srgbClr val="4F5459"/>
                </a:solidFill>
                <a:latin typeface="Times New Roman"/>
                <a:cs typeface="Times New Roman"/>
              </a:rPr>
              <a:t> </a:t>
            </a:r>
            <a:r>
              <a:rPr sz="1050" b="1" spc="-40" dirty="0">
                <a:solidFill>
                  <a:srgbClr val="3D4249"/>
                </a:solidFill>
                <a:latin typeface="Times New Roman"/>
                <a:cs typeface="Times New Roman"/>
              </a:rPr>
              <a:t>(RNN)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56314" y="2438332"/>
            <a:ext cx="2145665" cy="1568378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139065" indent="-635">
              <a:lnSpc>
                <a:spcPct val="117500"/>
              </a:lnSpc>
              <a:spcBef>
                <a:spcPts val="35"/>
              </a:spcBef>
            </a:pPr>
            <a:r>
              <a:rPr sz="1050" b="1" spc="-70" dirty="0">
                <a:solidFill>
                  <a:srgbClr val="3D4249"/>
                </a:solidFill>
                <a:latin typeface="Times New Roman"/>
                <a:cs typeface="Times New Roman"/>
              </a:rPr>
              <a:t>BERT</a:t>
            </a:r>
            <a:r>
              <a:rPr sz="1050" b="1" spc="5" dirty="0">
                <a:solidFill>
                  <a:srgbClr val="3D4249"/>
                </a:solidFill>
                <a:latin typeface="Times New Roman"/>
                <a:cs typeface="Times New Roman"/>
              </a:rPr>
              <a:t> </a:t>
            </a:r>
            <a:r>
              <a:rPr sz="1050" b="1" spc="-90" dirty="0">
                <a:solidFill>
                  <a:srgbClr val="3D4249"/>
                </a:solidFill>
                <a:latin typeface="Times New Roman"/>
                <a:cs typeface="Times New Roman"/>
              </a:rPr>
              <a:t>(BIDIRECTIONAL</a:t>
            </a:r>
            <a:r>
              <a:rPr sz="1050" b="1" spc="-45" dirty="0">
                <a:solidFill>
                  <a:srgbClr val="3D4249"/>
                </a:solidFill>
                <a:latin typeface="Times New Roman"/>
                <a:cs typeface="Times New Roman"/>
              </a:rPr>
              <a:t> </a:t>
            </a:r>
            <a:r>
              <a:rPr sz="1050" b="1" spc="-75" dirty="0">
                <a:solidFill>
                  <a:srgbClr val="3D4249"/>
                </a:solidFill>
                <a:latin typeface="Times New Roman"/>
                <a:cs typeface="Times New Roman"/>
              </a:rPr>
              <a:t>ENCODER</a:t>
            </a:r>
            <a:r>
              <a:rPr sz="1050" b="1" spc="-25" dirty="0">
                <a:solidFill>
                  <a:srgbClr val="3D4249"/>
                </a:solidFill>
                <a:latin typeface="Times New Roman"/>
                <a:cs typeface="Times New Roman"/>
              </a:rPr>
              <a:t> REPRESENTATIONS</a:t>
            </a:r>
            <a:r>
              <a:rPr sz="1050" b="1" spc="-25" dirty="0">
                <a:solidFill>
                  <a:srgbClr val="4F5459"/>
                </a:solidFill>
                <a:latin typeface="Times New Roman"/>
                <a:cs typeface="Times New Roman"/>
              </a:rPr>
              <a:t>FROM </a:t>
            </a:r>
            <a:r>
              <a:rPr sz="1050" b="1" spc="-30" dirty="0">
                <a:solidFill>
                  <a:srgbClr val="3D4249"/>
                </a:solidFill>
                <a:latin typeface="Times New Roman"/>
                <a:cs typeface="Times New Roman"/>
              </a:rPr>
              <a:t>TRANSFORMERS)</a:t>
            </a:r>
            <a:endParaRPr lang="en-US" sz="1050" b="1" spc="-30" dirty="0">
              <a:solidFill>
                <a:srgbClr val="3D4249"/>
              </a:solidFill>
              <a:latin typeface="Times New Roman"/>
              <a:cs typeface="Times New Roman"/>
            </a:endParaRPr>
          </a:p>
          <a:p>
            <a:pPr marL="12700" marR="139065" indent="-635">
              <a:lnSpc>
                <a:spcPct val="117500"/>
              </a:lnSpc>
              <a:spcBef>
                <a:spcPts val="35"/>
              </a:spcBef>
            </a:pPr>
            <a:r>
              <a:rPr lang="en-US" sz="900" dirty="0">
                <a:latin typeface="Times New Roman"/>
                <a:cs typeface="Times New Roman"/>
              </a:rPr>
              <a:t>Best suited for detecting low-frequency and nuanced attack patterns due to its attention mechanism.</a:t>
            </a:r>
            <a:r>
              <a:rPr lang="en-US" sz="900" dirty="0"/>
              <a:t> Extracts meaningful features from data to identify complex attack patterns.</a:t>
            </a:r>
          </a:p>
          <a:p>
            <a:pPr marL="12700" marR="139065" indent="-635">
              <a:lnSpc>
                <a:spcPct val="117500"/>
              </a:lnSpc>
              <a:spcBef>
                <a:spcPts val="35"/>
              </a:spcBef>
            </a:pPr>
            <a:endParaRPr lang="en-US" sz="105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33081" y="2877920"/>
            <a:ext cx="2174240" cy="1136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700" spc="20" dirty="0">
                <a:solidFill>
                  <a:schemeClr val="tx1"/>
                </a:solidFill>
                <a:latin typeface="Arial"/>
                <a:cs typeface="Arial"/>
              </a:rPr>
              <a:t>Effective</a:t>
            </a:r>
            <a:r>
              <a:rPr sz="700" spc="1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55" dirty="0">
                <a:solidFill>
                  <a:schemeClr val="tx1"/>
                </a:solidFill>
                <a:latin typeface="Arial"/>
                <a:cs typeface="Arial"/>
              </a:rPr>
              <a:t>with</a:t>
            </a:r>
            <a:r>
              <a:rPr sz="700" spc="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chemeClr val="tx1"/>
                </a:solidFill>
                <a:latin typeface="Arial"/>
                <a:cs typeface="Arial"/>
              </a:rPr>
              <a:t>sequential</a:t>
            </a:r>
            <a:r>
              <a:rPr sz="700" spc="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70" dirty="0">
                <a:solidFill>
                  <a:schemeClr val="tx1"/>
                </a:solidFill>
                <a:latin typeface="Arial"/>
                <a:cs typeface="Arial"/>
              </a:rPr>
              <a:t>data</a:t>
            </a:r>
            <a:r>
              <a:rPr sz="700" spc="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chemeClr val="tx1"/>
                </a:solidFill>
                <a:latin typeface="Arial"/>
                <a:cs typeface="Arial"/>
              </a:rPr>
              <a:t>like</a:t>
            </a:r>
            <a:r>
              <a:rPr sz="700" spc="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chemeClr val="tx1"/>
                </a:solidFill>
                <a:latin typeface="Arial"/>
                <a:cs typeface="Arial"/>
              </a:rPr>
              <a:t>network</a:t>
            </a:r>
            <a:r>
              <a:rPr sz="700" spc="1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chemeClr val="tx1"/>
                </a:solidFill>
                <a:latin typeface="Arial"/>
                <a:cs typeface="Arial"/>
              </a:rPr>
              <a:t>logs;</a:t>
            </a:r>
            <a:endParaRPr sz="7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38735" marR="241300" indent="-635">
              <a:lnSpc>
                <a:spcPct val="137500"/>
              </a:lnSpc>
              <a:spcBef>
                <a:spcPts val="195"/>
              </a:spcBef>
            </a:pPr>
            <a:r>
              <a:rPr sz="700" spc="20" dirty="0">
                <a:solidFill>
                  <a:schemeClr val="tx1"/>
                </a:solidFill>
                <a:latin typeface="Arial"/>
                <a:cs typeface="Arial"/>
              </a:rPr>
              <a:t>employs</a:t>
            </a:r>
            <a:r>
              <a:rPr sz="700" spc="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chemeClr val="tx1"/>
                </a:solidFill>
                <a:latin typeface="Arial"/>
                <a:cs typeface="Arial"/>
              </a:rPr>
              <a:t>LSTM</a:t>
            </a:r>
            <a:r>
              <a:rPr sz="700" spc="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chemeClr val="tx1"/>
                </a:solidFill>
                <a:latin typeface="Arial"/>
                <a:cs typeface="Arial"/>
              </a:rPr>
              <a:t>for</a:t>
            </a:r>
            <a:r>
              <a:rPr sz="700" spc="2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chemeClr val="tx1"/>
                </a:solidFill>
                <a:latin typeface="Arial"/>
                <a:cs typeface="Arial"/>
              </a:rPr>
              <a:t>enhanced</a:t>
            </a:r>
            <a:r>
              <a:rPr sz="700" spc="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chemeClr val="tx1"/>
                </a:solidFill>
                <a:latin typeface="Arial"/>
                <a:cs typeface="Arial"/>
              </a:rPr>
              <a:t>accuracy</a:t>
            </a:r>
            <a:r>
              <a:rPr sz="700" spc="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050" spc="-37" baseline="11904" dirty="0">
                <a:solidFill>
                  <a:schemeClr val="tx1"/>
                </a:solidFill>
                <a:latin typeface="Arial"/>
                <a:cs typeface="Arial"/>
              </a:rPr>
              <a:t>nd</a:t>
            </a:r>
            <a:r>
              <a:rPr sz="1050" spc="44" baseline="11904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chemeClr val="tx1"/>
                </a:solidFill>
                <a:latin typeface="Arial"/>
                <a:cs typeface="Arial"/>
              </a:rPr>
              <a:t>handling</a:t>
            </a:r>
            <a:r>
              <a:rPr sz="700" spc="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chemeClr val="tx1"/>
                </a:solidFill>
                <a:latin typeface="Arial"/>
                <a:cs typeface="Arial"/>
              </a:rPr>
              <a:t>of</a:t>
            </a:r>
            <a:r>
              <a:rPr sz="700" spc="1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chemeClr val="tx1"/>
                </a:solidFill>
                <a:latin typeface="Arial"/>
                <a:cs typeface="Arial"/>
              </a:rPr>
              <a:t>long</a:t>
            </a:r>
            <a:r>
              <a:rPr sz="700" spc="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chemeClr val="tx1"/>
                </a:solidFill>
                <a:latin typeface="Arial"/>
                <a:cs typeface="Arial"/>
              </a:rPr>
              <a:t>dependencies</a:t>
            </a:r>
            <a:r>
              <a:rPr sz="700" spc="-10" dirty="0">
                <a:solidFill>
                  <a:srgbClr val="4F5459"/>
                </a:solidFill>
                <a:latin typeface="Arial"/>
                <a:cs typeface="Arial"/>
              </a:rPr>
              <a:t>.</a:t>
            </a:r>
            <a:endParaRPr lang="en-US" sz="700" spc="-10" dirty="0">
              <a:solidFill>
                <a:srgbClr val="4F5459"/>
              </a:solidFill>
              <a:latin typeface="Arial"/>
              <a:cs typeface="Arial"/>
            </a:endParaRPr>
          </a:p>
          <a:p>
            <a:pPr marL="38735" marR="241300" indent="-635">
              <a:lnSpc>
                <a:spcPct val="137500"/>
              </a:lnSpc>
              <a:spcBef>
                <a:spcPts val="195"/>
              </a:spcBef>
            </a:pPr>
            <a:r>
              <a:rPr lang="en-US" sz="800" dirty="0"/>
              <a:t>Highly effective for identifying volumetric attacks, thanks to its spatial hierarchy learning capabilities.</a:t>
            </a:r>
          </a:p>
          <a:p>
            <a:pPr marL="38735" marR="241300" indent="-635">
              <a:lnSpc>
                <a:spcPct val="137500"/>
              </a:lnSpc>
              <a:spcBef>
                <a:spcPts val="195"/>
              </a:spcBef>
            </a:pPr>
            <a:endParaRPr sz="7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>
    <p:comb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515" y="910758"/>
            <a:ext cx="415097" cy="271384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74184" y="0"/>
            <a:ext cx="2844641" cy="455366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6269" y="1024124"/>
            <a:ext cx="225171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0" dirty="0">
                <a:solidFill>
                  <a:srgbClr val="4D5056"/>
                </a:solidFill>
              </a:rPr>
              <a:t>ENHANCES</a:t>
            </a:r>
            <a:r>
              <a:rPr sz="1050" spc="5" dirty="0">
                <a:solidFill>
                  <a:srgbClr val="4D5056"/>
                </a:solidFill>
              </a:rPr>
              <a:t> </a:t>
            </a:r>
            <a:r>
              <a:rPr sz="1050" spc="-125" dirty="0">
                <a:solidFill>
                  <a:srgbClr val="4D5056"/>
                </a:solidFill>
              </a:rPr>
              <a:t>DATA</a:t>
            </a:r>
            <a:r>
              <a:rPr sz="1050" spc="-90" dirty="0">
                <a:solidFill>
                  <a:srgbClr val="4D5056"/>
                </a:solidFill>
              </a:rPr>
              <a:t> </a:t>
            </a:r>
            <a:r>
              <a:rPr sz="1050" spc="-100" dirty="0">
                <a:solidFill>
                  <a:srgbClr val="3B3F46"/>
                </a:solidFill>
              </a:rPr>
              <a:t>PROCESSING</a:t>
            </a:r>
            <a:r>
              <a:rPr sz="1050" spc="95" dirty="0">
                <a:solidFill>
                  <a:srgbClr val="3B3F46"/>
                </a:solidFill>
              </a:rPr>
              <a:t> </a:t>
            </a:r>
            <a:r>
              <a:rPr sz="1050" spc="-10" dirty="0">
                <a:solidFill>
                  <a:srgbClr val="4D5056"/>
                </a:solidFill>
              </a:rPr>
              <a:t>SPEED</a:t>
            </a:r>
            <a:endParaRPr sz="1050" dirty="0"/>
          </a:p>
        </p:txBody>
      </p:sp>
      <p:sp>
        <p:nvSpPr>
          <p:cNvPr id="5" name="object 5"/>
          <p:cNvSpPr txBox="1"/>
          <p:nvPr/>
        </p:nvSpPr>
        <p:spPr>
          <a:xfrm>
            <a:off x="1015868" y="1296160"/>
            <a:ext cx="3648075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Feature</a:t>
            </a:r>
            <a:r>
              <a:rPr sz="700" spc="6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selection</a:t>
            </a:r>
            <a:r>
              <a:rPr sz="700" spc="114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reduces</a:t>
            </a:r>
            <a:r>
              <a:rPr sz="700" spc="8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the</a:t>
            </a:r>
            <a:r>
              <a:rPr sz="700" spc="14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overall</a:t>
            </a:r>
            <a:r>
              <a:rPr sz="700" spc="4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70" dirty="0">
                <a:solidFill>
                  <a:srgbClr val="5E6267"/>
                </a:solidFill>
                <a:latin typeface="Arial"/>
                <a:cs typeface="Arial"/>
              </a:rPr>
              <a:t>data</a:t>
            </a:r>
            <a:r>
              <a:rPr sz="700" spc="40" dirty="0">
                <a:solidFill>
                  <a:srgbClr val="5E6267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4D5056"/>
                </a:solidFill>
                <a:latin typeface="Arial"/>
                <a:cs typeface="Arial"/>
              </a:rPr>
              <a:t>size,</a:t>
            </a:r>
            <a:r>
              <a:rPr sz="700" spc="10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leading</a:t>
            </a:r>
            <a:r>
              <a:rPr sz="700" spc="7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to</a:t>
            </a:r>
            <a:r>
              <a:rPr sz="700" spc="15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faster</a:t>
            </a:r>
            <a:r>
              <a:rPr sz="700" spc="11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3B3F46"/>
                </a:solidFill>
                <a:latin typeface="Arial"/>
                <a:cs typeface="Arial"/>
              </a:rPr>
              <a:t>processing</a:t>
            </a:r>
            <a:r>
              <a:rPr sz="700" spc="114" dirty="0">
                <a:solidFill>
                  <a:srgbClr val="3B3F46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3B3F46"/>
                </a:solidFill>
                <a:latin typeface="Arial"/>
                <a:cs typeface="Arial"/>
              </a:rPr>
              <a:t>times.</a:t>
            </a:r>
            <a:r>
              <a:rPr lang="en-US" sz="700" spc="-10" dirty="0">
                <a:solidFill>
                  <a:srgbClr val="3B3F46"/>
                </a:solidFill>
                <a:latin typeface="Arial"/>
                <a:cs typeface="Arial"/>
              </a:rPr>
              <a:t> </a:t>
            </a:r>
            <a:endParaRPr sz="7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5868" y="1647573"/>
            <a:ext cx="3779520" cy="1914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75" dirty="0">
                <a:solidFill>
                  <a:srgbClr val="3B3F46"/>
                </a:solidFill>
                <a:latin typeface="Times New Roman"/>
                <a:cs typeface="Times New Roman"/>
              </a:rPr>
              <a:t>BOOSTS</a:t>
            </a:r>
            <a:r>
              <a:rPr sz="1050" b="1" spc="-35" dirty="0">
                <a:solidFill>
                  <a:srgbClr val="3B3F46"/>
                </a:solidFill>
                <a:latin typeface="Times New Roman"/>
                <a:cs typeface="Times New Roman"/>
              </a:rPr>
              <a:t> </a:t>
            </a:r>
            <a:r>
              <a:rPr sz="1050" b="1" spc="-90" dirty="0">
                <a:solidFill>
                  <a:srgbClr val="4D5056"/>
                </a:solidFill>
                <a:latin typeface="Times New Roman"/>
                <a:cs typeface="Times New Roman"/>
              </a:rPr>
              <a:t>MODEL </a:t>
            </a:r>
            <a:r>
              <a:rPr sz="1050" b="1" spc="-25" dirty="0">
                <a:solidFill>
                  <a:srgbClr val="4D5056"/>
                </a:solidFill>
                <a:latin typeface="Times New Roman"/>
                <a:cs typeface="Times New Roman"/>
              </a:rPr>
              <a:t>ACCURACY</a:t>
            </a:r>
            <a:endParaRPr sz="1050">
              <a:latin typeface="Times New Roman"/>
              <a:cs typeface="Times New Roman"/>
            </a:endParaRPr>
          </a:p>
          <a:p>
            <a:pPr marL="19050" marR="88900" indent="-1905">
              <a:lnSpc>
                <a:spcPct val="134600"/>
              </a:lnSpc>
              <a:spcBef>
                <a:spcPts val="390"/>
              </a:spcBef>
            </a:pP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Focusing</a:t>
            </a:r>
            <a:r>
              <a:rPr sz="700" spc="6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on</a:t>
            </a:r>
            <a:r>
              <a:rPr sz="700" spc="7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critical</a:t>
            </a:r>
            <a:r>
              <a:rPr sz="700" spc="2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features</a:t>
            </a:r>
            <a:r>
              <a:rPr sz="700" spc="8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enhances</a:t>
            </a:r>
            <a:r>
              <a:rPr sz="700" spc="7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b="1" spc="30" dirty="0">
                <a:solidFill>
                  <a:srgbClr val="3B3F46"/>
                </a:solidFill>
                <a:latin typeface="Arial"/>
                <a:cs typeface="Arial"/>
              </a:rPr>
              <a:t>the</a:t>
            </a:r>
            <a:r>
              <a:rPr sz="700" b="1" spc="35" dirty="0">
                <a:solidFill>
                  <a:srgbClr val="3B3F46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predictive</a:t>
            </a:r>
            <a:r>
              <a:rPr sz="700" spc="2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accuracy</a:t>
            </a:r>
            <a:r>
              <a:rPr sz="700" spc="8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of</a:t>
            </a:r>
            <a:r>
              <a:rPr sz="700" spc="15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machine</a:t>
            </a:r>
            <a:r>
              <a:rPr sz="700" spc="3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3B3F46"/>
                </a:solidFill>
                <a:latin typeface="Arial"/>
                <a:cs typeface="Arial"/>
              </a:rPr>
              <a:t>learning</a:t>
            </a:r>
            <a:r>
              <a:rPr sz="700" spc="500" dirty="0">
                <a:solidFill>
                  <a:srgbClr val="3B3F46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D5056"/>
                </a:solidFill>
                <a:latin typeface="Arial"/>
                <a:cs typeface="Arial"/>
              </a:rPr>
              <a:t>models.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50" b="1" spc="-95" dirty="0">
                <a:solidFill>
                  <a:srgbClr val="4D5056"/>
                </a:solidFill>
                <a:latin typeface="Times New Roman"/>
                <a:cs typeface="Times New Roman"/>
              </a:rPr>
              <a:t>UTILIZES</a:t>
            </a:r>
            <a:r>
              <a:rPr sz="1050" b="1" spc="40" dirty="0">
                <a:solidFill>
                  <a:srgbClr val="4D5056"/>
                </a:solidFill>
                <a:latin typeface="Times New Roman"/>
                <a:cs typeface="Times New Roman"/>
              </a:rPr>
              <a:t> </a:t>
            </a:r>
            <a:r>
              <a:rPr sz="1050" b="1" spc="-125" dirty="0">
                <a:solidFill>
                  <a:srgbClr val="3B3F46"/>
                </a:solidFill>
                <a:latin typeface="Times New Roman"/>
                <a:cs typeface="Times New Roman"/>
              </a:rPr>
              <a:t>RANDOM</a:t>
            </a:r>
            <a:r>
              <a:rPr sz="1050" b="1" spc="-10" dirty="0">
                <a:solidFill>
                  <a:srgbClr val="3B3F46"/>
                </a:solidFill>
                <a:latin typeface="Times New Roman"/>
                <a:cs typeface="Times New Roman"/>
              </a:rPr>
              <a:t> </a:t>
            </a:r>
            <a:r>
              <a:rPr sz="1050" b="1" spc="-80" dirty="0">
                <a:solidFill>
                  <a:srgbClr val="4D5056"/>
                </a:solidFill>
                <a:latin typeface="Times New Roman"/>
                <a:cs typeface="Times New Roman"/>
              </a:rPr>
              <a:t>FOREST</a:t>
            </a:r>
            <a:r>
              <a:rPr sz="1050" b="1" spc="-5" dirty="0">
                <a:solidFill>
                  <a:srgbClr val="4D5056"/>
                </a:solidFill>
                <a:latin typeface="Times New Roman"/>
                <a:cs typeface="Times New Roman"/>
              </a:rPr>
              <a:t> </a:t>
            </a:r>
            <a:r>
              <a:rPr sz="1050" b="1" spc="-10" dirty="0">
                <a:solidFill>
                  <a:srgbClr val="4D5056"/>
                </a:solidFill>
                <a:latin typeface="Times New Roman"/>
                <a:cs typeface="Times New Roman"/>
              </a:rPr>
              <a:t>METHOD</a:t>
            </a:r>
            <a:endParaRPr sz="105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655"/>
              </a:spcBef>
            </a:pPr>
            <a:r>
              <a:rPr sz="700" dirty="0">
                <a:solidFill>
                  <a:srgbClr val="3B3F46"/>
                </a:solidFill>
                <a:latin typeface="Arial"/>
                <a:cs typeface="Arial"/>
              </a:rPr>
              <a:t>The</a:t>
            </a:r>
            <a:r>
              <a:rPr sz="700" spc="150" dirty="0">
                <a:solidFill>
                  <a:srgbClr val="3B3F46"/>
                </a:solidFill>
                <a:latin typeface="Arial"/>
                <a:cs typeface="Arial"/>
              </a:rPr>
              <a:t>  </a:t>
            </a:r>
            <a:r>
              <a:rPr sz="700" dirty="0">
                <a:solidFill>
                  <a:srgbClr val="4D5056"/>
                </a:solidFill>
                <a:latin typeface="Arial"/>
                <a:cs typeface="Arial"/>
              </a:rPr>
              <a:t>Random</a:t>
            </a:r>
            <a:r>
              <a:rPr sz="700" spc="14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3B3F46"/>
                </a:solidFill>
                <a:latin typeface="Arial"/>
                <a:cs typeface="Arial"/>
              </a:rPr>
              <a:t>Forest</a:t>
            </a:r>
            <a:r>
              <a:rPr sz="700" spc="110" dirty="0">
                <a:solidFill>
                  <a:srgbClr val="3B3F46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4D5056"/>
                </a:solidFill>
                <a:latin typeface="Arial"/>
                <a:cs typeface="Arial"/>
              </a:rPr>
              <a:t>a</a:t>
            </a:r>
            <a:r>
              <a:rPr sz="700" spc="50" dirty="0">
                <a:solidFill>
                  <a:srgbClr val="798087"/>
                </a:solidFill>
                <a:latin typeface="Arial"/>
                <a:cs typeface="Arial"/>
              </a:rPr>
              <a:t>l</a:t>
            </a:r>
            <a:r>
              <a:rPr sz="700" spc="50" dirty="0">
                <a:solidFill>
                  <a:srgbClr val="4D5056"/>
                </a:solidFill>
                <a:latin typeface="Arial"/>
                <a:cs typeface="Arial"/>
              </a:rPr>
              <a:t>gorithm</a:t>
            </a:r>
            <a:r>
              <a:rPr sz="700" spc="16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D5056"/>
                </a:solidFill>
                <a:latin typeface="Arial"/>
                <a:cs typeface="Arial"/>
              </a:rPr>
              <a:t>efficiently</a:t>
            </a:r>
            <a:r>
              <a:rPr sz="700" spc="16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E6267"/>
                </a:solidFill>
                <a:latin typeface="Arial"/>
                <a:cs typeface="Arial"/>
              </a:rPr>
              <a:t>identifies</a:t>
            </a:r>
            <a:r>
              <a:rPr sz="700" spc="175" dirty="0">
                <a:solidFill>
                  <a:srgbClr val="5E6267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4D5056"/>
                </a:solidFill>
                <a:latin typeface="Arial"/>
                <a:cs typeface="Arial"/>
              </a:rPr>
              <a:t>feature</a:t>
            </a:r>
            <a:r>
              <a:rPr sz="700" spc="8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4D5056"/>
                </a:solidFill>
                <a:latin typeface="Arial"/>
                <a:cs typeface="Arial"/>
              </a:rPr>
              <a:t>importance</a:t>
            </a:r>
            <a:r>
              <a:rPr sz="700" spc="20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D5056"/>
                </a:solidFill>
                <a:latin typeface="Arial"/>
                <a:cs typeface="Arial"/>
              </a:rPr>
              <a:t>far</a:t>
            </a:r>
            <a:r>
              <a:rPr sz="700" spc="22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D5056"/>
                </a:solidFill>
                <a:latin typeface="Arial"/>
                <a:cs typeface="Arial"/>
              </a:rPr>
              <a:t>selection.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5"/>
              </a:spcBef>
            </a:pPr>
            <a:r>
              <a:rPr sz="1050" b="1" spc="-75" dirty="0">
                <a:solidFill>
                  <a:srgbClr val="3B3F46"/>
                </a:solidFill>
                <a:latin typeface="Times New Roman"/>
                <a:cs typeface="Times New Roman"/>
              </a:rPr>
              <a:t>IDENTIFIED</a:t>
            </a:r>
            <a:r>
              <a:rPr sz="1050" b="1" spc="15" dirty="0">
                <a:solidFill>
                  <a:srgbClr val="3B3F46"/>
                </a:solidFill>
                <a:latin typeface="Times New Roman"/>
                <a:cs typeface="Times New Roman"/>
              </a:rPr>
              <a:t> </a:t>
            </a:r>
            <a:r>
              <a:rPr sz="1050" b="1" spc="-95" dirty="0">
                <a:solidFill>
                  <a:srgbClr val="4D5056"/>
                </a:solidFill>
                <a:latin typeface="Times New Roman"/>
                <a:cs typeface="Times New Roman"/>
              </a:rPr>
              <a:t>KEY</a:t>
            </a:r>
            <a:r>
              <a:rPr sz="1050" b="1" spc="-90" dirty="0">
                <a:solidFill>
                  <a:srgbClr val="4D5056"/>
                </a:solidFill>
                <a:latin typeface="Times New Roman"/>
                <a:cs typeface="Times New Roman"/>
              </a:rPr>
              <a:t> </a:t>
            </a:r>
            <a:r>
              <a:rPr sz="1050" b="1" spc="-10" dirty="0">
                <a:solidFill>
                  <a:srgbClr val="4D5056"/>
                </a:solidFill>
                <a:latin typeface="Times New Roman"/>
                <a:cs typeface="Times New Roman"/>
              </a:rPr>
              <a:t>FEATURES</a:t>
            </a:r>
            <a:endParaRPr sz="105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675"/>
              </a:spcBef>
            </a:pP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Key</a:t>
            </a:r>
            <a:r>
              <a:rPr sz="700" spc="8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features</a:t>
            </a:r>
            <a:r>
              <a:rPr sz="700" spc="9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3B3F46"/>
                </a:solidFill>
                <a:latin typeface="Arial"/>
                <a:cs typeface="Arial"/>
              </a:rPr>
              <a:t>include</a:t>
            </a:r>
            <a:r>
              <a:rPr sz="700" spc="80" dirty="0">
                <a:solidFill>
                  <a:srgbClr val="3B3F46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Flow</a:t>
            </a:r>
            <a:r>
              <a:rPr sz="700" spc="5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Duration,</a:t>
            </a:r>
            <a:r>
              <a:rPr sz="700" spc="100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5E6267"/>
                </a:solidFill>
                <a:latin typeface="Arial"/>
                <a:cs typeface="Arial"/>
              </a:rPr>
              <a:t>Tota</a:t>
            </a:r>
            <a:r>
              <a:rPr sz="700" spc="30" dirty="0">
                <a:solidFill>
                  <a:srgbClr val="3B3F46"/>
                </a:solidFill>
                <a:latin typeface="Arial"/>
                <a:cs typeface="Arial"/>
              </a:rPr>
              <a:t>l </a:t>
            </a:r>
            <a:r>
              <a:rPr sz="700" spc="30" dirty="0">
                <a:solidFill>
                  <a:srgbClr val="4D5056"/>
                </a:solidFill>
                <a:latin typeface="Arial"/>
                <a:cs typeface="Arial"/>
              </a:rPr>
              <a:t>Bytes</a:t>
            </a:r>
            <a:r>
              <a:rPr sz="700" spc="5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5E6267"/>
                </a:solidFill>
                <a:latin typeface="Arial"/>
                <a:cs typeface="Arial"/>
              </a:rPr>
              <a:t>Transferred,</a:t>
            </a:r>
            <a:r>
              <a:rPr sz="700" spc="105" dirty="0">
                <a:solidFill>
                  <a:srgbClr val="5E6267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4D5056"/>
                </a:solidFill>
                <a:latin typeface="Arial"/>
                <a:cs typeface="Arial"/>
              </a:rPr>
              <a:t>and</a:t>
            </a:r>
            <a:r>
              <a:rPr sz="700" spc="125" dirty="0">
                <a:solidFill>
                  <a:srgbClr val="4D5056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D5056"/>
                </a:solidFill>
                <a:latin typeface="Arial"/>
                <a:cs typeface="Arial"/>
              </a:rPr>
              <a:t>Source/Destination</a:t>
            </a:r>
            <a:endParaRPr sz="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219"/>
              </a:spcBef>
            </a:pPr>
            <a:r>
              <a:rPr sz="750" spc="-20" dirty="0">
                <a:solidFill>
                  <a:srgbClr val="4D5056"/>
                </a:solidFill>
                <a:latin typeface="Arial"/>
                <a:cs typeface="Arial"/>
              </a:rPr>
              <a:t>IPs.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20778"/>
            <a:ext cx="8128000" cy="3533140"/>
            <a:chOff x="0" y="1020778"/>
            <a:chExt cx="8128000" cy="35331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20778"/>
              <a:ext cx="6116589" cy="353288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208" y="1029947"/>
              <a:ext cx="2002789" cy="0"/>
            </a:xfrm>
            <a:custGeom>
              <a:avLst/>
              <a:gdLst/>
              <a:ahLst/>
              <a:cxnLst/>
              <a:rect l="l" t="t" r="r" b="b"/>
              <a:pathLst>
                <a:path w="2002789">
                  <a:moveTo>
                    <a:pt x="0" y="0"/>
                  </a:moveTo>
                  <a:lnTo>
                    <a:pt x="2002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16590" y="1028419"/>
              <a:ext cx="2011680" cy="15875"/>
            </a:xfrm>
            <a:custGeom>
              <a:avLst/>
              <a:gdLst/>
              <a:ahLst/>
              <a:cxnLst/>
              <a:rect l="l" t="t" r="r" b="b"/>
              <a:pathLst>
                <a:path w="2011679" h="15875">
                  <a:moveTo>
                    <a:pt x="2011409" y="15280"/>
                  </a:moveTo>
                  <a:lnTo>
                    <a:pt x="0" y="15280"/>
                  </a:lnTo>
                  <a:lnTo>
                    <a:pt x="0" y="0"/>
                  </a:lnTo>
                  <a:lnTo>
                    <a:pt x="2011409" y="0"/>
                  </a:lnTo>
                  <a:lnTo>
                    <a:pt x="2011409" y="152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DATADMSION</a:t>
            </a:r>
            <a:r>
              <a:rPr spc="-50" dirty="0"/>
              <a:t> </a:t>
            </a:r>
            <a:r>
              <a:rPr spc="-145" dirty="0"/>
              <a:t>AND </a:t>
            </a:r>
            <a:r>
              <a:rPr spc="-195" dirty="0"/>
              <a:t>MODEL</a:t>
            </a:r>
            <a:r>
              <a:rPr spc="-70" dirty="0"/>
              <a:t> </a:t>
            </a:r>
            <a:r>
              <a:rPr spc="-215" dirty="0"/>
              <a:t>EVALUATION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29762" y="658407"/>
            <a:ext cx="36963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20" dirty="0">
                <a:solidFill>
                  <a:srgbClr val="4D525B"/>
                </a:solidFill>
                <a:latin typeface="Arial"/>
                <a:cs typeface="Arial"/>
              </a:rPr>
              <a:t>Understanding</a:t>
            </a:r>
            <a:r>
              <a:rPr sz="850" spc="90" dirty="0">
                <a:solidFill>
                  <a:srgbClr val="4D525B"/>
                </a:solidFill>
                <a:latin typeface="Arial"/>
                <a:cs typeface="Arial"/>
              </a:rPr>
              <a:t> </a:t>
            </a:r>
            <a:r>
              <a:rPr sz="850" spc="20" dirty="0">
                <a:solidFill>
                  <a:srgbClr val="4D525B"/>
                </a:solidFill>
                <a:latin typeface="Arial"/>
                <a:cs typeface="Arial"/>
              </a:rPr>
              <a:t>the</a:t>
            </a:r>
            <a:r>
              <a:rPr sz="850" spc="55" dirty="0">
                <a:solidFill>
                  <a:srgbClr val="4D525B"/>
                </a:solidFill>
                <a:latin typeface="Arial"/>
                <a:cs typeface="Arial"/>
              </a:rPr>
              <a:t> </a:t>
            </a:r>
            <a:r>
              <a:rPr sz="850" spc="20" dirty="0">
                <a:solidFill>
                  <a:srgbClr val="4D525B"/>
                </a:solidFill>
                <a:latin typeface="Arial"/>
                <a:cs typeface="Arial"/>
              </a:rPr>
              <a:t>Importance</a:t>
            </a:r>
            <a:r>
              <a:rPr sz="850" spc="75" dirty="0">
                <a:solidFill>
                  <a:srgbClr val="4D525B"/>
                </a:solidFill>
                <a:latin typeface="Arial"/>
                <a:cs typeface="Arial"/>
              </a:rPr>
              <a:t> </a:t>
            </a:r>
            <a:r>
              <a:rPr sz="850" spc="20" dirty="0">
                <a:solidFill>
                  <a:srgbClr val="4D525B"/>
                </a:solidFill>
                <a:latin typeface="Arial"/>
                <a:cs typeface="Arial"/>
              </a:rPr>
              <a:t>of</a:t>
            </a:r>
            <a:r>
              <a:rPr sz="850" spc="135" dirty="0">
                <a:solidFill>
                  <a:srgbClr val="4D525B"/>
                </a:solidFill>
                <a:latin typeface="Arial"/>
                <a:cs typeface="Arial"/>
              </a:rPr>
              <a:t> </a:t>
            </a:r>
            <a:r>
              <a:rPr sz="850" spc="50" dirty="0">
                <a:solidFill>
                  <a:srgbClr val="4D525B"/>
                </a:solidFill>
                <a:latin typeface="Arial"/>
                <a:cs typeface="Arial"/>
              </a:rPr>
              <a:t>Data</a:t>
            </a:r>
            <a:r>
              <a:rPr sz="850" spc="85" dirty="0">
                <a:solidFill>
                  <a:srgbClr val="4D525B"/>
                </a:solidFill>
                <a:latin typeface="Arial"/>
                <a:cs typeface="Arial"/>
              </a:rPr>
              <a:t> </a:t>
            </a:r>
            <a:r>
              <a:rPr sz="850" spc="20" dirty="0">
                <a:solidFill>
                  <a:srgbClr val="4D525B"/>
                </a:solidFill>
                <a:latin typeface="Arial"/>
                <a:cs typeface="Arial"/>
              </a:rPr>
              <a:t>Division</a:t>
            </a:r>
            <a:r>
              <a:rPr sz="850" spc="25" dirty="0">
                <a:solidFill>
                  <a:srgbClr val="4D525B"/>
                </a:solidFill>
                <a:latin typeface="Arial"/>
                <a:cs typeface="Arial"/>
              </a:rPr>
              <a:t> </a:t>
            </a:r>
            <a:r>
              <a:rPr sz="850" spc="20" dirty="0">
                <a:solidFill>
                  <a:srgbClr val="4D525B"/>
                </a:solidFill>
                <a:latin typeface="Arial"/>
                <a:cs typeface="Arial"/>
              </a:rPr>
              <a:t>and</a:t>
            </a:r>
            <a:r>
              <a:rPr sz="850" spc="70" dirty="0">
                <a:solidFill>
                  <a:srgbClr val="4D525B"/>
                </a:solidFill>
                <a:latin typeface="Arial"/>
                <a:cs typeface="Arial"/>
              </a:rPr>
              <a:t> </a:t>
            </a:r>
            <a:r>
              <a:rPr sz="850" spc="20" dirty="0">
                <a:solidFill>
                  <a:srgbClr val="4D525B"/>
                </a:solidFill>
                <a:latin typeface="Arial"/>
                <a:cs typeface="Arial"/>
              </a:rPr>
              <a:t>Evaluation</a:t>
            </a:r>
            <a:r>
              <a:rPr sz="850" spc="25" dirty="0">
                <a:solidFill>
                  <a:srgbClr val="4D525B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4D525B"/>
                </a:solidFill>
                <a:latin typeface="Arial"/>
                <a:cs typeface="Arial"/>
              </a:rPr>
              <a:t>Metrics</a:t>
            </a:r>
            <a:endParaRPr sz="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461" y="1587215"/>
            <a:ext cx="1474470" cy="7378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b="1" spc="-35" dirty="0">
                <a:solidFill>
                  <a:srgbClr val="0C1318"/>
                </a:solidFill>
                <a:latin typeface="Times New Roman"/>
                <a:cs typeface="Times New Roman"/>
              </a:rPr>
              <a:t>DATA</a:t>
            </a:r>
            <a:r>
              <a:rPr lang="en-US" sz="900" b="1" spc="-35" dirty="0">
                <a:solidFill>
                  <a:srgbClr val="0C1318"/>
                </a:solidFill>
                <a:latin typeface="Times New Roman"/>
                <a:cs typeface="Times New Roman"/>
              </a:rPr>
              <a:t> Dimensions </a:t>
            </a:r>
            <a:r>
              <a:rPr sz="900" b="1" spc="-10" dirty="0" err="1">
                <a:solidFill>
                  <a:srgbClr val="0C1318"/>
                </a:solidFill>
                <a:latin typeface="Times New Roman"/>
                <a:cs typeface="Times New Roman"/>
              </a:rPr>
              <a:t>OVERVlEW</a:t>
            </a:r>
            <a:endParaRPr sz="900" dirty="0">
              <a:latin typeface="Times New Roman"/>
              <a:cs typeface="Times New Roman"/>
            </a:endParaRPr>
          </a:p>
          <a:p>
            <a:pPr marL="12065" marR="5080" algn="ctr">
              <a:lnSpc>
                <a:spcPct val="141900"/>
              </a:lnSpc>
              <a:spcBef>
                <a:spcPts val="310"/>
              </a:spcBef>
            </a:pPr>
            <a:r>
              <a:rPr sz="650" spc="-10" dirty="0">
                <a:solidFill>
                  <a:srgbClr val="0C1318"/>
                </a:solidFill>
                <a:latin typeface="Arial"/>
                <a:cs typeface="Arial"/>
              </a:rPr>
              <a:t>The</a:t>
            </a:r>
            <a:r>
              <a:rPr sz="650" spc="165" dirty="0">
                <a:solidFill>
                  <a:srgbClr val="0C1318"/>
                </a:solidFill>
                <a:latin typeface="Arial"/>
                <a:cs typeface="Arial"/>
              </a:rPr>
              <a:t>  </a:t>
            </a:r>
            <a:r>
              <a:rPr sz="650" dirty="0">
                <a:solidFill>
                  <a:srgbClr val="1C262A"/>
                </a:solidFill>
                <a:latin typeface="Arial"/>
                <a:cs typeface="Arial"/>
              </a:rPr>
              <a:t>dataset</a:t>
            </a:r>
            <a:r>
              <a:rPr sz="650" spc="120" dirty="0">
                <a:solidFill>
                  <a:srgbClr val="1C262A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363D46"/>
                </a:solidFill>
                <a:latin typeface="Arial"/>
                <a:cs typeface="Arial"/>
              </a:rPr>
              <a:t>i</a:t>
            </a:r>
            <a:r>
              <a:rPr sz="650" dirty="0">
                <a:solidFill>
                  <a:srgbClr val="1C262A"/>
                </a:solidFill>
                <a:latin typeface="Arial"/>
                <a:cs typeface="Arial"/>
              </a:rPr>
              <a:t>s</a:t>
            </a:r>
            <a:r>
              <a:rPr sz="650" spc="-5" dirty="0">
                <a:solidFill>
                  <a:srgbClr val="1C262A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1C262A"/>
                </a:solidFill>
                <a:latin typeface="Arial"/>
                <a:cs typeface="Arial"/>
              </a:rPr>
              <a:t>split</a:t>
            </a:r>
            <a:r>
              <a:rPr sz="650" spc="70" dirty="0">
                <a:solidFill>
                  <a:srgbClr val="1C262A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1C262A"/>
                </a:solidFill>
                <a:latin typeface="Arial"/>
                <a:cs typeface="Arial"/>
              </a:rPr>
              <a:t>into</a:t>
            </a:r>
            <a:r>
              <a:rPr sz="650" spc="30" dirty="0">
                <a:solidFill>
                  <a:srgbClr val="1C262A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1C262A"/>
                </a:solidFill>
                <a:latin typeface="Arial"/>
                <a:cs typeface="Arial"/>
              </a:rPr>
              <a:t>trai</a:t>
            </a:r>
            <a:r>
              <a:rPr sz="650" dirty="0">
                <a:solidFill>
                  <a:srgbClr val="363D46"/>
                </a:solidFill>
                <a:latin typeface="Arial"/>
                <a:cs typeface="Arial"/>
              </a:rPr>
              <a:t>n</a:t>
            </a:r>
            <a:r>
              <a:rPr sz="650" dirty="0">
                <a:solidFill>
                  <a:srgbClr val="1C262A"/>
                </a:solidFill>
                <a:latin typeface="Arial"/>
                <a:cs typeface="Arial"/>
              </a:rPr>
              <a:t>ing</a:t>
            </a:r>
            <a:r>
              <a:rPr sz="650" spc="170" dirty="0">
                <a:solidFill>
                  <a:srgbClr val="1C262A"/>
                </a:solidFill>
                <a:latin typeface="Arial"/>
                <a:cs typeface="Arial"/>
              </a:rPr>
              <a:t> </a:t>
            </a:r>
            <a:r>
              <a:rPr sz="650" spc="-25" dirty="0">
                <a:solidFill>
                  <a:srgbClr val="1C262A"/>
                </a:solidFill>
                <a:latin typeface="Arial"/>
                <a:cs typeface="Arial"/>
              </a:rPr>
              <a:t>and</a:t>
            </a:r>
            <a:r>
              <a:rPr sz="650" spc="500" dirty="0">
                <a:solidFill>
                  <a:srgbClr val="1C262A"/>
                </a:solidFill>
                <a:latin typeface="Arial"/>
                <a:cs typeface="Arial"/>
              </a:rPr>
              <a:t> </a:t>
            </a:r>
            <a:r>
              <a:rPr sz="650" spc="20" dirty="0">
                <a:solidFill>
                  <a:srgbClr val="1C262A"/>
                </a:solidFill>
                <a:latin typeface="Arial"/>
                <a:cs typeface="Arial"/>
              </a:rPr>
              <a:t>testing</a:t>
            </a:r>
            <a:r>
              <a:rPr sz="650" spc="35" dirty="0">
                <a:solidFill>
                  <a:srgbClr val="1C262A"/>
                </a:solidFill>
                <a:latin typeface="Arial"/>
                <a:cs typeface="Arial"/>
              </a:rPr>
              <a:t> </a:t>
            </a:r>
            <a:r>
              <a:rPr sz="650" spc="10" dirty="0">
                <a:solidFill>
                  <a:srgbClr val="1C262A"/>
                </a:solidFill>
                <a:latin typeface="Arial"/>
                <a:cs typeface="Arial"/>
              </a:rPr>
              <a:t>sets</a:t>
            </a:r>
            <a:r>
              <a:rPr sz="650" spc="5" dirty="0">
                <a:solidFill>
                  <a:srgbClr val="1C262A"/>
                </a:solidFill>
                <a:latin typeface="Arial"/>
                <a:cs typeface="Arial"/>
              </a:rPr>
              <a:t> </a:t>
            </a:r>
            <a:r>
              <a:rPr sz="650" spc="20" dirty="0">
                <a:solidFill>
                  <a:srgbClr val="0C1318"/>
                </a:solidFill>
                <a:latin typeface="Arial"/>
                <a:cs typeface="Arial"/>
              </a:rPr>
              <a:t>to</a:t>
            </a:r>
            <a:r>
              <a:rPr sz="650" spc="110" dirty="0">
                <a:solidFill>
                  <a:srgbClr val="0C1318"/>
                </a:solidFill>
                <a:latin typeface="Arial"/>
                <a:cs typeface="Arial"/>
              </a:rPr>
              <a:t> </a:t>
            </a:r>
            <a:r>
              <a:rPr sz="650" spc="20" dirty="0">
                <a:solidFill>
                  <a:srgbClr val="1C262A"/>
                </a:solidFill>
                <a:latin typeface="Arial"/>
                <a:cs typeface="Arial"/>
              </a:rPr>
              <a:t>evaluate</a:t>
            </a:r>
            <a:r>
              <a:rPr sz="650" spc="45" dirty="0">
                <a:solidFill>
                  <a:srgbClr val="1C262A"/>
                </a:solidFill>
                <a:latin typeface="Arial"/>
                <a:cs typeface="Arial"/>
              </a:rPr>
              <a:t> </a:t>
            </a:r>
            <a:r>
              <a:rPr sz="650" spc="-20" dirty="0">
                <a:solidFill>
                  <a:srgbClr val="1C262A"/>
                </a:solidFill>
                <a:latin typeface="Arial"/>
                <a:cs typeface="Arial"/>
              </a:rPr>
              <a:t>mode</a:t>
            </a:r>
            <a:r>
              <a:rPr sz="650" spc="-20" dirty="0">
                <a:solidFill>
                  <a:srgbClr val="363D46"/>
                </a:solidFill>
                <a:latin typeface="Arial"/>
                <a:cs typeface="Arial"/>
              </a:rPr>
              <a:t>l</a:t>
            </a:r>
            <a:r>
              <a:rPr sz="650" spc="30" dirty="0">
                <a:solidFill>
                  <a:srgbClr val="363D46"/>
                </a:solidFill>
                <a:latin typeface="Arial"/>
                <a:cs typeface="Arial"/>
              </a:rPr>
              <a:t> </a:t>
            </a:r>
            <a:r>
              <a:rPr sz="650" spc="30" dirty="0">
                <a:solidFill>
                  <a:srgbClr val="1C262A"/>
                </a:solidFill>
                <a:latin typeface="Arial"/>
                <a:cs typeface="Arial"/>
              </a:rPr>
              <a:t>performance</a:t>
            </a:r>
            <a:r>
              <a:rPr sz="650" spc="200" dirty="0">
                <a:solidFill>
                  <a:srgbClr val="1C262A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1C262A"/>
                </a:solidFill>
                <a:latin typeface="Arial"/>
                <a:cs typeface="Arial"/>
              </a:rPr>
              <a:t>effectively.</a:t>
            </a:r>
            <a:endParaRPr sz="65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23722" y="1587215"/>
            <a:ext cx="1605915" cy="624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715" algn="ctr">
              <a:lnSpc>
                <a:spcPct val="100000"/>
              </a:lnSpc>
              <a:spcBef>
                <a:spcPts val="100"/>
              </a:spcBef>
            </a:pPr>
            <a:r>
              <a:rPr sz="900" b="1" spc="-70" dirty="0">
                <a:solidFill>
                  <a:srgbClr val="0C1318"/>
                </a:solidFill>
                <a:latin typeface="Times New Roman"/>
                <a:cs typeface="Times New Roman"/>
              </a:rPr>
              <a:t>TESTING</a:t>
            </a:r>
            <a:r>
              <a:rPr sz="900" b="1" spc="-25" dirty="0">
                <a:solidFill>
                  <a:srgbClr val="0C1318"/>
                </a:solidFill>
                <a:latin typeface="Times New Roman"/>
                <a:cs typeface="Times New Roman"/>
              </a:rPr>
              <a:t> </a:t>
            </a:r>
            <a:r>
              <a:rPr sz="900" b="1" spc="-50" dirty="0">
                <a:solidFill>
                  <a:srgbClr val="0C1318"/>
                </a:solidFill>
                <a:latin typeface="Times New Roman"/>
                <a:cs typeface="Times New Roman"/>
              </a:rPr>
              <a:t>SET</a:t>
            </a:r>
            <a:r>
              <a:rPr sz="900" b="1" spc="-75" dirty="0">
                <a:solidFill>
                  <a:srgbClr val="0C1318"/>
                </a:solidFill>
                <a:latin typeface="Times New Roman"/>
                <a:cs typeface="Times New Roman"/>
              </a:rPr>
              <a:t> </a:t>
            </a:r>
            <a:r>
              <a:rPr sz="900" b="1" spc="-10" dirty="0">
                <a:solidFill>
                  <a:srgbClr val="0C1318"/>
                </a:solidFill>
                <a:latin typeface="Times New Roman"/>
                <a:cs typeface="Times New Roman"/>
              </a:rPr>
              <a:t>ALLOCATION</a:t>
            </a:r>
            <a:endParaRPr sz="900">
              <a:latin typeface="Times New Roman"/>
              <a:cs typeface="Times New Roman"/>
            </a:endParaRPr>
          </a:p>
          <a:p>
            <a:pPr marL="12700" marR="5080" indent="3175" algn="ctr">
              <a:lnSpc>
                <a:spcPct val="141900"/>
              </a:lnSpc>
              <a:spcBef>
                <a:spcPts val="310"/>
              </a:spcBef>
            </a:pPr>
            <a:r>
              <a:rPr sz="650" dirty="0">
                <a:solidFill>
                  <a:srgbClr val="1C262A"/>
                </a:solidFill>
                <a:latin typeface="Arial"/>
                <a:cs typeface="Arial"/>
              </a:rPr>
              <a:t>20%</a:t>
            </a:r>
            <a:r>
              <a:rPr sz="650" spc="-10" dirty="0">
                <a:solidFill>
                  <a:srgbClr val="1C262A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0C1318"/>
                </a:solidFill>
                <a:latin typeface="Arial"/>
                <a:cs typeface="Arial"/>
              </a:rPr>
              <a:t>of</a:t>
            </a:r>
            <a:r>
              <a:rPr sz="650" spc="235" dirty="0">
                <a:solidFill>
                  <a:srgbClr val="0C1318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0C1318"/>
                </a:solidFill>
                <a:latin typeface="Arial"/>
                <a:cs typeface="Arial"/>
              </a:rPr>
              <a:t>the</a:t>
            </a:r>
            <a:r>
              <a:rPr sz="650" spc="150" dirty="0">
                <a:solidFill>
                  <a:srgbClr val="0C1318"/>
                </a:solidFill>
                <a:latin typeface="Arial"/>
                <a:cs typeface="Arial"/>
              </a:rPr>
              <a:t> </a:t>
            </a:r>
            <a:r>
              <a:rPr sz="650" spc="55" dirty="0">
                <a:solidFill>
                  <a:srgbClr val="0C1318"/>
                </a:solidFill>
                <a:latin typeface="Arial"/>
                <a:cs typeface="Arial"/>
              </a:rPr>
              <a:t>data</a:t>
            </a:r>
            <a:r>
              <a:rPr sz="650" spc="35" dirty="0">
                <a:solidFill>
                  <a:srgbClr val="0C1318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1C262A"/>
                </a:solidFill>
                <a:latin typeface="Arial"/>
                <a:cs typeface="Arial"/>
              </a:rPr>
              <a:t>is</a:t>
            </a:r>
            <a:r>
              <a:rPr sz="650" spc="-10" dirty="0">
                <a:solidFill>
                  <a:srgbClr val="1C262A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1C262A"/>
                </a:solidFill>
                <a:latin typeface="Arial"/>
                <a:cs typeface="Arial"/>
              </a:rPr>
              <a:t>reserved</a:t>
            </a:r>
            <a:r>
              <a:rPr sz="650" spc="25" dirty="0">
                <a:solidFill>
                  <a:srgbClr val="1C262A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0C1318"/>
                </a:solidFill>
                <a:latin typeface="Arial"/>
                <a:cs typeface="Arial"/>
              </a:rPr>
              <a:t>for</a:t>
            </a:r>
            <a:r>
              <a:rPr sz="650" spc="215" dirty="0">
                <a:solidFill>
                  <a:srgbClr val="0C1318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0C1318"/>
                </a:solidFill>
                <a:latin typeface="Arial"/>
                <a:cs typeface="Arial"/>
              </a:rPr>
              <a:t>testing,</a:t>
            </a:r>
            <a:r>
              <a:rPr sz="650" spc="500" dirty="0">
                <a:solidFill>
                  <a:srgbClr val="0C1318"/>
                </a:solidFill>
                <a:latin typeface="Arial"/>
                <a:cs typeface="Arial"/>
              </a:rPr>
              <a:t> </a:t>
            </a:r>
            <a:r>
              <a:rPr sz="650" spc="20" dirty="0">
                <a:solidFill>
                  <a:srgbClr val="0C1318"/>
                </a:solidFill>
                <a:latin typeface="Arial"/>
                <a:cs typeface="Arial"/>
              </a:rPr>
              <a:t>allowing</a:t>
            </a:r>
            <a:r>
              <a:rPr sz="650" spc="45" dirty="0">
                <a:solidFill>
                  <a:srgbClr val="0C1318"/>
                </a:solidFill>
                <a:latin typeface="Arial"/>
                <a:cs typeface="Arial"/>
              </a:rPr>
              <a:t> </a:t>
            </a:r>
            <a:r>
              <a:rPr sz="650" spc="20" dirty="0">
                <a:solidFill>
                  <a:srgbClr val="0C1318"/>
                </a:solidFill>
                <a:latin typeface="Arial"/>
                <a:cs typeface="Arial"/>
              </a:rPr>
              <a:t>for</a:t>
            </a:r>
            <a:r>
              <a:rPr sz="650" spc="160" dirty="0">
                <a:solidFill>
                  <a:srgbClr val="0C1318"/>
                </a:solidFill>
                <a:latin typeface="Arial"/>
                <a:cs typeface="Arial"/>
              </a:rPr>
              <a:t> </a:t>
            </a:r>
            <a:r>
              <a:rPr sz="650" spc="20" dirty="0">
                <a:solidFill>
                  <a:srgbClr val="0C1318"/>
                </a:solidFill>
                <a:latin typeface="Arial"/>
                <a:cs typeface="Arial"/>
              </a:rPr>
              <a:t>unbiased</a:t>
            </a:r>
            <a:r>
              <a:rPr sz="650" dirty="0">
                <a:solidFill>
                  <a:srgbClr val="0C1318"/>
                </a:solidFill>
                <a:latin typeface="Arial"/>
                <a:cs typeface="Arial"/>
              </a:rPr>
              <a:t> </a:t>
            </a:r>
            <a:r>
              <a:rPr sz="650" spc="20" dirty="0">
                <a:solidFill>
                  <a:srgbClr val="1C262A"/>
                </a:solidFill>
                <a:latin typeface="Arial"/>
                <a:cs typeface="Arial"/>
              </a:rPr>
              <a:t>evaluation</a:t>
            </a:r>
            <a:r>
              <a:rPr sz="650" spc="60" dirty="0">
                <a:solidFill>
                  <a:srgbClr val="1C262A"/>
                </a:solidFill>
                <a:latin typeface="Arial"/>
                <a:cs typeface="Arial"/>
              </a:rPr>
              <a:t> </a:t>
            </a:r>
            <a:r>
              <a:rPr sz="650" spc="20" dirty="0">
                <a:solidFill>
                  <a:srgbClr val="1C262A"/>
                </a:solidFill>
                <a:latin typeface="Arial"/>
                <a:cs typeface="Arial"/>
              </a:rPr>
              <a:t>of</a:t>
            </a:r>
            <a:r>
              <a:rPr sz="650" spc="130" dirty="0">
                <a:solidFill>
                  <a:srgbClr val="1C262A"/>
                </a:solidFill>
                <a:latin typeface="Arial"/>
                <a:cs typeface="Arial"/>
              </a:rPr>
              <a:t> </a:t>
            </a:r>
            <a:r>
              <a:rPr sz="650" spc="-25" dirty="0">
                <a:solidFill>
                  <a:srgbClr val="0C1318"/>
                </a:solidFill>
                <a:latin typeface="Arial"/>
                <a:cs typeface="Arial"/>
              </a:rPr>
              <a:t>the</a:t>
            </a:r>
            <a:r>
              <a:rPr sz="650" spc="500" dirty="0">
                <a:solidFill>
                  <a:srgbClr val="0C1318"/>
                </a:solidFill>
                <a:latin typeface="Arial"/>
                <a:cs typeface="Arial"/>
              </a:rPr>
              <a:t> </a:t>
            </a:r>
            <a:r>
              <a:rPr sz="650" spc="20" dirty="0">
                <a:solidFill>
                  <a:srgbClr val="1C262A"/>
                </a:solidFill>
                <a:latin typeface="Arial"/>
                <a:cs typeface="Arial"/>
              </a:rPr>
              <a:t>model's</a:t>
            </a:r>
            <a:r>
              <a:rPr sz="650" spc="50" dirty="0">
                <a:solidFill>
                  <a:srgbClr val="1C262A"/>
                </a:solidFill>
                <a:latin typeface="Arial"/>
                <a:cs typeface="Arial"/>
              </a:rPr>
              <a:t> </a:t>
            </a:r>
            <a:r>
              <a:rPr sz="650" spc="40" dirty="0">
                <a:solidFill>
                  <a:srgbClr val="0C1318"/>
                </a:solidFill>
                <a:latin typeface="Arial"/>
                <a:cs typeface="Arial"/>
              </a:rPr>
              <a:t>performance</a:t>
            </a:r>
            <a:r>
              <a:rPr sz="650" spc="40" dirty="0">
                <a:solidFill>
                  <a:srgbClr val="4D525B"/>
                </a:solidFill>
                <a:latin typeface="Arial"/>
                <a:cs typeface="Arial"/>
              </a:rPr>
              <a:t>.</a:t>
            </a:r>
            <a:endParaRPr sz="6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61798" y="3353657"/>
            <a:ext cx="1517650" cy="624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b="1" spc="-80" dirty="0">
                <a:solidFill>
                  <a:srgbClr val="1C262A"/>
                </a:solidFill>
                <a:latin typeface="Times New Roman"/>
                <a:cs typeface="Times New Roman"/>
              </a:rPr>
              <a:t>COMPREHENSIVE</a:t>
            </a:r>
            <a:r>
              <a:rPr sz="900" b="1" spc="10" dirty="0">
                <a:solidFill>
                  <a:srgbClr val="1C262A"/>
                </a:solidFill>
                <a:latin typeface="Times New Roman"/>
                <a:cs typeface="Times New Roman"/>
              </a:rPr>
              <a:t> </a:t>
            </a:r>
            <a:r>
              <a:rPr sz="900" b="1" spc="-65" dirty="0">
                <a:solidFill>
                  <a:srgbClr val="0C1318"/>
                </a:solidFill>
                <a:latin typeface="Times New Roman"/>
                <a:cs typeface="Times New Roman"/>
              </a:rPr>
              <a:t>APPROACH</a:t>
            </a:r>
            <a:endParaRPr sz="900">
              <a:latin typeface="Times New Roman"/>
              <a:cs typeface="Times New Roman"/>
            </a:endParaRPr>
          </a:p>
          <a:p>
            <a:pPr marL="29845" marR="8255" indent="3810" algn="ctr">
              <a:lnSpc>
                <a:spcPct val="141900"/>
              </a:lnSpc>
              <a:spcBef>
                <a:spcPts val="310"/>
              </a:spcBef>
            </a:pPr>
            <a:r>
              <a:rPr sz="650" spc="20" dirty="0">
                <a:solidFill>
                  <a:srgbClr val="1C262A"/>
                </a:solidFill>
                <a:latin typeface="Arial"/>
                <a:cs typeface="Arial"/>
              </a:rPr>
              <a:t>Combining</a:t>
            </a:r>
            <a:r>
              <a:rPr sz="650" spc="145" dirty="0">
                <a:solidFill>
                  <a:srgbClr val="1C262A"/>
                </a:solidFill>
                <a:latin typeface="Arial"/>
                <a:cs typeface="Arial"/>
              </a:rPr>
              <a:t> </a:t>
            </a:r>
            <a:r>
              <a:rPr sz="650" spc="20" dirty="0">
                <a:solidFill>
                  <a:srgbClr val="1C262A"/>
                </a:solidFill>
                <a:latin typeface="Arial"/>
                <a:cs typeface="Arial"/>
              </a:rPr>
              <a:t>strong</a:t>
            </a:r>
            <a:r>
              <a:rPr sz="650" spc="70" dirty="0">
                <a:solidFill>
                  <a:srgbClr val="1C262A"/>
                </a:solidFill>
                <a:latin typeface="Arial"/>
                <a:cs typeface="Arial"/>
              </a:rPr>
              <a:t> </a:t>
            </a:r>
            <a:r>
              <a:rPr sz="650" spc="20" dirty="0">
                <a:solidFill>
                  <a:srgbClr val="0C1318"/>
                </a:solidFill>
                <a:latin typeface="Arial"/>
                <a:cs typeface="Arial"/>
              </a:rPr>
              <a:t>training</a:t>
            </a:r>
            <a:r>
              <a:rPr sz="650" spc="65" dirty="0">
                <a:solidFill>
                  <a:srgbClr val="0C1318"/>
                </a:solidFill>
                <a:latin typeface="Arial"/>
                <a:cs typeface="Arial"/>
              </a:rPr>
              <a:t> </a:t>
            </a:r>
            <a:r>
              <a:rPr sz="650" spc="55" dirty="0">
                <a:solidFill>
                  <a:srgbClr val="1C262A"/>
                </a:solidFill>
                <a:latin typeface="Arial"/>
                <a:cs typeface="Arial"/>
              </a:rPr>
              <a:t>data</a:t>
            </a:r>
            <a:r>
              <a:rPr sz="650" spc="60" dirty="0">
                <a:solidFill>
                  <a:srgbClr val="1C262A"/>
                </a:solidFill>
                <a:latin typeface="Arial"/>
                <a:cs typeface="Arial"/>
              </a:rPr>
              <a:t> </a:t>
            </a:r>
            <a:r>
              <a:rPr sz="650" spc="35" dirty="0">
                <a:solidFill>
                  <a:srgbClr val="1C262A"/>
                </a:solidFill>
                <a:latin typeface="Arial"/>
                <a:cs typeface="Arial"/>
              </a:rPr>
              <a:t>and </a:t>
            </a:r>
            <a:r>
              <a:rPr sz="650" spc="30" dirty="0">
                <a:solidFill>
                  <a:srgbClr val="0C1318"/>
                </a:solidFill>
                <a:latin typeface="Arial"/>
                <a:cs typeface="Arial"/>
              </a:rPr>
              <a:t>robust</a:t>
            </a:r>
            <a:r>
              <a:rPr sz="650" spc="25" dirty="0">
                <a:solidFill>
                  <a:srgbClr val="0C1318"/>
                </a:solidFill>
                <a:latin typeface="Arial"/>
                <a:cs typeface="Arial"/>
              </a:rPr>
              <a:t> </a:t>
            </a:r>
            <a:r>
              <a:rPr sz="650" spc="30" dirty="0">
                <a:solidFill>
                  <a:srgbClr val="1C262A"/>
                </a:solidFill>
                <a:latin typeface="Arial"/>
                <a:cs typeface="Arial"/>
              </a:rPr>
              <a:t>metrics</a:t>
            </a:r>
            <a:r>
              <a:rPr sz="650" spc="15" dirty="0">
                <a:solidFill>
                  <a:srgbClr val="1C262A"/>
                </a:solidFill>
                <a:latin typeface="Arial"/>
                <a:cs typeface="Arial"/>
              </a:rPr>
              <a:t> </a:t>
            </a:r>
            <a:r>
              <a:rPr sz="650" spc="30" dirty="0">
                <a:solidFill>
                  <a:srgbClr val="1C262A"/>
                </a:solidFill>
                <a:latin typeface="Arial"/>
                <a:cs typeface="Arial"/>
              </a:rPr>
              <a:t>leads</a:t>
            </a:r>
            <a:r>
              <a:rPr sz="650" spc="5" dirty="0">
                <a:solidFill>
                  <a:srgbClr val="1C262A"/>
                </a:solidFill>
                <a:latin typeface="Arial"/>
                <a:cs typeface="Arial"/>
              </a:rPr>
              <a:t> </a:t>
            </a:r>
            <a:r>
              <a:rPr sz="650" spc="30" dirty="0">
                <a:solidFill>
                  <a:srgbClr val="1C262A"/>
                </a:solidFill>
                <a:latin typeface="Arial"/>
                <a:cs typeface="Arial"/>
              </a:rPr>
              <a:t>to</a:t>
            </a:r>
            <a:r>
              <a:rPr sz="650" spc="80" dirty="0">
                <a:solidFill>
                  <a:srgbClr val="1C262A"/>
                </a:solidFill>
                <a:latin typeface="Arial"/>
                <a:cs typeface="Arial"/>
              </a:rPr>
              <a:t> </a:t>
            </a:r>
            <a:r>
              <a:rPr sz="650" spc="30" dirty="0">
                <a:solidFill>
                  <a:srgbClr val="1C262A"/>
                </a:solidFill>
                <a:latin typeface="Arial"/>
                <a:cs typeface="Arial"/>
              </a:rPr>
              <a:t>better</a:t>
            </a:r>
            <a:r>
              <a:rPr sz="650" spc="45" dirty="0">
                <a:solidFill>
                  <a:srgbClr val="1C262A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0C1318"/>
                </a:solidFill>
                <a:latin typeface="Arial"/>
                <a:cs typeface="Arial"/>
              </a:rPr>
              <a:t>model</a:t>
            </a:r>
            <a:r>
              <a:rPr sz="650" spc="50" dirty="0">
                <a:solidFill>
                  <a:srgbClr val="0C1318"/>
                </a:solidFill>
                <a:latin typeface="Arial"/>
                <a:cs typeface="Arial"/>
              </a:rPr>
              <a:t> </a:t>
            </a:r>
            <a:r>
              <a:rPr sz="650" spc="50" dirty="0">
                <a:solidFill>
                  <a:srgbClr val="1C262A"/>
                </a:solidFill>
                <a:latin typeface="Arial"/>
                <a:cs typeface="Arial"/>
              </a:rPr>
              <a:t>performance</a:t>
            </a:r>
            <a:r>
              <a:rPr sz="650" dirty="0">
                <a:solidFill>
                  <a:srgbClr val="1C262A"/>
                </a:solidFill>
                <a:latin typeface="Arial"/>
                <a:cs typeface="Arial"/>
              </a:rPr>
              <a:t> </a:t>
            </a:r>
            <a:r>
              <a:rPr sz="650" spc="50" dirty="0">
                <a:solidFill>
                  <a:srgbClr val="1C262A"/>
                </a:solidFill>
                <a:latin typeface="Arial"/>
                <a:cs typeface="Arial"/>
              </a:rPr>
              <a:t>and</a:t>
            </a:r>
            <a:r>
              <a:rPr sz="650" spc="-15" dirty="0">
                <a:solidFill>
                  <a:srgbClr val="1C262A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1C262A"/>
                </a:solidFill>
                <a:latin typeface="Arial"/>
                <a:cs typeface="Arial"/>
              </a:rPr>
              <a:t>reliability.</a:t>
            </a:r>
            <a:endParaRPr sz="6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75204" y="4245016"/>
            <a:ext cx="426720" cy="91440"/>
          </a:xfrm>
          <a:prstGeom prst="rect">
            <a:avLst/>
          </a:prstGeom>
          <a:solidFill>
            <a:srgbClr val="59676B"/>
          </a:solidFill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500" b="1" dirty="0">
                <a:solidFill>
                  <a:srgbClr val="CDD4D4"/>
                </a:solidFill>
                <a:latin typeface="Arial"/>
                <a:cs typeface="Arial"/>
                <a:hlinkClick r:id="rId3"/>
              </a:rPr>
              <a:t>Created</a:t>
            </a:r>
            <a:r>
              <a:rPr sz="500" b="1" spc="20" dirty="0">
                <a:solidFill>
                  <a:srgbClr val="CDD4D4"/>
                </a:solidFill>
                <a:latin typeface="Arial"/>
                <a:cs typeface="Arial"/>
                <a:hlinkClick r:id="rId3"/>
              </a:rPr>
              <a:t> </a:t>
            </a:r>
            <a:r>
              <a:rPr sz="500" b="1" spc="-10" dirty="0">
                <a:solidFill>
                  <a:srgbClr val="CDD4D4"/>
                </a:solidFill>
                <a:latin typeface="Arial"/>
                <a:cs typeface="Arial"/>
                <a:hlinkClick r:id="rId3"/>
              </a:rPr>
              <a:t>using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191164" y="4207076"/>
            <a:ext cx="715010" cy="136525"/>
            <a:chOff x="7191164" y="4207076"/>
            <a:chExt cx="715010" cy="136525"/>
          </a:xfrm>
        </p:grpSpPr>
        <p:sp>
          <p:nvSpPr>
            <p:cNvPr id="13" name="object 13">
              <a:hlinkClick r:id="rId3"/>
            </p:cNvPr>
            <p:cNvSpPr/>
            <p:nvPr/>
          </p:nvSpPr>
          <p:spPr>
            <a:xfrm>
              <a:off x="7191164" y="4207076"/>
              <a:ext cx="61594" cy="136525"/>
            </a:xfrm>
            <a:custGeom>
              <a:avLst/>
              <a:gdLst/>
              <a:ahLst/>
              <a:cxnLst/>
              <a:rect l="l" t="t" r="r" b="b"/>
              <a:pathLst>
                <a:path w="61595" h="136525">
                  <a:moveTo>
                    <a:pt x="61043" y="136391"/>
                  </a:moveTo>
                  <a:lnTo>
                    <a:pt x="0" y="136391"/>
                  </a:lnTo>
                  <a:lnTo>
                    <a:pt x="0" y="0"/>
                  </a:lnTo>
                  <a:lnTo>
                    <a:pt x="61043" y="0"/>
                  </a:lnTo>
                  <a:lnTo>
                    <a:pt x="61043" y="136391"/>
                  </a:lnTo>
                  <a:close/>
                </a:path>
              </a:pathLst>
            </a:custGeom>
            <a:solidFill>
              <a:srgbClr val="2490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hlinkClick r:id="rId3"/>
            </p:cNvPr>
            <p:cNvSpPr/>
            <p:nvPr/>
          </p:nvSpPr>
          <p:spPr>
            <a:xfrm>
              <a:off x="7289547" y="4231573"/>
              <a:ext cx="616585" cy="109855"/>
            </a:xfrm>
            <a:custGeom>
              <a:avLst/>
              <a:gdLst/>
              <a:ahLst/>
              <a:cxnLst/>
              <a:rect l="l" t="t" r="r" b="b"/>
              <a:pathLst>
                <a:path w="616584" h="109854">
                  <a:moveTo>
                    <a:pt x="616542" y="109419"/>
                  </a:moveTo>
                  <a:lnTo>
                    <a:pt x="0" y="109419"/>
                  </a:lnTo>
                  <a:lnTo>
                    <a:pt x="0" y="0"/>
                  </a:lnTo>
                  <a:lnTo>
                    <a:pt x="616542" y="0"/>
                  </a:lnTo>
                  <a:lnTo>
                    <a:pt x="616542" y="109419"/>
                  </a:lnTo>
                  <a:close/>
                </a:path>
              </a:pathLst>
            </a:custGeom>
            <a:solidFill>
              <a:srgbClr val="5967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178462" y="4197658"/>
            <a:ext cx="75628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i="1" spc="-100" dirty="0">
                <a:solidFill>
                  <a:srgbClr val="F4F4F6"/>
                </a:solidFill>
                <a:latin typeface="Times New Roman"/>
                <a:cs typeface="Times New Roman"/>
                <a:hlinkClick r:id="rId3"/>
              </a:rPr>
              <a:t>p</a:t>
            </a:r>
            <a:r>
              <a:rPr sz="800" b="1" i="1" spc="-100" dirty="0">
                <a:solidFill>
                  <a:srgbClr val="5BD4E2"/>
                </a:solidFill>
                <a:latin typeface="Times New Roman"/>
                <a:cs typeface="Times New Roman"/>
                <a:hlinkClick r:id="rId3"/>
              </a:rPr>
              <a:t>'I</a:t>
            </a:r>
            <a:r>
              <a:rPr sz="800" b="1" i="1" spc="-75" dirty="0">
                <a:solidFill>
                  <a:srgbClr val="5BD4E2"/>
                </a:solidFill>
                <a:latin typeface="Times New Roman"/>
                <a:cs typeface="Times New Roman"/>
                <a:hlinkClick r:id="rId3"/>
              </a:rPr>
              <a:t> </a:t>
            </a:r>
            <a:r>
              <a:rPr sz="600" b="1" spc="-10" dirty="0">
                <a:solidFill>
                  <a:srgbClr val="F4F4F6"/>
                </a:solidFill>
                <a:latin typeface="Arial"/>
                <a:cs typeface="Arial"/>
                <a:hlinkClick r:id="rId3"/>
              </a:rPr>
              <a:t>presentations.lt!I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1435" y="2047638"/>
            <a:ext cx="122087" cy="73347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66169" y="1375290"/>
            <a:ext cx="512767" cy="15402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67287" y="1375290"/>
            <a:ext cx="512767" cy="15280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68405" y="1191922"/>
            <a:ext cx="500559" cy="17236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69524" y="1375290"/>
            <a:ext cx="537185" cy="161363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27097" y="87358"/>
            <a:ext cx="3899535" cy="692785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2050" spc="-150" dirty="0">
                <a:solidFill>
                  <a:srgbClr val="343B42"/>
                </a:solidFill>
              </a:rPr>
              <a:t>MODEL</a:t>
            </a:r>
            <a:r>
              <a:rPr sz="2050" spc="-130" dirty="0">
                <a:solidFill>
                  <a:srgbClr val="343B42"/>
                </a:solidFill>
              </a:rPr>
              <a:t> </a:t>
            </a:r>
            <a:r>
              <a:rPr sz="2050" spc="-235" dirty="0">
                <a:solidFill>
                  <a:srgbClr val="343B42"/>
                </a:solidFill>
              </a:rPr>
              <a:t>ACCURACY</a:t>
            </a:r>
            <a:r>
              <a:rPr sz="2050" spc="30" dirty="0">
                <a:solidFill>
                  <a:srgbClr val="343B42"/>
                </a:solidFill>
              </a:rPr>
              <a:t> </a:t>
            </a:r>
            <a:r>
              <a:rPr sz="2050" spc="-160" dirty="0">
                <a:solidFill>
                  <a:srgbClr val="343B42"/>
                </a:solidFill>
              </a:rPr>
              <a:t>COMPARISON</a:t>
            </a:r>
            <a:endParaRPr sz="2050"/>
          </a:p>
          <a:p>
            <a:pPr marL="15240">
              <a:lnSpc>
                <a:spcPct val="100000"/>
              </a:lnSpc>
              <a:spcBef>
                <a:spcPts val="525"/>
              </a:spcBef>
            </a:pPr>
            <a:r>
              <a:rPr sz="850" b="0" spc="20" dirty="0">
                <a:solidFill>
                  <a:srgbClr val="4B5057"/>
                </a:solidFill>
                <a:latin typeface="Arial"/>
                <a:cs typeface="Arial"/>
              </a:rPr>
              <a:t>Performance</a:t>
            </a:r>
            <a:r>
              <a:rPr sz="850" b="0" spc="125" dirty="0">
                <a:solidFill>
                  <a:srgbClr val="4B5057"/>
                </a:solidFill>
                <a:latin typeface="Arial"/>
                <a:cs typeface="Arial"/>
              </a:rPr>
              <a:t> </a:t>
            </a:r>
            <a:r>
              <a:rPr sz="850" b="0" spc="20" dirty="0">
                <a:solidFill>
                  <a:srgbClr val="4B5057"/>
                </a:solidFill>
                <a:latin typeface="Arial"/>
                <a:cs typeface="Arial"/>
              </a:rPr>
              <a:t>of</a:t>
            </a:r>
            <a:r>
              <a:rPr sz="850" b="0" spc="210" dirty="0">
                <a:solidFill>
                  <a:srgbClr val="4B5057"/>
                </a:solidFill>
                <a:latin typeface="Arial"/>
                <a:cs typeface="Arial"/>
              </a:rPr>
              <a:t> </a:t>
            </a:r>
            <a:r>
              <a:rPr sz="850" b="0" spc="20" dirty="0">
                <a:solidFill>
                  <a:srgbClr val="4B5057"/>
                </a:solidFill>
                <a:latin typeface="Arial"/>
                <a:cs typeface="Arial"/>
              </a:rPr>
              <a:t>Different</a:t>
            </a:r>
            <a:r>
              <a:rPr sz="850" b="0" spc="114" dirty="0">
                <a:solidFill>
                  <a:srgbClr val="4B5057"/>
                </a:solidFill>
                <a:latin typeface="Arial"/>
                <a:cs typeface="Arial"/>
              </a:rPr>
              <a:t> </a:t>
            </a:r>
            <a:r>
              <a:rPr sz="850" b="0" spc="-10" dirty="0">
                <a:solidFill>
                  <a:srgbClr val="4B5057"/>
                </a:solidFill>
                <a:latin typeface="Arial"/>
                <a:cs typeface="Arial"/>
              </a:rPr>
              <a:t>Models</a:t>
            </a:r>
            <a:endParaRPr sz="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8732" y="2883523"/>
            <a:ext cx="597535" cy="73025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55"/>
              </a:spcBef>
            </a:pPr>
            <a:r>
              <a:rPr sz="2200" b="1" spc="-20" dirty="0">
                <a:solidFill>
                  <a:srgbClr val="343B42"/>
                </a:solidFill>
                <a:latin typeface="Arial"/>
                <a:cs typeface="Arial"/>
              </a:rPr>
              <a:t>99.2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30"/>
              </a:spcBef>
            </a:pPr>
            <a:r>
              <a:rPr sz="1100" spc="-25" dirty="0">
                <a:solidFill>
                  <a:srgbClr val="4B5057"/>
                </a:solidFill>
                <a:latin typeface="Courier New"/>
                <a:cs typeface="Courier New"/>
              </a:rPr>
              <a:t>CNN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93747" y="2883523"/>
            <a:ext cx="1612265" cy="87947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  <a:tabLst>
                <a:tab pos="1016635" algn="l"/>
              </a:tabLst>
            </a:pPr>
            <a:r>
              <a:rPr sz="2200" b="1" spc="60" dirty="0">
                <a:solidFill>
                  <a:srgbClr val="343B42"/>
                </a:solidFill>
                <a:latin typeface="Arial"/>
                <a:cs typeface="Arial"/>
              </a:rPr>
              <a:t>98.9</a:t>
            </a:r>
            <a:r>
              <a:rPr sz="2200" b="1" dirty="0">
                <a:solidFill>
                  <a:srgbClr val="343B42"/>
                </a:solidFill>
                <a:latin typeface="Arial"/>
                <a:cs typeface="Arial"/>
              </a:rPr>
              <a:t>	</a:t>
            </a:r>
            <a:r>
              <a:rPr sz="2200" b="1" spc="50" dirty="0">
                <a:solidFill>
                  <a:srgbClr val="343B42"/>
                </a:solidFill>
                <a:latin typeface="Arial"/>
                <a:cs typeface="Arial"/>
              </a:rPr>
              <a:t>99.6</a:t>
            </a:r>
            <a:endParaRPr sz="2200">
              <a:latin typeface="Arial"/>
              <a:cs typeface="Arial"/>
            </a:endParaRPr>
          </a:p>
          <a:p>
            <a:pPr marL="192405">
              <a:lnSpc>
                <a:spcPct val="100000"/>
              </a:lnSpc>
              <a:spcBef>
                <a:spcPts val="530"/>
              </a:spcBef>
              <a:tabLst>
                <a:tab pos="1169035" algn="l"/>
              </a:tabLst>
            </a:pPr>
            <a:r>
              <a:rPr sz="1100" spc="-25" dirty="0">
                <a:solidFill>
                  <a:srgbClr val="4B5057"/>
                </a:solidFill>
                <a:latin typeface="Courier New"/>
                <a:cs typeface="Courier New"/>
              </a:rPr>
              <a:t>RNN</a:t>
            </a:r>
            <a:r>
              <a:rPr sz="1100" dirty="0">
                <a:solidFill>
                  <a:srgbClr val="4B5057"/>
                </a:solidFill>
                <a:latin typeface="Courier New"/>
                <a:cs typeface="Courier New"/>
              </a:rPr>
              <a:t>	</a:t>
            </a:r>
            <a:r>
              <a:rPr sz="1100" spc="-20" dirty="0">
                <a:solidFill>
                  <a:srgbClr val="343B42"/>
                </a:solidFill>
                <a:latin typeface="Courier New"/>
                <a:cs typeface="Courier New"/>
              </a:rPr>
              <a:t>BERT</a:t>
            </a:r>
            <a:endParaRPr sz="1100">
              <a:latin typeface="Courier New"/>
              <a:cs typeface="Courier New"/>
            </a:endParaRPr>
          </a:p>
          <a:p>
            <a:pPr marL="118745">
              <a:lnSpc>
                <a:spcPct val="100000"/>
              </a:lnSpc>
              <a:spcBef>
                <a:spcPts val="155"/>
              </a:spcBef>
            </a:pPr>
            <a:r>
              <a:rPr sz="850" spc="-10" dirty="0">
                <a:solidFill>
                  <a:srgbClr val="4B5057"/>
                </a:solidFill>
                <a:latin typeface="Arial"/>
                <a:cs typeface="Arial"/>
              </a:rPr>
              <a:t>(LSTM)</a:t>
            </a:r>
            <a:endParaRPr sz="8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36039" y="3772346"/>
            <a:ext cx="41465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65" dirty="0">
                <a:solidFill>
                  <a:srgbClr val="4B5057"/>
                </a:solidFill>
                <a:latin typeface="Times New Roman"/>
                <a:cs typeface="Times New Roman"/>
              </a:rPr>
              <a:t>MODEL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11245" y="3016973"/>
            <a:ext cx="581025" cy="749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200" b="1" spc="-20" dirty="0">
                <a:solidFill>
                  <a:srgbClr val="343B42"/>
                </a:solidFill>
                <a:latin typeface="Arial"/>
                <a:cs typeface="Arial"/>
              </a:rPr>
              <a:t>97.8</a:t>
            </a:r>
            <a:endParaRPr sz="2200">
              <a:latin typeface="Arial"/>
              <a:cs typeface="Arial"/>
            </a:endParaRPr>
          </a:p>
          <a:p>
            <a:pPr marL="70485" marR="64135" algn="ctr">
              <a:lnSpc>
                <a:spcPct val="122700"/>
              </a:lnSpc>
              <a:spcBef>
                <a:spcPts val="545"/>
              </a:spcBef>
            </a:pPr>
            <a:r>
              <a:rPr sz="850" spc="-10" dirty="0">
                <a:solidFill>
                  <a:srgbClr val="4B5057"/>
                </a:solidFill>
                <a:latin typeface="Arial"/>
                <a:cs typeface="Arial"/>
              </a:rPr>
              <a:t>Random </a:t>
            </a:r>
            <a:r>
              <a:rPr sz="850" spc="-10" dirty="0">
                <a:solidFill>
                  <a:srgbClr val="343B42"/>
                </a:solidFill>
                <a:latin typeface="Arial"/>
                <a:cs typeface="Arial"/>
              </a:rPr>
              <a:t>Forest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749" y="1018797"/>
            <a:ext cx="2307455" cy="35328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661273"/>
            <a:ext cx="427306" cy="892389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025536" y="4547551"/>
            <a:ext cx="879475" cy="0"/>
          </a:xfrm>
          <a:custGeom>
            <a:avLst/>
            <a:gdLst/>
            <a:ahLst/>
            <a:cxnLst/>
            <a:rect l="l" t="t" r="r" b="b"/>
            <a:pathLst>
              <a:path w="879475">
                <a:moveTo>
                  <a:pt x="0" y="0"/>
                </a:moveTo>
                <a:lnTo>
                  <a:pt x="879030" y="0"/>
                </a:lnTo>
              </a:path>
            </a:pathLst>
          </a:custGeom>
          <a:ln w="91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91147" y="4547551"/>
            <a:ext cx="391160" cy="0"/>
          </a:xfrm>
          <a:custGeom>
            <a:avLst/>
            <a:gdLst/>
            <a:ahLst/>
            <a:cxnLst/>
            <a:rect l="l" t="t" r="r" b="b"/>
            <a:pathLst>
              <a:path w="391160">
                <a:moveTo>
                  <a:pt x="0" y="0"/>
                </a:moveTo>
                <a:lnTo>
                  <a:pt x="390680" y="0"/>
                </a:lnTo>
              </a:path>
            </a:pathLst>
          </a:custGeom>
          <a:ln w="61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26188" y="239462"/>
            <a:ext cx="4533900" cy="574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b="1" spc="-180" dirty="0">
                <a:solidFill>
                  <a:srgbClr val="3D4249"/>
                </a:solidFill>
                <a:latin typeface="Times New Roman"/>
                <a:cs typeface="Times New Roman"/>
              </a:rPr>
              <a:t>KEY</a:t>
            </a:r>
            <a:r>
              <a:rPr sz="2100" b="1" spc="-220" dirty="0">
                <a:solidFill>
                  <a:srgbClr val="3D4249"/>
                </a:solidFill>
                <a:latin typeface="Times New Roman"/>
                <a:cs typeface="Times New Roman"/>
              </a:rPr>
              <a:t> </a:t>
            </a:r>
            <a:r>
              <a:rPr sz="2100" b="1" spc="-200" dirty="0">
                <a:solidFill>
                  <a:srgbClr val="3D4249"/>
                </a:solidFill>
                <a:latin typeface="Times New Roman"/>
                <a:cs typeface="Times New Roman"/>
              </a:rPr>
              <a:t>CHALLENGES</a:t>
            </a:r>
            <a:r>
              <a:rPr sz="2100" b="1" spc="75" dirty="0">
                <a:solidFill>
                  <a:srgbClr val="3D4249"/>
                </a:solidFill>
                <a:latin typeface="Times New Roman"/>
                <a:cs typeface="Times New Roman"/>
              </a:rPr>
              <a:t> </a:t>
            </a:r>
            <a:r>
              <a:rPr sz="2100" b="1" spc="-105" dirty="0">
                <a:solidFill>
                  <a:srgbClr val="3D4249"/>
                </a:solidFill>
                <a:latin typeface="Times New Roman"/>
                <a:cs typeface="Times New Roman"/>
              </a:rPr>
              <a:t>IN</a:t>
            </a:r>
            <a:r>
              <a:rPr sz="2100" b="1" spc="-180" dirty="0">
                <a:solidFill>
                  <a:srgbClr val="3D4249"/>
                </a:solidFill>
                <a:latin typeface="Times New Roman"/>
                <a:cs typeface="Times New Roman"/>
              </a:rPr>
              <a:t> </a:t>
            </a:r>
            <a:r>
              <a:rPr sz="2100" b="1" spc="-110" dirty="0">
                <a:solidFill>
                  <a:srgbClr val="3D4249"/>
                </a:solidFill>
                <a:latin typeface="Times New Roman"/>
                <a:cs typeface="Times New Roman"/>
              </a:rPr>
              <a:t>DEEP</a:t>
            </a:r>
            <a:r>
              <a:rPr sz="2100" b="1" spc="-120" dirty="0">
                <a:solidFill>
                  <a:srgbClr val="3D4249"/>
                </a:solidFill>
                <a:latin typeface="Times New Roman"/>
                <a:cs typeface="Times New Roman"/>
              </a:rPr>
              <a:t> </a:t>
            </a:r>
            <a:r>
              <a:rPr sz="2100" b="1" spc="-165" dirty="0">
                <a:solidFill>
                  <a:srgbClr val="3D4249"/>
                </a:solidFill>
                <a:latin typeface="Times New Roman"/>
                <a:cs typeface="Times New Roman"/>
              </a:rPr>
              <a:t>LEARNING</a:t>
            </a:r>
            <a:endParaRPr sz="2100">
              <a:latin typeface="Times New Roman"/>
              <a:cs typeface="Times New Roman"/>
            </a:endParaRPr>
          </a:p>
          <a:p>
            <a:pPr marL="15875">
              <a:lnSpc>
                <a:spcPct val="100000"/>
              </a:lnSpc>
              <a:spcBef>
                <a:spcPts val="775"/>
              </a:spcBef>
            </a:pPr>
            <a:r>
              <a:rPr sz="850" spc="10" dirty="0">
                <a:solidFill>
                  <a:srgbClr val="4F5257"/>
                </a:solidFill>
                <a:latin typeface="Arial"/>
                <a:cs typeface="Arial"/>
              </a:rPr>
              <a:t>Understanding</a:t>
            </a:r>
            <a:r>
              <a:rPr sz="850" spc="16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50" spc="10" dirty="0">
                <a:solidFill>
                  <a:srgbClr val="4F5257"/>
                </a:solidFill>
                <a:latin typeface="Arial"/>
                <a:cs typeface="Arial"/>
              </a:rPr>
              <a:t>the</a:t>
            </a:r>
            <a:r>
              <a:rPr sz="850" spc="15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50" spc="10" dirty="0">
                <a:solidFill>
                  <a:srgbClr val="4F5257"/>
                </a:solidFill>
                <a:latin typeface="Arial"/>
                <a:cs typeface="Arial"/>
              </a:rPr>
              <a:t>obstacles</a:t>
            </a:r>
            <a:r>
              <a:rPr sz="850" spc="13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50" spc="10" dirty="0">
                <a:solidFill>
                  <a:srgbClr val="4F5257"/>
                </a:solidFill>
                <a:latin typeface="Arial"/>
                <a:cs typeface="Arial"/>
              </a:rPr>
              <a:t>in</a:t>
            </a:r>
            <a:r>
              <a:rPr sz="850" spc="8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50" spc="10" dirty="0">
                <a:solidFill>
                  <a:srgbClr val="4F5257"/>
                </a:solidFill>
                <a:latin typeface="Arial"/>
                <a:cs typeface="Arial"/>
              </a:rPr>
              <a:t>deep</a:t>
            </a:r>
            <a:r>
              <a:rPr sz="850" spc="6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50" spc="10" dirty="0">
                <a:solidFill>
                  <a:srgbClr val="4F5257"/>
                </a:solidFill>
                <a:latin typeface="Arial"/>
                <a:cs typeface="Arial"/>
              </a:rPr>
              <a:t>learning</a:t>
            </a:r>
            <a:r>
              <a:rPr sz="850" spc="12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4F5257"/>
                </a:solidFill>
                <a:latin typeface="Arial"/>
                <a:cs typeface="Arial"/>
              </a:rPr>
              <a:t>technology</a:t>
            </a:r>
            <a:endParaRPr sz="8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55381" y="1192211"/>
            <a:ext cx="3775075" cy="525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50" dirty="0">
                <a:solidFill>
                  <a:srgbClr val="3D4249"/>
                </a:solidFill>
                <a:latin typeface="Times New Roman"/>
                <a:cs typeface="Times New Roman"/>
              </a:rPr>
              <a:t>IIlGH</a:t>
            </a:r>
            <a:r>
              <a:rPr sz="1050" b="1" spc="-65" dirty="0">
                <a:solidFill>
                  <a:srgbClr val="3D4249"/>
                </a:solidFill>
                <a:latin typeface="Times New Roman"/>
                <a:cs typeface="Times New Roman"/>
              </a:rPr>
              <a:t> </a:t>
            </a:r>
            <a:r>
              <a:rPr sz="1050" b="1" spc="-100" dirty="0">
                <a:solidFill>
                  <a:srgbClr val="4F5257"/>
                </a:solidFill>
                <a:latin typeface="Times New Roman"/>
                <a:cs typeface="Times New Roman"/>
              </a:rPr>
              <a:t>COMPUTATIONAL</a:t>
            </a:r>
            <a:r>
              <a:rPr sz="1050" b="1" spc="60" dirty="0">
                <a:solidFill>
                  <a:srgbClr val="4F5257"/>
                </a:solidFill>
                <a:latin typeface="Times New Roman"/>
                <a:cs typeface="Times New Roman"/>
              </a:rPr>
              <a:t> </a:t>
            </a:r>
            <a:r>
              <a:rPr sz="1050" b="1" spc="-10" dirty="0">
                <a:solidFill>
                  <a:srgbClr val="4F5257"/>
                </a:solidFill>
                <a:latin typeface="Times New Roman"/>
                <a:cs typeface="Times New Roman"/>
              </a:rPr>
              <a:t>COSTS</a:t>
            </a:r>
            <a:endParaRPr sz="1050" dirty="0">
              <a:latin typeface="Times New Roman"/>
              <a:cs typeface="Times New Roman"/>
            </a:endParaRPr>
          </a:p>
          <a:p>
            <a:pPr marL="12700" marR="5080" indent="1905">
              <a:lnSpc>
                <a:spcPct val="137500"/>
              </a:lnSpc>
              <a:spcBef>
                <a:spcPts val="365"/>
              </a:spcBef>
            </a:pPr>
            <a:r>
              <a:rPr sz="700" spc="50" dirty="0">
                <a:solidFill>
                  <a:srgbClr val="4F5257"/>
                </a:solidFill>
                <a:latin typeface="Arial"/>
                <a:cs typeface="Arial"/>
              </a:rPr>
              <a:t>Deep</a:t>
            </a:r>
            <a:r>
              <a:rPr sz="700" spc="7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learning</a:t>
            </a:r>
            <a:r>
              <a:rPr sz="700" spc="6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models</a:t>
            </a:r>
            <a:r>
              <a:rPr sz="700" spc="6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require</a:t>
            </a:r>
            <a:r>
              <a:rPr sz="700" spc="10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significant</a:t>
            </a:r>
            <a:r>
              <a:rPr sz="700" spc="12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processing</a:t>
            </a:r>
            <a:r>
              <a:rPr sz="700" spc="14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55" dirty="0">
                <a:solidFill>
                  <a:srgbClr val="4F5257"/>
                </a:solidFill>
                <a:latin typeface="Arial"/>
                <a:cs typeface="Arial"/>
              </a:rPr>
              <a:t>power</a:t>
            </a:r>
            <a:r>
              <a:rPr sz="700" spc="10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4F5257"/>
                </a:solidFill>
                <a:latin typeface="Arial"/>
                <a:cs typeface="Arial"/>
              </a:rPr>
              <a:t>and</a:t>
            </a:r>
            <a:r>
              <a:rPr sz="700" spc="8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expensive</a:t>
            </a:r>
            <a:r>
              <a:rPr sz="700" spc="11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40" dirty="0">
                <a:solidFill>
                  <a:srgbClr val="3D4249"/>
                </a:solidFill>
                <a:latin typeface="Arial"/>
                <a:cs typeface="Arial"/>
              </a:rPr>
              <a:t>hardware, </a:t>
            </a:r>
            <a:r>
              <a:rPr sz="700" spc="50" dirty="0">
                <a:solidFill>
                  <a:srgbClr val="4F5257"/>
                </a:solidFill>
                <a:latin typeface="Arial"/>
                <a:cs typeface="Arial"/>
              </a:rPr>
              <a:t>making</a:t>
            </a:r>
            <a:r>
              <a:rPr sz="700" spc="-1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55" dirty="0">
                <a:solidFill>
                  <a:srgbClr val="4F5257"/>
                </a:solidFill>
                <a:latin typeface="Arial"/>
                <a:cs typeface="Arial"/>
              </a:rPr>
              <a:t>implementation</a:t>
            </a:r>
            <a:r>
              <a:rPr sz="700" spc="-7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F5257"/>
                </a:solidFill>
                <a:latin typeface="Arial"/>
                <a:cs typeface="Arial"/>
              </a:rPr>
              <a:t>costly.</a:t>
            </a:r>
            <a:endParaRPr sz="7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93365" y="1497059"/>
            <a:ext cx="4255135" cy="11258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1680845" algn="l"/>
                <a:tab pos="3161665" algn="l"/>
              </a:tabLst>
            </a:pPr>
            <a:r>
              <a:rPr sz="10800" b="1" spc="480" baseline="-8873" dirty="0">
                <a:solidFill>
                  <a:srgbClr val="728295"/>
                </a:solidFill>
                <a:latin typeface="Times New Roman"/>
                <a:cs typeface="Times New Roman"/>
              </a:rPr>
              <a:t>a</a:t>
            </a:r>
            <a:r>
              <a:rPr sz="10800" b="1" spc="-1087" baseline="-8873" dirty="0">
                <a:solidFill>
                  <a:srgbClr val="728295"/>
                </a:solidFill>
                <a:latin typeface="Times New Roman"/>
                <a:cs typeface="Times New Roman"/>
              </a:rPr>
              <a:t> </a:t>
            </a:r>
            <a:r>
              <a:rPr sz="1050" spc="60" baseline="-91269" dirty="0">
                <a:solidFill>
                  <a:srgbClr val="4F5257"/>
                </a:solidFill>
                <a:latin typeface="Arial"/>
                <a:cs typeface="Arial"/>
              </a:rPr>
              <a:t>complicatin</a:t>
            </a:r>
            <a:r>
              <a:rPr sz="1050" spc="-5775" baseline="-91269" dirty="0">
                <a:solidFill>
                  <a:srgbClr val="4F5257"/>
                </a:solidFill>
                <a:latin typeface="Arial"/>
                <a:cs typeface="Arial"/>
              </a:rPr>
              <a:t>g</a:t>
            </a:r>
            <a:r>
              <a:rPr sz="1575" b="1" spc="52" baseline="82010" dirty="0">
                <a:solidFill>
                  <a:srgbClr val="3D4249"/>
                </a:solidFill>
                <a:latin typeface="Times New Roman"/>
                <a:cs typeface="Times New Roman"/>
              </a:rPr>
              <a:t>LARG</a:t>
            </a:r>
            <a:r>
              <a:rPr sz="1575" b="1" spc="-5520" baseline="82010" dirty="0">
                <a:solidFill>
                  <a:srgbClr val="3D4249"/>
                </a:solidFill>
                <a:latin typeface="Times New Roman"/>
                <a:cs typeface="Times New Roman"/>
              </a:rPr>
              <a:t>E</a:t>
            </a:r>
            <a:r>
              <a:rPr sz="700" spc="40" dirty="0">
                <a:solidFill>
                  <a:srgbClr val="3D4249"/>
                </a:solidFill>
                <a:latin typeface="Arial"/>
                <a:cs typeface="Arial"/>
              </a:rPr>
              <a:t>Handlin</a:t>
            </a:r>
            <a:r>
              <a:rPr sz="700" spc="45" dirty="0">
                <a:solidFill>
                  <a:srgbClr val="3D4249"/>
                </a:solidFill>
                <a:latin typeface="Arial"/>
                <a:cs typeface="Arial"/>
              </a:rPr>
              <a:t>g</a:t>
            </a:r>
            <a:r>
              <a:rPr sz="700" spc="-2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700" spc="60" dirty="0">
                <a:solidFill>
                  <a:srgbClr val="4F5257"/>
                </a:solidFill>
                <a:latin typeface="Arial"/>
                <a:cs typeface="Arial"/>
              </a:rPr>
              <a:t>million</a:t>
            </a:r>
            <a:r>
              <a:rPr sz="700" spc="-1040" dirty="0">
                <a:solidFill>
                  <a:srgbClr val="4F5257"/>
                </a:solidFill>
                <a:latin typeface="Arial"/>
                <a:cs typeface="Arial"/>
              </a:rPr>
              <a:t>s</a:t>
            </a:r>
            <a:r>
              <a:rPr sz="1050" spc="82" baseline="-91269" dirty="0">
                <a:solidFill>
                  <a:srgbClr val="4F5257"/>
                </a:solidFill>
                <a:latin typeface="Arial"/>
                <a:cs typeface="Arial"/>
              </a:rPr>
              <a:t>dot</a:t>
            </a:r>
            <a:r>
              <a:rPr sz="1050" spc="-3622" baseline="-91269" dirty="0">
                <a:solidFill>
                  <a:srgbClr val="4F5257"/>
                </a:solidFill>
                <a:latin typeface="Arial"/>
                <a:cs typeface="Arial"/>
              </a:rPr>
              <a:t>o</a:t>
            </a:r>
            <a:r>
              <a:rPr sz="1575" b="1" spc="75" baseline="82010" dirty="0">
                <a:solidFill>
                  <a:srgbClr val="3D4249"/>
                </a:solidFill>
                <a:latin typeface="Times New Roman"/>
                <a:cs typeface="Times New Roman"/>
              </a:rPr>
              <a:t>DATASE</a:t>
            </a:r>
            <a:r>
              <a:rPr sz="1575" b="1" spc="-1995" baseline="82010" dirty="0">
                <a:solidFill>
                  <a:srgbClr val="3D4249"/>
                </a:solidFill>
                <a:latin typeface="Times New Roman"/>
                <a:cs typeface="Times New Roman"/>
              </a:rPr>
              <a:t>T</a:t>
            </a:r>
            <a:r>
              <a:rPr sz="1050" spc="82" baseline="-91269" dirty="0">
                <a:solidFill>
                  <a:srgbClr val="4F5257"/>
                </a:solidFill>
                <a:latin typeface="Arial"/>
                <a:cs typeface="Arial"/>
              </a:rPr>
              <a:t>management</a:t>
            </a:r>
            <a:r>
              <a:rPr sz="1050" spc="-5752" baseline="-91269" dirty="0">
                <a:solidFill>
                  <a:srgbClr val="4F5257"/>
                </a:solidFill>
                <a:latin typeface="Arial"/>
                <a:cs typeface="Arial"/>
              </a:rPr>
              <a:t>.</a:t>
            </a:r>
            <a:r>
              <a:rPr sz="700" spc="55" dirty="0">
                <a:solidFill>
                  <a:srgbClr val="4F5257"/>
                </a:solidFill>
                <a:latin typeface="Arial"/>
                <a:cs typeface="Arial"/>
              </a:rPr>
              <a:t>dot</a:t>
            </a:r>
            <a:r>
              <a:rPr sz="700" spc="-2100" dirty="0">
                <a:solidFill>
                  <a:srgbClr val="4F5257"/>
                </a:solidFill>
                <a:latin typeface="Arial"/>
                <a:cs typeface="Arial"/>
              </a:rPr>
              <a:t>o</a:t>
            </a:r>
            <a:r>
              <a:rPr sz="700" spc="55" dirty="0">
                <a:solidFill>
                  <a:srgbClr val="4F5257"/>
                </a:solidFill>
                <a:latin typeface="Arial"/>
                <a:cs typeface="Arial"/>
              </a:rPr>
              <a:t>o</a:t>
            </a:r>
            <a:r>
              <a:rPr sz="700" spc="60" dirty="0">
                <a:solidFill>
                  <a:srgbClr val="4F5257"/>
                </a:solidFill>
                <a:latin typeface="Arial"/>
                <a:cs typeface="Arial"/>
              </a:rPr>
              <a:t>f</a:t>
            </a:r>
            <a:r>
              <a:rPr sz="700" dirty="0">
                <a:solidFill>
                  <a:srgbClr val="4F5257"/>
                </a:solidFill>
                <a:latin typeface="Arial"/>
                <a:cs typeface="Arial"/>
              </a:rPr>
              <a:t>	</a:t>
            </a:r>
            <a:r>
              <a:rPr sz="1575" b="1" spc="-494" baseline="82010" dirty="0">
                <a:solidFill>
                  <a:srgbClr val="3D4249"/>
                </a:solidFill>
                <a:latin typeface="Times New Roman"/>
                <a:cs typeface="Times New Roman"/>
              </a:rPr>
              <a:t>PROCESSING</a:t>
            </a:r>
            <a:r>
              <a:rPr sz="700" spc="-330" dirty="0">
                <a:solidFill>
                  <a:srgbClr val="4F5257"/>
                </a:solidFill>
                <a:latin typeface="Arial"/>
                <a:cs typeface="Arial"/>
              </a:rPr>
              <a:t>time-</a:t>
            </a:r>
            <a:r>
              <a:rPr sz="700" spc="-90" dirty="0">
                <a:solidFill>
                  <a:srgbClr val="4F5257"/>
                </a:solidFill>
                <a:latin typeface="Arial"/>
                <a:cs typeface="Arial"/>
              </a:rPr>
              <a:t>consumin</a:t>
            </a:r>
            <a:r>
              <a:rPr sz="700" spc="-5930" dirty="0">
                <a:solidFill>
                  <a:srgbClr val="4F5257"/>
                </a:solidFill>
                <a:latin typeface="Arial"/>
                <a:cs typeface="Arial"/>
              </a:rPr>
              <a:t>g</a:t>
            </a:r>
            <a:r>
              <a:rPr sz="700" spc="-100" dirty="0">
                <a:solidFill>
                  <a:srgbClr val="4F5257"/>
                </a:solidFill>
                <a:latin typeface="Arial"/>
                <a:cs typeface="Arial"/>
              </a:rPr>
              <a:t>b</a:t>
            </a:r>
            <a:r>
              <a:rPr sz="700" spc="-2170" dirty="0">
                <a:solidFill>
                  <a:srgbClr val="4F5257"/>
                </a:solidFill>
                <a:latin typeface="Arial"/>
                <a:cs typeface="Arial"/>
              </a:rPr>
              <a:t>e</a:t>
            </a:r>
            <a:r>
              <a:rPr sz="700" spc="-100" dirty="0">
                <a:solidFill>
                  <a:srgbClr val="4F5257"/>
                </a:solidFill>
                <a:latin typeface="Arial"/>
                <a:cs typeface="Arial"/>
              </a:rPr>
              <a:t>co</a:t>
            </a:r>
            <a:r>
              <a:rPr sz="700" spc="-3245" dirty="0">
                <a:solidFill>
                  <a:srgbClr val="4F5257"/>
                </a:solidFill>
                <a:latin typeface="Arial"/>
                <a:cs typeface="Arial"/>
              </a:rPr>
              <a:t>n</a:t>
            </a:r>
            <a:r>
              <a:rPr sz="700" spc="-95" dirty="0">
                <a:solidFill>
                  <a:srgbClr val="4F5257"/>
                </a:solidFill>
                <a:latin typeface="Arial"/>
                <a:cs typeface="Arial"/>
              </a:rPr>
              <a:t>points</a:t>
            </a:r>
            <a:r>
              <a:rPr sz="700" dirty="0">
                <a:solidFill>
                  <a:srgbClr val="4F5257"/>
                </a:solidFill>
                <a:latin typeface="Arial"/>
                <a:cs typeface="Arial"/>
              </a:rPr>
              <a:t>	</a:t>
            </a:r>
            <a:r>
              <a:rPr sz="700" spc="60" dirty="0">
                <a:solidFill>
                  <a:srgbClr val="3D4249"/>
                </a:solidFill>
                <a:latin typeface="Arial"/>
                <a:cs typeface="Arial"/>
              </a:rPr>
              <a:t>and</a:t>
            </a:r>
            <a:r>
              <a:rPr sz="70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700" spc="40" dirty="0">
                <a:solidFill>
                  <a:srgbClr val="4F5257"/>
                </a:solidFill>
                <a:latin typeface="Arial"/>
                <a:cs typeface="Arial"/>
              </a:rPr>
              <a:t>resource-</a:t>
            </a:r>
            <a:r>
              <a:rPr sz="700" spc="35" dirty="0">
                <a:solidFill>
                  <a:srgbClr val="4F5257"/>
                </a:solidFill>
                <a:latin typeface="Arial"/>
                <a:cs typeface="Arial"/>
              </a:rPr>
              <a:t>intensive,</a:t>
            </a:r>
            <a:endParaRPr sz="7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54103" y="2967820"/>
            <a:ext cx="3514090" cy="519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30" dirty="0">
                <a:solidFill>
                  <a:srgbClr val="4F5257"/>
                </a:solidFill>
                <a:latin typeface="Times New Roman"/>
                <a:cs typeface="Times New Roman"/>
              </a:rPr>
              <a:t>ATTACK</a:t>
            </a:r>
            <a:r>
              <a:rPr sz="1050" b="1" spc="-35" dirty="0">
                <a:solidFill>
                  <a:srgbClr val="4F5257"/>
                </a:solidFill>
                <a:latin typeface="Times New Roman"/>
                <a:cs typeface="Times New Roman"/>
              </a:rPr>
              <a:t> </a:t>
            </a:r>
            <a:r>
              <a:rPr sz="1050" b="1" spc="-20" dirty="0">
                <a:solidFill>
                  <a:srgbClr val="4F5257"/>
                </a:solidFill>
                <a:latin typeface="Times New Roman"/>
                <a:cs typeface="Times New Roman"/>
              </a:rPr>
              <a:t>VARIABILITY</a:t>
            </a:r>
            <a:endParaRPr sz="1050">
              <a:latin typeface="Times New Roman"/>
              <a:cs typeface="Times New Roman"/>
            </a:endParaRPr>
          </a:p>
          <a:p>
            <a:pPr marL="13970" marR="5080" indent="3175">
              <a:lnSpc>
                <a:spcPct val="137500"/>
              </a:lnSpc>
              <a:spcBef>
                <a:spcPts val="315"/>
              </a:spcBef>
            </a:pPr>
            <a:r>
              <a:rPr sz="700" spc="-10" dirty="0">
                <a:solidFill>
                  <a:srgbClr val="4F5257"/>
                </a:solidFill>
                <a:latin typeface="Arial"/>
                <a:cs typeface="Arial"/>
              </a:rPr>
              <a:t>The</a:t>
            </a:r>
            <a:r>
              <a:rPr sz="700" spc="229" dirty="0">
                <a:solidFill>
                  <a:srgbClr val="4F5257"/>
                </a:solidFill>
                <a:latin typeface="Arial"/>
                <a:cs typeface="Arial"/>
              </a:rPr>
              <a:t>  </a:t>
            </a:r>
            <a:r>
              <a:rPr sz="700" dirty="0">
                <a:solidFill>
                  <a:srgbClr val="4F5257"/>
                </a:solidFill>
                <a:latin typeface="Arial"/>
                <a:cs typeface="Arial"/>
              </a:rPr>
              <a:t>emergence</a:t>
            </a:r>
            <a:r>
              <a:rPr sz="700" spc="19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F5257"/>
                </a:solidFill>
                <a:latin typeface="Arial"/>
                <a:cs typeface="Arial"/>
              </a:rPr>
              <a:t>of</a:t>
            </a:r>
            <a:r>
              <a:rPr sz="700" spc="24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F5257"/>
                </a:solidFill>
                <a:latin typeface="Arial"/>
                <a:cs typeface="Arial"/>
              </a:rPr>
              <a:t>new</a:t>
            </a:r>
            <a:r>
              <a:rPr sz="700" spc="12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F5257"/>
                </a:solidFill>
                <a:latin typeface="Arial"/>
                <a:cs typeface="Arial"/>
              </a:rPr>
              <a:t>and</a:t>
            </a:r>
            <a:r>
              <a:rPr sz="700" spc="15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F5257"/>
                </a:solidFill>
                <a:latin typeface="Arial"/>
                <a:cs typeface="Arial"/>
              </a:rPr>
              <a:t>unknown</a:t>
            </a:r>
            <a:r>
              <a:rPr sz="700" spc="13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F5257"/>
                </a:solidFill>
                <a:latin typeface="Arial"/>
                <a:cs typeface="Arial"/>
              </a:rPr>
              <a:t>attacks</a:t>
            </a:r>
            <a:r>
              <a:rPr sz="700" spc="15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F5257"/>
                </a:solidFill>
                <a:latin typeface="Arial"/>
                <a:cs typeface="Arial"/>
              </a:rPr>
              <a:t>presents</a:t>
            </a:r>
            <a:r>
              <a:rPr sz="700" spc="16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F5257"/>
                </a:solidFill>
                <a:latin typeface="Arial"/>
                <a:cs typeface="Arial"/>
              </a:rPr>
              <a:t>a</a:t>
            </a:r>
            <a:r>
              <a:rPr sz="700" spc="16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F5257"/>
                </a:solidFill>
                <a:latin typeface="Arial"/>
                <a:cs typeface="Arial"/>
              </a:rPr>
              <a:t>challenge</a:t>
            </a:r>
            <a:r>
              <a:rPr sz="700" spc="14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F5257"/>
                </a:solidFill>
                <a:latin typeface="Arial"/>
                <a:cs typeface="Arial"/>
              </a:rPr>
              <a:t>in</a:t>
            </a:r>
            <a:r>
              <a:rPr sz="700" spc="6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F5257"/>
                </a:solidFill>
                <a:latin typeface="Arial"/>
                <a:cs typeface="Arial"/>
              </a:rPr>
              <a:t>detection,</a:t>
            </a:r>
            <a:r>
              <a:rPr sz="700" spc="30" dirty="0">
                <a:solidFill>
                  <a:srgbClr val="4F5257"/>
                </a:solidFill>
                <a:latin typeface="Arial"/>
                <a:cs typeface="Arial"/>
              </a:rPr>
              <a:t> requiring</a:t>
            </a:r>
            <a:r>
              <a:rPr sz="700" spc="4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F5257"/>
                </a:solidFill>
                <a:latin typeface="Arial"/>
                <a:cs typeface="Arial"/>
              </a:rPr>
              <a:t>constant</a:t>
            </a:r>
            <a:r>
              <a:rPr sz="700" spc="9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F5257"/>
                </a:solidFill>
                <a:latin typeface="Arial"/>
                <a:cs typeface="Arial"/>
              </a:rPr>
              <a:t>updates</a:t>
            </a:r>
            <a:r>
              <a:rPr sz="700" spc="8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F5257"/>
                </a:solidFill>
                <a:latin typeface="Arial"/>
                <a:cs typeface="Arial"/>
              </a:rPr>
              <a:t>to</a:t>
            </a:r>
            <a:r>
              <a:rPr sz="700" spc="14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F5257"/>
                </a:solidFill>
                <a:latin typeface="Arial"/>
                <a:cs typeface="Arial"/>
              </a:rPr>
              <a:t>models.</a:t>
            </a:r>
            <a:endParaRPr sz="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55439" y="3841874"/>
            <a:ext cx="2687320" cy="525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0" dirty="0">
                <a:solidFill>
                  <a:srgbClr val="3D4249"/>
                </a:solidFill>
                <a:latin typeface="Times New Roman"/>
                <a:cs typeface="Times New Roman"/>
              </a:rPr>
              <a:t>REAL-</a:t>
            </a:r>
            <a:r>
              <a:rPr sz="1050" b="1" spc="-95" dirty="0">
                <a:solidFill>
                  <a:srgbClr val="3D4249"/>
                </a:solidFill>
                <a:latin typeface="Times New Roman"/>
                <a:cs typeface="Times New Roman"/>
              </a:rPr>
              <a:t>TIME</a:t>
            </a:r>
            <a:r>
              <a:rPr sz="1050" b="1" spc="5" dirty="0">
                <a:solidFill>
                  <a:srgbClr val="3D4249"/>
                </a:solidFill>
                <a:latin typeface="Times New Roman"/>
                <a:cs typeface="Times New Roman"/>
              </a:rPr>
              <a:t> </a:t>
            </a:r>
            <a:r>
              <a:rPr sz="1050" b="1" spc="-10" dirty="0">
                <a:solidFill>
                  <a:srgbClr val="3D4249"/>
                </a:solidFill>
                <a:latin typeface="Times New Roman"/>
                <a:cs typeface="Times New Roman"/>
              </a:rPr>
              <a:t>PERFORMANCE</a:t>
            </a:r>
            <a:endParaRPr sz="1050">
              <a:latin typeface="Times New Roman"/>
              <a:cs typeface="Times New Roman"/>
            </a:endParaRPr>
          </a:p>
          <a:p>
            <a:pPr marL="12700" marR="5080" indent="1270">
              <a:lnSpc>
                <a:spcPct val="137500"/>
              </a:lnSpc>
              <a:spcBef>
                <a:spcPts val="365"/>
              </a:spcBef>
            </a:pP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Striking</a:t>
            </a:r>
            <a:r>
              <a:rPr sz="700" spc="5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4F5257"/>
                </a:solidFill>
                <a:latin typeface="Arial"/>
                <a:cs typeface="Arial"/>
              </a:rPr>
              <a:t>a</a:t>
            </a:r>
            <a:r>
              <a:rPr sz="700" spc="11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balance</a:t>
            </a:r>
            <a:r>
              <a:rPr sz="700" spc="6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4F5257"/>
                </a:solidFill>
                <a:latin typeface="Arial"/>
                <a:cs typeface="Arial"/>
              </a:rPr>
              <a:t>between 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speed</a:t>
            </a:r>
            <a:r>
              <a:rPr sz="700" spc="6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and</a:t>
            </a:r>
            <a:r>
              <a:rPr sz="700" spc="15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accuracy</a:t>
            </a:r>
            <a:r>
              <a:rPr sz="700" spc="12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3D4249"/>
                </a:solidFill>
                <a:latin typeface="Arial"/>
                <a:cs typeface="Arial"/>
              </a:rPr>
              <a:t>in</a:t>
            </a:r>
            <a:r>
              <a:rPr sz="700" spc="2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4F5257"/>
                </a:solidFill>
                <a:latin typeface="Arial"/>
                <a:cs typeface="Arial"/>
              </a:rPr>
              <a:t>real-</a:t>
            </a:r>
            <a:r>
              <a:rPr sz="700" spc="40" dirty="0">
                <a:solidFill>
                  <a:srgbClr val="4F5257"/>
                </a:solidFill>
                <a:latin typeface="Arial"/>
                <a:cs typeface="Arial"/>
              </a:rPr>
              <a:t>time 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significant</a:t>
            </a:r>
            <a:r>
              <a:rPr sz="700" spc="16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hurdle</a:t>
            </a:r>
            <a:r>
              <a:rPr sz="700" spc="5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3D4249"/>
                </a:solidFill>
                <a:latin typeface="Arial"/>
                <a:cs typeface="Arial"/>
              </a:rPr>
              <a:t>in</a:t>
            </a:r>
            <a:r>
              <a:rPr sz="700" spc="7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F5257"/>
                </a:solidFill>
                <a:latin typeface="Arial"/>
                <a:cs typeface="Arial"/>
              </a:rPr>
              <a:t>deep</a:t>
            </a:r>
            <a:r>
              <a:rPr sz="700" spc="10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spc="40" dirty="0">
                <a:solidFill>
                  <a:srgbClr val="62676D"/>
                </a:solidFill>
                <a:latin typeface="Arial"/>
                <a:cs typeface="Arial"/>
              </a:rPr>
              <a:t>learni</a:t>
            </a:r>
            <a:r>
              <a:rPr sz="700" spc="40" dirty="0">
                <a:solidFill>
                  <a:srgbClr val="3D4249"/>
                </a:solidFill>
                <a:latin typeface="Arial"/>
                <a:cs typeface="Arial"/>
              </a:rPr>
              <a:t>ng.</a:t>
            </a:r>
            <a:endParaRPr sz="7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40600" y="4495800"/>
            <a:ext cx="106870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40080" algn="l"/>
              </a:tabLst>
            </a:pPr>
            <a:r>
              <a:rPr sz="2600" spc="-155" dirty="0">
                <a:solidFill>
                  <a:srgbClr val="F6F7F7"/>
                </a:solidFill>
                <a:latin typeface="Arial"/>
                <a:cs typeface="Arial"/>
              </a:rPr>
              <a:t>..</a:t>
            </a:r>
            <a:r>
              <a:rPr sz="2400" spc="-155" dirty="0">
                <a:solidFill>
                  <a:srgbClr val="F6F7F7"/>
                </a:solidFill>
                <a:latin typeface="Times New Roman"/>
                <a:cs typeface="Times New Roman"/>
              </a:rPr>
              <a:t>.</a:t>
            </a:r>
            <a:r>
              <a:rPr sz="2400" spc="-90" dirty="0">
                <a:solidFill>
                  <a:srgbClr val="F6F7F7"/>
                </a:solidFill>
                <a:latin typeface="Times New Roman"/>
                <a:cs typeface="Times New Roman"/>
              </a:rPr>
              <a:t> </a:t>
            </a:r>
            <a:r>
              <a:rPr sz="2600" spc="105" dirty="0">
                <a:solidFill>
                  <a:srgbClr val="F6F7F7"/>
                </a:solidFill>
                <a:latin typeface="Arial"/>
                <a:cs typeface="Arial"/>
              </a:rPr>
              <a:t>..</a:t>
            </a:r>
            <a:r>
              <a:rPr sz="2600" dirty="0">
                <a:solidFill>
                  <a:srgbClr val="F6F7F7"/>
                </a:solidFill>
                <a:latin typeface="Arial"/>
                <a:cs typeface="Arial"/>
              </a:rPr>
              <a:t>	</a:t>
            </a:r>
            <a:r>
              <a:rPr sz="1300" dirty="0">
                <a:solidFill>
                  <a:srgbClr val="F6F7F7"/>
                </a:solidFill>
                <a:latin typeface="Times New Roman"/>
                <a:cs typeface="Times New Roman"/>
              </a:rPr>
              <a:t>-</a:t>
            </a:r>
            <a:r>
              <a:rPr sz="1300" spc="190" dirty="0">
                <a:solidFill>
                  <a:srgbClr val="F6F7F7"/>
                </a:solidFill>
                <a:latin typeface="Times New Roman"/>
                <a:cs typeface="Times New Roman"/>
              </a:rPr>
              <a:t> </a:t>
            </a:r>
            <a:r>
              <a:rPr sz="2600" spc="55" dirty="0">
                <a:solidFill>
                  <a:srgbClr val="F6F7F7"/>
                </a:solidFill>
                <a:latin typeface="Arial"/>
                <a:cs typeface="Arial"/>
              </a:rPr>
              <a:t>.</a:t>
            </a:r>
            <a:r>
              <a:rPr sz="2600" spc="15" dirty="0">
                <a:solidFill>
                  <a:srgbClr val="F6F7F7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srgbClr val="F6F7F7"/>
                </a:solidFill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844641" cy="455366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77278" y="1267086"/>
            <a:ext cx="2062480" cy="39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>
              <a:lnSpc>
                <a:spcPct val="116500"/>
              </a:lnSpc>
              <a:spcBef>
                <a:spcPts val="100"/>
              </a:spcBef>
            </a:pPr>
            <a:r>
              <a:rPr sz="1050" spc="-90" dirty="0">
                <a:solidFill>
                  <a:srgbClr val="41464B"/>
                </a:solidFill>
              </a:rPr>
              <a:t>DEVELOPMENT</a:t>
            </a:r>
            <a:r>
              <a:rPr sz="1050" spc="30" dirty="0">
                <a:solidFill>
                  <a:srgbClr val="41464B"/>
                </a:solidFill>
              </a:rPr>
              <a:t> </a:t>
            </a:r>
            <a:r>
              <a:rPr sz="1050" spc="-60" dirty="0">
                <a:solidFill>
                  <a:srgbClr val="41464B"/>
                </a:solidFill>
              </a:rPr>
              <a:t>OF</a:t>
            </a:r>
            <a:r>
              <a:rPr sz="1050" spc="-70" dirty="0">
                <a:solidFill>
                  <a:srgbClr val="41464B"/>
                </a:solidFill>
              </a:rPr>
              <a:t> </a:t>
            </a:r>
            <a:r>
              <a:rPr sz="1050" spc="-95" dirty="0">
                <a:solidFill>
                  <a:srgbClr val="41464B"/>
                </a:solidFill>
              </a:rPr>
              <a:t>LIGHTWEIGHT</a:t>
            </a:r>
            <a:r>
              <a:rPr sz="1050" spc="-10" dirty="0">
                <a:solidFill>
                  <a:srgbClr val="41464B"/>
                </a:solidFill>
              </a:rPr>
              <a:t> MODELS</a:t>
            </a:r>
            <a:endParaRPr sz="1050"/>
          </a:p>
        </p:txBody>
      </p:sp>
      <p:sp>
        <p:nvSpPr>
          <p:cNvPr id="4" name="object 4"/>
          <p:cNvSpPr txBox="1"/>
          <p:nvPr/>
        </p:nvSpPr>
        <p:spPr>
          <a:xfrm>
            <a:off x="3180005" y="1686029"/>
            <a:ext cx="2176145" cy="313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>
              <a:lnSpc>
                <a:spcPct val="134600"/>
              </a:lnSpc>
              <a:spcBef>
                <a:spcPts val="100"/>
              </a:spcBef>
            </a:pPr>
            <a:r>
              <a:rPr sz="700" spc="20" dirty="0">
                <a:solidFill>
                  <a:srgbClr val="505459"/>
                </a:solidFill>
                <a:latin typeface="Arial"/>
                <a:cs typeface="Arial"/>
              </a:rPr>
              <a:t>Focus</a:t>
            </a:r>
            <a:r>
              <a:rPr sz="700" spc="30" dirty="0">
                <a:solidFill>
                  <a:srgbClr val="505459"/>
                </a:solidFill>
                <a:latin typeface="Arial"/>
                <a:cs typeface="Arial"/>
              </a:rPr>
              <a:t> on</a:t>
            </a:r>
            <a:r>
              <a:rPr sz="700" spc="60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505459"/>
                </a:solidFill>
                <a:latin typeface="Arial"/>
                <a:cs typeface="Arial"/>
              </a:rPr>
              <a:t>creating</a:t>
            </a:r>
            <a:r>
              <a:rPr sz="700" spc="60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505459"/>
                </a:solidFill>
                <a:latin typeface="Arial"/>
                <a:cs typeface="Arial"/>
              </a:rPr>
              <a:t>models</a:t>
            </a:r>
            <a:r>
              <a:rPr sz="700" spc="65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55" dirty="0">
                <a:solidFill>
                  <a:srgbClr val="505459"/>
                </a:solidFill>
                <a:latin typeface="Arial"/>
                <a:cs typeface="Arial"/>
              </a:rPr>
              <a:t>that</a:t>
            </a:r>
            <a:r>
              <a:rPr sz="700" spc="25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75" dirty="0">
                <a:solidFill>
                  <a:srgbClr val="505459"/>
                </a:solidFill>
                <a:latin typeface="Arial"/>
                <a:cs typeface="Arial"/>
              </a:rPr>
              <a:t>can</a:t>
            </a:r>
            <a:r>
              <a:rPr sz="700" spc="-75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1464B"/>
                </a:solidFill>
                <a:latin typeface="Arial"/>
                <a:cs typeface="Arial"/>
              </a:rPr>
              <a:t>efficien</a:t>
            </a:r>
            <a:r>
              <a:rPr sz="700" spc="30" dirty="0">
                <a:solidFill>
                  <a:srgbClr val="62676B"/>
                </a:solidFill>
                <a:latin typeface="Arial"/>
                <a:cs typeface="Arial"/>
              </a:rPr>
              <a:t>tly</a:t>
            </a:r>
            <a:r>
              <a:rPr sz="700" spc="90" dirty="0">
                <a:solidFill>
                  <a:srgbClr val="62676B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505459"/>
                </a:solidFill>
                <a:latin typeface="Arial"/>
                <a:cs typeface="Arial"/>
              </a:rPr>
              <a:t>run</a:t>
            </a:r>
            <a:r>
              <a:rPr sz="700" spc="55" dirty="0">
                <a:solidFill>
                  <a:srgbClr val="505459"/>
                </a:solidFill>
                <a:latin typeface="Arial"/>
                <a:cs typeface="Arial"/>
              </a:rPr>
              <a:t> on</a:t>
            </a:r>
            <a:r>
              <a:rPr sz="700" spc="40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505459"/>
                </a:solidFill>
                <a:latin typeface="Arial"/>
                <a:cs typeface="Arial"/>
              </a:rPr>
              <a:t>small</a:t>
            </a:r>
            <a:r>
              <a:rPr sz="700" spc="125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505459"/>
                </a:solidFill>
                <a:latin typeface="Arial"/>
                <a:cs typeface="Arial"/>
              </a:rPr>
              <a:t>loT</a:t>
            </a:r>
            <a:r>
              <a:rPr sz="700" spc="135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505459"/>
                </a:solidFill>
                <a:latin typeface="Arial"/>
                <a:cs typeface="Arial"/>
              </a:rPr>
              <a:t>devices,</a:t>
            </a:r>
            <a:r>
              <a:rPr sz="700" spc="100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505459"/>
                </a:solidFill>
                <a:latin typeface="Arial"/>
                <a:cs typeface="Arial"/>
              </a:rPr>
              <a:t>enhancing</a:t>
            </a:r>
            <a:r>
              <a:rPr sz="700" spc="180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505459"/>
                </a:solidFill>
                <a:latin typeface="Arial"/>
                <a:cs typeface="Arial"/>
              </a:rPr>
              <a:t>performance.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77220" y="2451336"/>
            <a:ext cx="217360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0" dirty="0">
                <a:solidFill>
                  <a:srgbClr val="41464B"/>
                </a:solidFill>
                <a:latin typeface="Times New Roman"/>
                <a:cs typeface="Times New Roman"/>
              </a:rPr>
              <a:t>INTEGRATION</a:t>
            </a:r>
            <a:r>
              <a:rPr sz="1050" b="1" spc="-20" dirty="0">
                <a:solidFill>
                  <a:srgbClr val="41464B"/>
                </a:solidFill>
                <a:latin typeface="Times New Roman"/>
                <a:cs typeface="Times New Roman"/>
              </a:rPr>
              <a:t> </a:t>
            </a:r>
            <a:r>
              <a:rPr sz="1050" b="1" spc="-45" dirty="0">
                <a:solidFill>
                  <a:srgbClr val="41464B"/>
                </a:solidFill>
                <a:latin typeface="Times New Roman"/>
                <a:cs typeface="Times New Roman"/>
              </a:rPr>
              <a:t>OF</a:t>
            </a:r>
            <a:r>
              <a:rPr sz="1050" b="1" spc="-100" dirty="0">
                <a:solidFill>
                  <a:srgbClr val="41464B"/>
                </a:solidFill>
                <a:latin typeface="Times New Roman"/>
                <a:cs typeface="Times New Roman"/>
              </a:rPr>
              <a:t> </a:t>
            </a:r>
            <a:r>
              <a:rPr sz="1050" b="1" spc="-95" dirty="0">
                <a:solidFill>
                  <a:srgbClr val="41464B"/>
                </a:solidFill>
                <a:latin typeface="Times New Roman"/>
                <a:cs typeface="Times New Roman"/>
              </a:rPr>
              <a:t>EXPLAINABLE</a:t>
            </a:r>
            <a:r>
              <a:rPr sz="1050" b="1" spc="30" dirty="0">
                <a:solidFill>
                  <a:srgbClr val="41464B"/>
                </a:solidFill>
                <a:latin typeface="Times New Roman"/>
                <a:cs typeface="Times New Roman"/>
              </a:rPr>
              <a:t> </a:t>
            </a:r>
            <a:r>
              <a:rPr sz="1050" b="1" spc="-25" dirty="0">
                <a:solidFill>
                  <a:srgbClr val="41464B"/>
                </a:solidFill>
                <a:latin typeface="Times New Roman"/>
                <a:cs typeface="Times New Roman"/>
              </a:rPr>
              <a:t>AI</a:t>
            </a:r>
            <a:endParaRPr sz="1050">
              <a:latin typeface="Times New Roman"/>
              <a:cs typeface="Times New Roman"/>
            </a:endParaRPr>
          </a:p>
          <a:p>
            <a:pPr marL="15240" marR="5080" indent="2540">
              <a:lnSpc>
                <a:spcPct val="136100"/>
              </a:lnSpc>
              <a:spcBef>
                <a:spcPts val="350"/>
              </a:spcBef>
            </a:pPr>
            <a:r>
              <a:rPr sz="700" spc="10" dirty="0">
                <a:solidFill>
                  <a:srgbClr val="505459"/>
                </a:solidFill>
                <a:latin typeface="Arial"/>
                <a:cs typeface="Arial"/>
              </a:rPr>
              <a:t>Add</a:t>
            </a:r>
            <a:r>
              <a:rPr sz="700" spc="409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1464B"/>
                </a:solidFill>
                <a:latin typeface="Arial"/>
                <a:cs typeface="Arial"/>
              </a:rPr>
              <a:t>Explainable</a:t>
            </a:r>
            <a:r>
              <a:rPr sz="700" spc="85" dirty="0">
                <a:solidFill>
                  <a:srgbClr val="41464B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505459"/>
                </a:solidFill>
                <a:latin typeface="Arial"/>
                <a:cs typeface="Arial"/>
              </a:rPr>
              <a:t>Al</a:t>
            </a:r>
            <a:r>
              <a:rPr sz="700" spc="25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505459"/>
                </a:solidFill>
                <a:latin typeface="Arial"/>
                <a:cs typeface="Arial"/>
              </a:rPr>
              <a:t>features</a:t>
            </a:r>
            <a:r>
              <a:rPr sz="700" spc="45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41464B"/>
                </a:solidFill>
                <a:latin typeface="Arial"/>
                <a:cs typeface="Arial"/>
              </a:rPr>
              <a:t>to</a:t>
            </a:r>
            <a:r>
              <a:rPr sz="700" spc="60" dirty="0">
                <a:solidFill>
                  <a:srgbClr val="41464B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505459"/>
                </a:solidFill>
                <a:latin typeface="Arial"/>
                <a:cs typeface="Arial"/>
              </a:rPr>
              <a:t>clarify</a:t>
            </a:r>
            <a:r>
              <a:rPr sz="700" spc="65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505459"/>
                </a:solidFill>
                <a:latin typeface="Arial"/>
                <a:cs typeface="Arial"/>
              </a:rPr>
              <a:t>the</a:t>
            </a:r>
            <a:r>
              <a:rPr sz="700" spc="500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505459"/>
                </a:solidFill>
                <a:latin typeface="Arial"/>
                <a:cs typeface="Arial"/>
              </a:rPr>
              <a:t>reasons</a:t>
            </a:r>
            <a:r>
              <a:rPr sz="700" spc="110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505459"/>
                </a:solidFill>
                <a:latin typeface="Arial"/>
                <a:cs typeface="Arial"/>
              </a:rPr>
              <a:t>behind</a:t>
            </a:r>
            <a:r>
              <a:rPr sz="700" spc="45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505459"/>
                </a:solidFill>
                <a:latin typeface="Arial"/>
                <a:cs typeface="Arial"/>
              </a:rPr>
              <a:t>attack</a:t>
            </a:r>
            <a:r>
              <a:rPr sz="700" spc="85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505459"/>
                </a:solidFill>
                <a:latin typeface="Arial"/>
                <a:cs typeface="Arial"/>
              </a:rPr>
              <a:t>detection,</a:t>
            </a:r>
            <a:r>
              <a:rPr sz="700" spc="110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45" dirty="0">
                <a:solidFill>
                  <a:srgbClr val="41464B"/>
                </a:solidFill>
                <a:latin typeface="Arial"/>
                <a:cs typeface="Arial"/>
              </a:rPr>
              <a:t>improv</a:t>
            </a:r>
            <a:r>
              <a:rPr sz="700" spc="45" dirty="0">
                <a:solidFill>
                  <a:srgbClr val="62676B"/>
                </a:solidFill>
                <a:latin typeface="Arial"/>
                <a:cs typeface="Arial"/>
              </a:rPr>
              <a:t>ing</a:t>
            </a:r>
            <a:r>
              <a:rPr sz="700" spc="114" dirty="0">
                <a:solidFill>
                  <a:srgbClr val="62676B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505459"/>
                </a:solidFill>
                <a:latin typeface="Arial"/>
                <a:cs typeface="Arial"/>
              </a:rPr>
              <a:t>trust</a:t>
            </a:r>
            <a:r>
              <a:rPr sz="700" spc="50" dirty="0">
                <a:solidFill>
                  <a:srgbClr val="505459"/>
                </a:solidFill>
                <a:latin typeface="Arial"/>
                <a:cs typeface="Arial"/>
              </a:rPr>
              <a:t> in</a:t>
            </a:r>
            <a:r>
              <a:rPr sz="700" spc="-65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55" dirty="0">
                <a:solidFill>
                  <a:srgbClr val="505459"/>
                </a:solidFill>
                <a:latin typeface="Arial"/>
                <a:cs typeface="Arial"/>
              </a:rPr>
              <a:t>the</a:t>
            </a:r>
            <a:r>
              <a:rPr sz="700" spc="-45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505459"/>
                </a:solidFill>
                <a:latin typeface="Arial"/>
                <a:cs typeface="Arial"/>
              </a:rPr>
              <a:t>system.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03444" y="1267086"/>
            <a:ext cx="210756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500"/>
              </a:lnSpc>
              <a:spcBef>
                <a:spcPts val="100"/>
              </a:spcBef>
            </a:pPr>
            <a:r>
              <a:rPr sz="1050" b="1" spc="-90" dirty="0">
                <a:solidFill>
                  <a:srgbClr val="41464B"/>
                </a:solidFill>
                <a:latin typeface="Times New Roman"/>
                <a:cs typeface="Times New Roman"/>
              </a:rPr>
              <a:t>IMPLEMENTATION</a:t>
            </a:r>
            <a:r>
              <a:rPr sz="1050" b="1" spc="-65" dirty="0">
                <a:solidFill>
                  <a:srgbClr val="41464B"/>
                </a:solidFill>
                <a:latin typeface="Times New Roman"/>
                <a:cs typeface="Times New Roman"/>
              </a:rPr>
              <a:t> </a:t>
            </a:r>
            <a:r>
              <a:rPr sz="1050" b="1" spc="-45" dirty="0">
                <a:solidFill>
                  <a:srgbClr val="41464B"/>
                </a:solidFill>
                <a:latin typeface="Times New Roman"/>
                <a:cs typeface="Times New Roman"/>
              </a:rPr>
              <a:t>OF</a:t>
            </a:r>
            <a:r>
              <a:rPr sz="1050" b="1" spc="-70" dirty="0">
                <a:solidFill>
                  <a:srgbClr val="41464B"/>
                </a:solidFill>
                <a:latin typeface="Times New Roman"/>
                <a:cs typeface="Times New Roman"/>
              </a:rPr>
              <a:t> </a:t>
            </a:r>
            <a:r>
              <a:rPr sz="1050" b="1" spc="-80" dirty="0">
                <a:solidFill>
                  <a:srgbClr val="41464B"/>
                </a:solidFill>
                <a:latin typeface="Times New Roman"/>
                <a:cs typeface="Times New Roman"/>
              </a:rPr>
              <a:t>FEDERATED</a:t>
            </a:r>
            <a:r>
              <a:rPr sz="1050" b="1" spc="-10" dirty="0">
                <a:solidFill>
                  <a:srgbClr val="41464B"/>
                </a:solidFill>
                <a:latin typeface="Times New Roman"/>
                <a:cs typeface="Times New Roman"/>
              </a:rPr>
              <a:t> LEARNING</a:t>
            </a:r>
            <a:endParaRPr sz="1050">
              <a:latin typeface="Times New Roman"/>
              <a:cs typeface="Times New Roman"/>
            </a:endParaRPr>
          </a:p>
          <a:p>
            <a:pPr marL="12700" marR="24130" indent="1905">
              <a:lnSpc>
                <a:spcPct val="131300"/>
              </a:lnSpc>
              <a:spcBef>
                <a:spcPts val="390"/>
              </a:spcBef>
            </a:pPr>
            <a:r>
              <a:rPr sz="700" spc="20" dirty="0">
                <a:solidFill>
                  <a:srgbClr val="41464B"/>
                </a:solidFill>
                <a:latin typeface="Arial"/>
                <a:cs typeface="Arial"/>
              </a:rPr>
              <a:t>Utilize</a:t>
            </a:r>
            <a:r>
              <a:rPr sz="700" spc="45" dirty="0">
                <a:solidFill>
                  <a:srgbClr val="41464B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505459"/>
                </a:solidFill>
                <a:latin typeface="Arial"/>
                <a:cs typeface="Arial"/>
              </a:rPr>
              <a:t>federated</a:t>
            </a:r>
            <a:r>
              <a:rPr sz="700" spc="125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505459"/>
                </a:solidFill>
                <a:latin typeface="Arial"/>
                <a:cs typeface="Arial"/>
              </a:rPr>
              <a:t>learning</a:t>
            </a:r>
            <a:r>
              <a:rPr sz="700" spc="60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505459"/>
                </a:solidFill>
                <a:latin typeface="Arial"/>
                <a:cs typeface="Arial"/>
              </a:rPr>
              <a:t>techniques</a:t>
            </a:r>
            <a:r>
              <a:rPr sz="700" spc="114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505459"/>
                </a:solidFill>
                <a:latin typeface="Arial"/>
                <a:cs typeface="Arial"/>
              </a:rPr>
              <a:t>to</a:t>
            </a:r>
            <a:r>
              <a:rPr sz="700" spc="110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1464B"/>
                </a:solidFill>
                <a:latin typeface="Arial"/>
                <a:cs typeface="Arial"/>
              </a:rPr>
              <a:t>ensu</a:t>
            </a:r>
            <a:r>
              <a:rPr sz="700" spc="-10" dirty="0">
                <a:solidFill>
                  <a:srgbClr val="62676B"/>
                </a:solidFill>
                <a:latin typeface="Arial"/>
                <a:cs typeface="Arial"/>
              </a:rPr>
              <a:t>r</a:t>
            </a:r>
            <a:r>
              <a:rPr sz="700" spc="-10" dirty="0">
                <a:solidFill>
                  <a:srgbClr val="41464B"/>
                </a:solidFill>
                <a:latin typeface="Arial"/>
                <a:cs typeface="Arial"/>
              </a:rPr>
              <a:t>e</a:t>
            </a:r>
            <a:r>
              <a:rPr sz="700" spc="65" dirty="0">
                <a:solidFill>
                  <a:srgbClr val="41464B"/>
                </a:solidFill>
                <a:latin typeface="Arial"/>
                <a:cs typeface="Arial"/>
              </a:rPr>
              <a:t> </a:t>
            </a:r>
            <a:r>
              <a:rPr sz="700" spc="65" dirty="0">
                <a:solidFill>
                  <a:srgbClr val="505459"/>
                </a:solidFill>
                <a:latin typeface="Arial"/>
                <a:cs typeface="Arial"/>
              </a:rPr>
              <a:t>data</a:t>
            </a:r>
            <a:r>
              <a:rPr sz="700" spc="145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505459"/>
                </a:solidFill>
                <a:latin typeface="Arial"/>
                <a:cs typeface="Arial"/>
              </a:rPr>
              <a:t>privacy</a:t>
            </a:r>
            <a:r>
              <a:rPr sz="700" spc="165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2676B"/>
                </a:solidFill>
                <a:latin typeface="Arial"/>
                <a:cs typeface="Arial"/>
              </a:rPr>
              <a:t>w</a:t>
            </a:r>
            <a:r>
              <a:rPr sz="700" dirty="0">
                <a:solidFill>
                  <a:srgbClr val="41464B"/>
                </a:solidFill>
                <a:latin typeface="Arial"/>
                <a:cs typeface="Arial"/>
              </a:rPr>
              <a:t>hile</a:t>
            </a:r>
            <a:r>
              <a:rPr sz="700" spc="120" dirty="0">
                <a:solidFill>
                  <a:srgbClr val="41464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1464B"/>
                </a:solidFill>
                <a:latin typeface="Arial"/>
                <a:cs typeface="Arial"/>
              </a:rPr>
              <a:t>training</a:t>
            </a:r>
            <a:r>
              <a:rPr sz="700" spc="160" dirty="0">
                <a:solidFill>
                  <a:srgbClr val="41464B"/>
                </a:solidFill>
                <a:latin typeface="Arial"/>
                <a:cs typeface="Arial"/>
              </a:rPr>
              <a:t> </a:t>
            </a:r>
            <a:r>
              <a:rPr sz="750" b="1" spc="-30" dirty="0">
                <a:solidFill>
                  <a:srgbClr val="505459"/>
                </a:solidFill>
                <a:latin typeface="Arial"/>
                <a:cs typeface="Arial"/>
              </a:rPr>
              <a:t>Al</a:t>
            </a:r>
            <a:r>
              <a:rPr sz="750" b="1" spc="105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05459"/>
                </a:solidFill>
                <a:latin typeface="Arial"/>
                <a:cs typeface="Arial"/>
              </a:rPr>
              <a:t>models</a:t>
            </a:r>
            <a:r>
              <a:rPr sz="700" spc="114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505459"/>
                </a:solidFill>
                <a:latin typeface="Arial"/>
                <a:cs typeface="Arial"/>
              </a:rPr>
              <a:t>across</a:t>
            </a:r>
            <a:r>
              <a:rPr sz="700" spc="30" dirty="0">
                <a:solidFill>
                  <a:srgbClr val="505459"/>
                </a:solidFill>
                <a:latin typeface="Arial"/>
                <a:cs typeface="Arial"/>
              </a:rPr>
              <a:t> decentralized</a:t>
            </a:r>
            <a:r>
              <a:rPr sz="700" spc="130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505459"/>
                </a:solidFill>
                <a:latin typeface="Arial"/>
                <a:cs typeface="Arial"/>
              </a:rPr>
              <a:t>devices.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03844" y="2425359"/>
            <a:ext cx="219202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 marR="346710" indent="-1270">
              <a:lnSpc>
                <a:spcPct val="116500"/>
              </a:lnSpc>
              <a:spcBef>
                <a:spcPts val="100"/>
              </a:spcBef>
            </a:pPr>
            <a:r>
              <a:rPr sz="1050" b="1" spc="-105" dirty="0">
                <a:solidFill>
                  <a:srgbClr val="41464B"/>
                </a:solidFill>
                <a:latin typeface="Times New Roman"/>
                <a:cs typeface="Times New Roman"/>
              </a:rPr>
              <a:t>REAL-</a:t>
            </a:r>
            <a:r>
              <a:rPr sz="1050" b="1" spc="-125" dirty="0">
                <a:solidFill>
                  <a:srgbClr val="41464B"/>
                </a:solidFill>
                <a:latin typeface="Times New Roman"/>
                <a:cs typeface="Times New Roman"/>
              </a:rPr>
              <a:t>WORLD</a:t>
            </a:r>
            <a:r>
              <a:rPr sz="1050" b="1" spc="-5" dirty="0">
                <a:solidFill>
                  <a:srgbClr val="41464B"/>
                </a:solidFill>
                <a:latin typeface="Times New Roman"/>
                <a:cs typeface="Times New Roman"/>
              </a:rPr>
              <a:t> </a:t>
            </a:r>
            <a:r>
              <a:rPr sz="1050" b="1" spc="-85" dirty="0">
                <a:solidFill>
                  <a:srgbClr val="41464B"/>
                </a:solidFill>
                <a:latin typeface="Times New Roman"/>
                <a:cs typeface="Times New Roman"/>
              </a:rPr>
              <a:t>TESTING</a:t>
            </a:r>
            <a:r>
              <a:rPr sz="1050" b="1" spc="60" dirty="0">
                <a:solidFill>
                  <a:srgbClr val="41464B"/>
                </a:solidFill>
                <a:latin typeface="Times New Roman"/>
                <a:cs typeface="Times New Roman"/>
              </a:rPr>
              <a:t> </a:t>
            </a:r>
            <a:r>
              <a:rPr sz="1050" b="1" spc="-90" dirty="0">
                <a:solidFill>
                  <a:srgbClr val="41464B"/>
                </a:solidFill>
                <a:latin typeface="Times New Roman"/>
                <a:cs typeface="Times New Roman"/>
              </a:rPr>
              <a:t>ON</a:t>
            </a:r>
            <a:r>
              <a:rPr sz="1050" b="1" spc="-70" dirty="0">
                <a:solidFill>
                  <a:srgbClr val="41464B"/>
                </a:solidFill>
                <a:latin typeface="Times New Roman"/>
                <a:cs typeface="Times New Roman"/>
              </a:rPr>
              <a:t> </a:t>
            </a:r>
            <a:r>
              <a:rPr sz="1050" b="1" spc="-25" dirty="0">
                <a:solidFill>
                  <a:srgbClr val="41464B"/>
                </a:solidFill>
                <a:latin typeface="Times New Roman"/>
                <a:cs typeface="Times New Roman"/>
              </a:rPr>
              <a:t>IOT </a:t>
            </a:r>
            <a:r>
              <a:rPr sz="1050" b="1" spc="-10" dirty="0">
                <a:solidFill>
                  <a:srgbClr val="41464B"/>
                </a:solidFill>
                <a:latin typeface="Times New Roman"/>
                <a:cs typeface="Times New Roman"/>
              </a:rPr>
              <a:t>NETWORKS</a:t>
            </a:r>
            <a:endParaRPr sz="1050">
              <a:latin typeface="Times New Roman"/>
              <a:cs typeface="Times New Roman"/>
            </a:endParaRPr>
          </a:p>
          <a:p>
            <a:pPr marL="13335" marR="5080">
              <a:lnSpc>
                <a:spcPct val="136100"/>
              </a:lnSpc>
              <a:spcBef>
                <a:spcPts val="350"/>
              </a:spcBef>
            </a:pPr>
            <a:r>
              <a:rPr sz="700" spc="20" dirty="0">
                <a:solidFill>
                  <a:srgbClr val="505459"/>
                </a:solidFill>
                <a:latin typeface="Arial"/>
                <a:cs typeface="Arial"/>
              </a:rPr>
              <a:t>Conduct</a:t>
            </a:r>
            <a:r>
              <a:rPr sz="700" spc="114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505459"/>
                </a:solidFill>
                <a:latin typeface="Arial"/>
                <a:cs typeface="Arial"/>
              </a:rPr>
              <a:t>extensive</a:t>
            </a:r>
            <a:r>
              <a:rPr sz="700" spc="105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505459"/>
                </a:solidFill>
                <a:latin typeface="Arial"/>
                <a:cs typeface="Arial"/>
              </a:rPr>
              <a:t>testing</a:t>
            </a:r>
            <a:r>
              <a:rPr sz="700" spc="110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55" dirty="0">
                <a:solidFill>
                  <a:srgbClr val="505459"/>
                </a:solidFill>
                <a:latin typeface="Arial"/>
                <a:cs typeface="Arial"/>
              </a:rPr>
              <a:t>on</a:t>
            </a:r>
            <a:r>
              <a:rPr sz="700" spc="5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20" dirty="0">
                <a:solidFill>
                  <a:srgbClr val="505459"/>
                </a:solidFill>
                <a:latin typeface="Arial"/>
                <a:cs typeface="Arial"/>
              </a:rPr>
              <a:t>actual</a:t>
            </a:r>
            <a:r>
              <a:rPr sz="700" spc="95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50" dirty="0">
                <a:solidFill>
                  <a:srgbClr val="505459"/>
                </a:solidFill>
                <a:latin typeface="Arial"/>
                <a:cs typeface="Arial"/>
              </a:rPr>
              <a:t>loT</a:t>
            </a:r>
            <a:r>
              <a:rPr sz="700" spc="35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505459"/>
                </a:solidFill>
                <a:latin typeface="Arial"/>
                <a:cs typeface="Arial"/>
              </a:rPr>
              <a:t>networks</a:t>
            </a:r>
            <a:r>
              <a:rPr sz="700" spc="500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505459"/>
                </a:solidFill>
                <a:latin typeface="Arial"/>
                <a:cs typeface="Arial"/>
              </a:rPr>
              <a:t>to</a:t>
            </a:r>
            <a:r>
              <a:rPr sz="700" spc="150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60" dirty="0">
                <a:solidFill>
                  <a:srgbClr val="505459"/>
                </a:solidFill>
                <a:latin typeface="Arial"/>
                <a:cs typeface="Arial"/>
              </a:rPr>
              <a:t>gather</a:t>
            </a:r>
            <a:r>
              <a:rPr sz="700" spc="100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505459"/>
                </a:solidFill>
                <a:latin typeface="Arial"/>
                <a:cs typeface="Arial"/>
              </a:rPr>
              <a:t>insights</a:t>
            </a:r>
            <a:r>
              <a:rPr sz="700" spc="90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505459"/>
                </a:solidFill>
                <a:latin typeface="Arial"/>
                <a:cs typeface="Arial"/>
              </a:rPr>
              <a:t>and</a:t>
            </a:r>
            <a:r>
              <a:rPr sz="700" spc="135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41464B"/>
                </a:solidFill>
                <a:latin typeface="Arial"/>
                <a:cs typeface="Arial"/>
              </a:rPr>
              <a:t>refine</a:t>
            </a:r>
            <a:r>
              <a:rPr sz="700" spc="80" dirty="0">
                <a:solidFill>
                  <a:srgbClr val="41464B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505459"/>
                </a:solidFill>
                <a:latin typeface="Arial"/>
                <a:cs typeface="Arial"/>
              </a:rPr>
              <a:t>detection</a:t>
            </a:r>
            <a:r>
              <a:rPr sz="700" spc="500" dirty="0">
                <a:solidFill>
                  <a:srgbClr val="505459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1464B"/>
                </a:solidFill>
                <a:latin typeface="Arial"/>
                <a:cs typeface="Arial"/>
              </a:rPr>
              <a:t>mechanisms.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845" y="1277494"/>
            <a:ext cx="879030" cy="57455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1845" y="2072087"/>
            <a:ext cx="879030" cy="57455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1845" y="2878904"/>
            <a:ext cx="879030" cy="5745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1845" y="3673498"/>
            <a:ext cx="879030" cy="57455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05592" y="1277494"/>
            <a:ext cx="3113233" cy="327616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24414" y="239462"/>
            <a:ext cx="6424930" cy="84645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 indent="3175">
              <a:lnSpc>
                <a:spcPts val="2410"/>
              </a:lnSpc>
              <a:spcBef>
                <a:spcPts val="275"/>
              </a:spcBef>
            </a:pPr>
            <a:r>
              <a:rPr spc="-195" dirty="0">
                <a:solidFill>
                  <a:srgbClr val="3B4248"/>
                </a:solidFill>
              </a:rPr>
              <a:t>CONCLUSION</a:t>
            </a:r>
            <a:r>
              <a:rPr spc="25" dirty="0">
                <a:solidFill>
                  <a:srgbClr val="3B4248"/>
                </a:solidFill>
              </a:rPr>
              <a:t> </a:t>
            </a:r>
            <a:r>
              <a:rPr spc="-170" dirty="0">
                <a:solidFill>
                  <a:srgbClr val="3B4248"/>
                </a:solidFill>
              </a:rPr>
              <a:t>HIGHLIGHTS</a:t>
            </a:r>
            <a:r>
              <a:rPr spc="-35" dirty="0">
                <a:solidFill>
                  <a:srgbClr val="3B4248"/>
                </a:solidFill>
              </a:rPr>
              <a:t> </a:t>
            </a:r>
            <a:r>
              <a:rPr spc="-130" dirty="0">
                <a:solidFill>
                  <a:srgbClr val="3B4248"/>
                </a:solidFill>
              </a:rPr>
              <a:t>AND</a:t>
            </a:r>
            <a:r>
              <a:rPr spc="-185" dirty="0">
                <a:solidFill>
                  <a:srgbClr val="3B4248"/>
                </a:solidFill>
              </a:rPr>
              <a:t> </a:t>
            </a:r>
            <a:r>
              <a:rPr spc="-195" dirty="0">
                <a:solidFill>
                  <a:srgbClr val="3B4248"/>
                </a:solidFill>
              </a:rPr>
              <a:t>KEY</a:t>
            </a:r>
            <a:r>
              <a:rPr spc="-185" dirty="0">
                <a:solidFill>
                  <a:srgbClr val="3B4248"/>
                </a:solidFill>
              </a:rPr>
              <a:t> </a:t>
            </a:r>
            <a:r>
              <a:rPr spc="-229" dirty="0">
                <a:solidFill>
                  <a:srgbClr val="3B4248"/>
                </a:solidFill>
              </a:rPr>
              <a:t>MESSAGE</a:t>
            </a:r>
            <a:r>
              <a:rPr spc="65" dirty="0">
                <a:solidFill>
                  <a:srgbClr val="3B4248"/>
                </a:solidFill>
              </a:rPr>
              <a:t> </a:t>
            </a:r>
            <a:r>
              <a:rPr spc="-150" dirty="0">
                <a:solidFill>
                  <a:srgbClr val="3B4248"/>
                </a:solidFill>
              </a:rPr>
              <a:t>ON</a:t>
            </a:r>
            <a:r>
              <a:rPr spc="-165" dirty="0">
                <a:solidFill>
                  <a:srgbClr val="3B4248"/>
                </a:solidFill>
              </a:rPr>
              <a:t> </a:t>
            </a:r>
            <a:r>
              <a:rPr spc="-50" dirty="0">
                <a:solidFill>
                  <a:srgbClr val="3B4248"/>
                </a:solidFill>
              </a:rPr>
              <a:t>IOT </a:t>
            </a:r>
            <a:r>
              <a:rPr spc="-65" dirty="0">
                <a:solidFill>
                  <a:srgbClr val="3B4248"/>
                </a:solidFill>
              </a:rPr>
              <a:t>SECURITY</a:t>
            </a:r>
          </a:p>
          <a:p>
            <a:pPr marL="18415">
              <a:lnSpc>
                <a:spcPct val="100000"/>
              </a:lnSpc>
              <a:spcBef>
                <a:spcPts val="445"/>
              </a:spcBef>
            </a:pPr>
            <a:r>
              <a:rPr sz="850" b="0" dirty="0">
                <a:solidFill>
                  <a:srgbClr val="4F5257"/>
                </a:solidFill>
                <a:latin typeface="Arial"/>
                <a:cs typeface="Arial"/>
              </a:rPr>
              <a:t>Summary</a:t>
            </a:r>
            <a:r>
              <a:rPr sz="850" b="0" spc="14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50" b="0" dirty="0">
                <a:solidFill>
                  <a:srgbClr val="4F5257"/>
                </a:solidFill>
                <a:latin typeface="Arial"/>
                <a:cs typeface="Arial"/>
              </a:rPr>
              <a:t>of</a:t>
            </a:r>
            <a:r>
              <a:rPr sz="850" b="0" spc="21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50" b="0" spc="-10" dirty="0">
                <a:solidFill>
                  <a:srgbClr val="3B4248"/>
                </a:solidFill>
                <a:latin typeface="Arial"/>
                <a:cs typeface="Arial"/>
              </a:rPr>
              <a:t>Findings</a:t>
            </a:r>
            <a:endParaRPr sz="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42878" y="1280329"/>
            <a:ext cx="3272790" cy="894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1150" b="1" spc="-10" dirty="0">
                <a:solidFill>
                  <a:srgbClr val="3B4248"/>
                </a:solidFill>
                <a:latin typeface="Courier New"/>
                <a:cs typeface="Courier New"/>
              </a:rPr>
              <a:t>NEED</a:t>
            </a:r>
            <a:r>
              <a:rPr lang="en-US" sz="1150" b="1" spc="-10" dirty="0">
                <a:solidFill>
                  <a:srgbClr val="3B4248"/>
                </a:solidFill>
                <a:latin typeface="Courier New"/>
                <a:cs typeface="Courier New"/>
              </a:rPr>
              <a:t> </a:t>
            </a:r>
            <a:r>
              <a:rPr sz="1150" b="1" spc="-10" dirty="0">
                <a:solidFill>
                  <a:srgbClr val="3B4248"/>
                </a:solidFill>
                <a:latin typeface="Courier New"/>
                <a:cs typeface="Courier New"/>
              </a:rPr>
              <a:t>FOR</a:t>
            </a:r>
            <a:r>
              <a:rPr lang="en-US" sz="1150" b="1" spc="-10" dirty="0">
                <a:solidFill>
                  <a:srgbClr val="3B4248"/>
                </a:solidFill>
                <a:latin typeface="Courier New"/>
                <a:cs typeface="Courier New"/>
              </a:rPr>
              <a:t> </a:t>
            </a:r>
            <a:r>
              <a:rPr sz="1150" b="1" spc="-10" dirty="0">
                <a:solidFill>
                  <a:srgbClr val="3B4248"/>
                </a:solidFill>
                <a:latin typeface="Courier New"/>
                <a:cs typeface="Courier New"/>
              </a:rPr>
              <a:t>ENHANCED</a:t>
            </a:r>
            <a:r>
              <a:rPr lang="en-US" sz="1150" b="1" spc="-10" dirty="0">
                <a:solidFill>
                  <a:srgbClr val="3B4248"/>
                </a:solidFill>
                <a:latin typeface="Courier New"/>
                <a:cs typeface="Courier New"/>
              </a:rPr>
              <a:t> IOT SECURITY</a:t>
            </a:r>
            <a:endParaRPr sz="1150" dirty="0">
              <a:latin typeface="Courier New"/>
              <a:cs typeface="Courier New"/>
            </a:endParaRPr>
          </a:p>
          <a:p>
            <a:pPr marL="12700" marR="5080" indent="2540">
              <a:lnSpc>
                <a:spcPct val="134600"/>
              </a:lnSpc>
              <a:spcBef>
                <a:spcPts val="345"/>
              </a:spcBef>
            </a:pPr>
            <a:r>
              <a:rPr sz="800" spc="-10" dirty="0">
                <a:solidFill>
                  <a:srgbClr val="3B4248"/>
                </a:solidFill>
                <a:latin typeface="Arial"/>
                <a:cs typeface="Arial"/>
              </a:rPr>
              <a:t>lo</a:t>
            </a:r>
            <a:r>
              <a:rPr sz="800" spc="35" dirty="0">
                <a:solidFill>
                  <a:srgbClr val="3B4248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5257"/>
                </a:solidFill>
                <a:latin typeface="Arial"/>
                <a:cs typeface="Arial"/>
              </a:rPr>
              <a:t>T</a:t>
            </a:r>
            <a:r>
              <a:rPr sz="800" spc="22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5257"/>
                </a:solidFill>
                <a:latin typeface="Arial"/>
                <a:cs typeface="Arial"/>
              </a:rPr>
              <a:t>devices</a:t>
            </a:r>
            <a:r>
              <a:rPr sz="800" spc="19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00" spc="55" dirty="0">
                <a:solidFill>
                  <a:srgbClr val="4F5257"/>
                </a:solidFill>
                <a:latin typeface="Arial"/>
                <a:cs typeface="Arial"/>
              </a:rPr>
              <a:t>face</a:t>
            </a:r>
            <a:r>
              <a:rPr sz="800" spc="10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5257"/>
                </a:solidFill>
                <a:latin typeface="Arial"/>
                <a:cs typeface="Arial"/>
              </a:rPr>
              <a:t>increasing</a:t>
            </a:r>
            <a:r>
              <a:rPr sz="800" spc="17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00" spc="55" dirty="0">
                <a:solidFill>
                  <a:srgbClr val="4F5257"/>
                </a:solidFill>
                <a:latin typeface="Arial"/>
                <a:cs typeface="Arial"/>
              </a:rPr>
              <a:t>cyber</a:t>
            </a:r>
            <a:r>
              <a:rPr sz="800" spc="21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5257"/>
                </a:solidFill>
                <a:latin typeface="Arial"/>
                <a:cs typeface="Arial"/>
              </a:rPr>
              <a:t>threats,</a:t>
            </a:r>
            <a:r>
              <a:rPr sz="800" spc="16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5257"/>
                </a:solidFill>
                <a:latin typeface="Arial"/>
                <a:cs typeface="Arial"/>
              </a:rPr>
              <a:t>necessitating</a:t>
            </a:r>
            <a:r>
              <a:rPr sz="800" spc="25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4F5257"/>
                </a:solidFill>
                <a:latin typeface="Arial"/>
                <a:cs typeface="Arial"/>
              </a:rPr>
              <a:t>robust</a:t>
            </a:r>
            <a:r>
              <a:rPr sz="800" spc="16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4F5257"/>
                </a:solidFill>
                <a:latin typeface="Arial"/>
                <a:cs typeface="Arial"/>
              </a:rPr>
              <a:t>protection</a:t>
            </a:r>
            <a:r>
              <a:rPr sz="800" spc="50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3B4248"/>
                </a:solidFill>
                <a:latin typeface="Arial"/>
                <a:cs typeface="Arial"/>
              </a:rPr>
              <a:t>layers.</a:t>
            </a:r>
            <a:r>
              <a:rPr lang="en-US" sz="800" dirty="0"/>
              <a:t> Handling imbalanced datasets, where certain attack types are underrepresented, remains a challenge.</a:t>
            </a:r>
          </a:p>
          <a:p>
            <a:pPr marL="12700" marR="5080" indent="2540">
              <a:lnSpc>
                <a:spcPct val="134600"/>
              </a:lnSpc>
              <a:spcBef>
                <a:spcPts val="345"/>
              </a:spcBef>
            </a:pPr>
            <a:endParaRPr sz="7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1337042" y="2077978"/>
            <a:ext cx="3315335" cy="26135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EFFECTIVENESS</a:t>
            </a:r>
            <a:r>
              <a:rPr spc="-350" dirty="0"/>
              <a:t> </a:t>
            </a:r>
            <a:r>
              <a:rPr spc="-30" dirty="0"/>
              <a:t>OF</a:t>
            </a:r>
            <a:r>
              <a:rPr spc="-484" dirty="0"/>
              <a:t> </a:t>
            </a:r>
            <a:r>
              <a:rPr spc="-45" dirty="0"/>
              <a:t>DEEP</a:t>
            </a:r>
            <a:r>
              <a:rPr spc="-509" dirty="0"/>
              <a:t> </a:t>
            </a:r>
            <a:r>
              <a:rPr spc="-80" dirty="0"/>
              <a:t>LEARNING</a:t>
            </a:r>
            <a:r>
              <a:rPr spc="-360" dirty="0"/>
              <a:t> </a:t>
            </a:r>
            <a:r>
              <a:rPr spc="-10" dirty="0"/>
              <a:t>MODELS</a:t>
            </a:r>
          </a:p>
          <a:p>
            <a:pPr marL="21590" marR="5080" indent="-1270">
              <a:lnSpc>
                <a:spcPct val="134600"/>
              </a:lnSpc>
              <a:spcBef>
                <a:spcPts val="345"/>
              </a:spcBef>
            </a:pPr>
            <a:r>
              <a:rPr sz="800" b="0" spc="30" dirty="0">
                <a:solidFill>
                  <a:srgbClr val="4F5257"/>
                </a:solidFill>
                <a:latin typeface="Arial"/>
                <a:cs typeface="Arial"/>
              </a:rPr>
              <a:t>Models</a:t>
            </a:r>
            <a:r>
              <a:rPr sz="800" b="0" spc="12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00" b="0" spc="20" dirty="0">
                <a:solidFill>
                  <a:srgbClr val="4F5257"/>
                </a:solidFill>
                <a:latin typeface="Arial"/>
                <a:cs typeface="Arial"/>
              </a:rPr>
              <a:t>like</a:t>
            </a:r>
            <a:r>
              <a:rPr sz="800" b="0" spc="4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00" b="0" spc="20" dirty="0">
                <a:latin typeface="Arial"/>
                <a:cs typeface="Arial"/>
              </a:rPr>
              <a:t>BERT</a:t>
            </a:r>
            <a:r>
              <a:rPr sz="800" b="0" spc="60" dirty="0">
                <a:latin typeface="Arial"/>
                <a:cs typeface="Arial"/>
              </a:rPr>
              <a:t> </a:t>
            </a:r>
            <a:r>
              <a:rPr sz="800" b="0" spc="30" dirty="0">
                <a:solidFill>
                  <a:srgbClr val="4F5257"/>
                </a:solidFill>
                <a:latin typeface="Arial"/>
                <a:cs typeface="Arial"/>
              </a:rPr>
              <a:t>demonstrate</a:t>
            </a:r>
            <a:r>
              <a:rPr sz="800" b="0" spc="9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00" b="0" spc="30" dirty="0">
                <a:solidFill>
                  <a:srgbClr val="4F5257"/>
                </a:solidFill>
                <a:latin typeface="Arial"/>
                <a:cs typeface="Arial"/>
              </a:rPr>
              <a:t>high</a:t>
            </a:r>
            <a:r>
              <a:rPr sz="800" b="0" spc="1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00" b="0" spc="30" dirty="0">
                <a:solidFill>
                  <a:srgbClr val="4F5257"/>
                </a:solidFill>
                <a:latin typeface="Arial"/>
                <a:cs typeface="Arial"/>
              </a:rPr>
              <a:t>efficiency</a:t>
            </a:r>
            <a:r>
              <a:rPr sz="800" b="0" spc="9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00" b="0" spc="30" dirty="0">
                <a:solidFill>
                  <a:srgbClr val="4F5257"/>
                </a:solidFill>
                <a:latin typeface="Arial"/>
                <a:cs typeface="Arial"/>
              </a:rPr>
              <a:t>in</a:t>
            </a:r>
            <a:r>
              <a:rPr sz="800" b="0" spc="4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00" b="0" spc="30" dirty="0">
                <a:solidFill>
                  <a:srgbClr val="4F5257"/>
                </a:solidFill>
                <a:latin typeface="Arial"/>
                <a:cs typeface="Arial"/>
              </a:rPr>
              <a:t>detecting</a:t>
            </a:r>
            <a:r>
              <a:rPr sz="800" b="0" spc="4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00" b="0" spc="30" dirty="0">
                <a:solidFill>
                  <a:srgbClr val="4F5257"/>
                </a:solidFill>
                <a:latin typeface="Arial"/>
                <a:cs typeface="Arial"/>
              </a:rPr>
              <a:t>cyberattacks</a:t>
            </a:r>
            <a:r>
              <a:rPr sz="800" b="0" spc="8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00" b="0" spc="-25" dirty="0">
                <a:solidFill>
                  <a:srgbClr val="4F5257"/>
                </a:solidFill>
                <a:latin typeface="Arial"/>
                <a:cs typeface="Arial"/>
              </a:rPr>
              <a:t>on</a:t>
            </a:r>
            <a:r>
              <a:rPr sz="800" b="0" spc="5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00" b="0" spc="55" dirty="0">
                <a:latin typeface="Arial"/>
                <a:cs typeface="Arial"/>
              </a:rPr>
              <a:t>lo</a:t>
            </a:r>
            <a:r>
              <a:rPr sz="800" b="0" spc="55" dirty="0">
                <a:solidFill>
                  <a:srgbClr val="4F5257"/>
                </a:solidFill>
                <a:latin typeface="Arial"/>
                <a:cs typeface="Arial"/>
              </a:rPr>
              <a:t>T</a:t>
            </a:r>
            <a:r>
              <a:rPr sz="800" b="0" spc="-4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00" b="0" spc="-10" dirty="0">
                <a:latin typeface="Arial"/>
                <a:cs typeface="Arial"/>
              </a:rPr>
              <a:t>networks.</a:t>
            </a:r>
            <a:endParaRPr sz="800" b="0" dirty="0">
              <a:latin typeface="Arial"/>
              <a:cs typeface="Arial"/>
            </a:endParaRPr>
          </a:p>
          <a:p>
            <a:r>
              <a:rPr lang="en-US" sz="800" b="0" dirty="0"/>
              <a:t>Ensuring real-time intrusion detection in diverse and dynamic IoT environments.</a:t>
            </a:r>
          </a:p>
          <a:p>
            <a:pPr>
              <a:lnSpc>
                <a:spcPct val="100000"/>
              </a:lnSpc>
            </a:pPr>
            <a:endParaRPr sz="800" b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700" dirty="0">
              <a:latin typeface="Arial"/>
              <a:cs typeface="Arial"/>
            </a:endParaRPr>
          </a:p>
          <a:p>
            <a:pPr marL="20955">
              <a:lnSpc>
                <a:spcPct val="100000"/>
              </a:lnSpc>
            </a:pPr>
            <a:r>
              <a:rPr spc="-120" dirty="0">
                <a:solidFill>
                  <a:srgbClr val="4F5257"/>
                </a:solidFill>
              </a:rPr>
              <a:t>ACHIEVED</a:t>
            </a:r>
            <a:r>
              <a:rPr spc="-120" dirty="0"/>
              <a:t>IIlGH</a:t>
            </a:r>
            <a:r>
              <a:rPr spc="-330" dirty="0"/>
              <a:t> </a:t>
            </a:r>
            <a:r>
              <a:rPr spc="-10" dirty="0">
                <a:solidFill>
                  <a:srgbClr val="4F5257"/>
                </a:solidFill>
              </a:rPr>
              <a:t>ACCURACY</a:t>
            </a:r>
          </a:p>
          <a:p>
            <a:pPr marL="17780" marR="106680" indent="1270">
              <a:lnSpc>
                <a:spcPct val="131800"/>
              </a:lnSpc>
              <a:spcBef>
                <a:spcPts val="390"/>
              </a:spcBef>
            </a:pPr>
            <a:r>
              <a:rPr sz="700" b="0" spc="10" dirty="0">
                <a:solidFill>
                  <a:srgbClr val="4F5257"/>
                </a:solidFill>
                <a:latin typeface="Arial"/>
                <a:cs typeface="Arial"/>
              </a:rPr>
              <a:t>Our</a:t>
            </a:r>
            <a:r>
              <a:rPr sz="700" b="0" spc="44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b="0" spc="20" dirty="0">
                <a:solidFill>
                  <a:srgbClr val="4F5257"/>
                </a:solidFill>
                <a:latin typeface="Arial"/>
                <a:cs typeface="Arial"/>
              </a:rPr>
              <a:t>system</a:t>
            </a:r>
            <a:r>
              <a:rPr sz="700" b="0" spc="3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b="0" spc="20" dirty="0">
                <a:solidFill>
                  <a:srgbClr val="4F5257"/>
                </a:solidFill>
                <a:latin typeface="Arial"/>
                <a:cs typeface="Arial"/>
              </a:rPr>
              <a:t>shows</a:t>
            </a:r>
            <a:r>
              <a:rPr sz="700" b="0" spc="6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b="0" spc="20" dirty="0">
                <a:latin typeface="Arial"/>
                <a:cs typeface="Arial"/>
              </a:rPr>
              <a:t>promising</a:t>
            </a:r>
            <a:r>
              <a:rPr sz="700" b="0" spc="90" dirty="0">
                <a:latin typeface="Arial"/>
                <a:cs typeface="Arial"/>
              </a:rPr>
              <a:t> </a:t>
            </a:r>
            <a:r>
              <a:rPr sz="700" b="0" spc="20" dirty="0">
                <a:solidFill>
                  <a:srgbClr val="4F5257"/>
                </a:solidFill>
                <a:latin typeface="Arial"/>
                <a:cs typeface="Arial"/>
              </a:rPr>
              <a:t>results</a:t>
            </a:r>
            <a:r>
              <a:rPr sz="700" b="0" spc="55" dirty="0">
                <a:solidFill>
                  <a:srgbClr val="4F5257"/>
                </a:solidFill>
                <a:latin typeface="Arial"/>
                <a:cs typeface="Arial"/>
              </a:rPr>
              <a:t> with</a:t>
            </a:r>
            <a:r>
              <a:rPr sz="700" b="0" spc="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b="0" spc="20" dirty="0">
                <a:solidFill>
                  <a:srgbClr val="4F5257"/>
                </a:solidFill>
                <a:latin typeface="Arial"/>
                <a:cs typeface="Arial"/>
              </a:rPr>
              <a:t>high</a:t>
            </a:r>
            <a:r>
              <a:rPr sz="700" b="0" spc="1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b="0" spc="20" dirty="0">
                <a:solidFill>
                  <a:srgbClr val="4F5257"/>
                </a:solidFill>
                <a:latin typeface="Arial"/>
                <a:cs typeface="Arial"/>
              </a:rPr>
              <a:t>accuracy</a:t>
            </a:r>
            <a:r>
              <a:rPr sz="700" b="0" spc="8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b="0" spc="20" dirty="0">
                <a:solidFill>
                  <a:srgbClr val="4F5257"/>
                </a:solidFill>
                <a:latin typeface="Arial"/>
                <a:cs typeface="Arial"/>
              </a:rPr>
              <a:t>rates</a:t>
            </a:r>
            <a:r>
              <a:rPr sz="700" b="0" spc="5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b="0" spc="20" dirty="0">
                <a:solidFill>
                  <a:srgbClr val="4F5257"/>
                </a:solidFill>
                <a:latin typeface="Arial"/>
                <a:cs typeface="Arial"/>
              </a:rPr>
              <a:t>in</a:t>
            </a:r>
            <a:r>
              <a:rPr sz="700" b="0" spc="-1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700" b="0" spc="-10" dirty="0">
                <a:solidFill>
                  <a:srgbClr val="67696E"/>
                </a:solidFill>
                <a:latin typeface="Arial"/>
                <a:cs typeface="Arial"/>
              </a:rPr>
              <a:t>intrusion</a:t>
            </a:r>
            <a:r>
              <a:rPr sz="700" b="0" spc="500" dirty="0">
                <a:solidFill>
                  <a:srgbClr val="67696E"/>
                </a:solidFill>
                <a:latin typeface="Arial"/>
                <a:cs typeface="Arial"/>
              </a:rPr>
              <a:t> </a:t>
            </a:r>
            <a:r>
              <a:rPr sz="700" b="0" spc="-10" dirty="0">
                <a:solidFill>
                  <a:srgbClr val="4F5257"/>
                </a:solidFill>
                <a:latin typeface="Arial"/>
                <a:cs typeface="Arial"/>
              </a:rPr>
              <a:t>detection.</a:t>
            </a:r>
            <a:endParaRPr sz="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80" dirty="0"/>
              <a:t>POTENTIAL</a:t>
            </a:r>
            <a:r>
              <a:rPr lang="en-US" spc="-80" dirty="0"/>
              <a:t> </a:t>
            </a:r>
            <a:r>
              <a:rPr spc="-425" dirty="0"/>
              <a:t> </a:t>
            </a:r>
            <a:r>
              <a:rPr spc="-25" dirty="0"/>
              <a:t>FOR</a:t>
            </a:r>
            <a:r>
              <a:rPr lang="en-US" spc="-25" dirty="0"/>
              <a:t> </a:t>
            </a:r>
            <a:r>
              <a:rPr spc="-520" dirty="0"/>
              <a:t> </a:t>
            </a:r>
            <a:r>
              <a:rPr spc="-40" dirty="0"/>
              <a:t>FUTURE</a:t>
            </a:r>
            <a:r>
              <a:rPr lang="en-US" spc="-40" dirty="0"/>
              <a:t> </a:t>
            </a:r>
            <a:r>
              <a:rPr spc="-545" dirty="0"/>
              <a:t> </a:t>
            </a:r>
            <a:r>
              <a:rPr spc="-10" dirty="0"/>
              <a:t>IMPROVEMENTS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800" b="0" spc="30" dirty="0">
                <a:latin typeface="Arial"/>
                <a:cs typeface="Arial"/>
              </a:rPr>
              <a:t>Further</a:t>
            </a:r>
            <a:r>
              <a:rPr sz="800" b="0" spc="85" dirty="0">
                <a:latin typeface="Arial"/>
                <a:cs typeface="Arial"/>
              </a:rPr>
              <a:t> </a:t>
            </a:r>
            <a:r>
              <a:rPr sz="800" b="0" spc="30" dirty="0">
                <a:solidFill>
                  <a:srgbClr val="4F5257"/>
                </a:solidFill>
                <a:latin typeface="Arial"/>
                <a:cs typeface="Arial"/>
              </a:rPr>
              <a:t>enhancements</a:t>
            </a:r>
            <a:r>
              <a:rPr sz="800" b="0" spc="8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00" b="0" spc="30" dirty="0">
                <a:solidFill>
                  <a:srgbClr val="4F5257"/>
                </a:solidFill>
                <a:latin typeface="Arial"/>
                <a:cs typeface="Arial"/>
              </a:rPr>
              <a:t>are</a:t>
            </a:r>
            <a:r>
              <a:rPr sz="800" b="0" spc="9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00" b="0" spc="30" dirty="0">
                <a:solidFill>
                  <a:srgbClr val="4F5257"/>
                </a:solidFill>
                <a:latin typeface="Arial"/>
                <a:cs typeface="Arial"/>
              </a:rPr>
              <a:t>possible,</a:t>
            </a:r>
            <a:r>
              <a:rPr sz="800" b="0" spc="5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00" b="0" spc="30" dirty="0">
                <a:latin typeface="Arial"/>
                <a:cs typeface="Arial"/>
              </a:rPr>
              <a:t>indicating</a:t>
            </a:r>
            <a:r>
              <a:rPr sz="800" b="0" spc="65" dirty="0">
                <a:latin typeface="Arial"/>
                <a:cs typeface="Arial"/>
              </a:rPr>
              <a:t> </a:t>
            </a:r>
            <a:r>
              <a:rPr sz="800" b="0" spc="55" dirty="0">
                <a:solidFill>
                  <a:srgbClr val="4F5257"/>
                </a:solidFill>
                <a:latin typeface="Arial"/>
                <a:cs typeface="Arial"/>
              </a:rPr>
              <a:t>a</a:t>
            </a:r>
            <a:r>
              <a:rPr sz="800" b="0" spc="2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00" b="0" spc="60" dirty="0">
                <a:solidFill>
                  <a:srgbClr val="4F5257"/>
                </a:solidFill>
                <a:latin typeface="Arial"/>
                <a:cs typeface="Arial"/>
              </a:rPr>
              <a:t>pathway</a:t>
            </a:r>
            <a:r>
              <a:rPr sz="800" b="0" spc="80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00" b="0" spc="30" dirty="0">
                <a:solidFill>
                  <a:srgbClr val="4F5257"/>
                </a:solidFill>
                <a:latin typeface="Arial"/>
                <a:cs typeface="Arial"/>
              </a:rPr>
              <a:t>for</a:t>
            </a:r>
            <a:r>
              <a:rPr sz="800" b="0" spc="125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00" b="0" spc="-10" dirty="0">
                <a:solidFill>
                  <a:srgbClr val="4F5257"/>
                </a:solidFill>
                <a:latin typeface="Arial"/>
                <a:cs typeface="Arial"/>
              </a:rPr>
              <a:t>continuous</a:t>
            </a:r>
            <a:r>
              <a:rPr sz="800" b="0" spc="10" dirty="0">
                <a:solidFill>
                  <a:srgbClr val="4F5257"/>
                </a:solidFill>
                <a:latin typeface="Arial"/>
                <a:cs typeface="Arial"/>
              </a:rPr>
              <a:t> security</a:t>
            </a:r>
            <a:r>
              <a:rPr sz="800" b="0" spc="229" dirty="0">
                <a:solidFill>
                  <a:srgbClr val="4F5257"/>
                </a:solidFill>
                <a:latin typeface="Arial"/>
                <a:cs typeface="Arial"/>
              </a:rPr>
              <a:t> </a:t>
            </a:r>
            <a:r>
              <a:rPr sz="800" b="0" spc="-10" dirty="0">
                <a:solidFill>
                  <a:srgbClr val="4F5257"/>
                </a:solidFill>
                <a:latin typeface="Arial"/>
                <a:cs typeface="Arial"/>
              </a:rPr>
              <a:t>advancement.</a:t>
            </a:r>
            <a:r>
              <a:rPr lang="en-US" sz="800" b="0" dirty="0"/>
              <a:t> Expand datasets to include real-world IoT attack patterns, improving model generalizability.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b="0" dirty="0"/>
              <a:t>Develop </a:t>
            </a:r>
            <a:r>
              <a:rPr lang="en-US" sz="800" b="0" dirty="0" err="1"/>
              <a:t>lightweig</a:t>
            </a:r>
            <a:endParaRPr lang="en-US" sz="800" b="0" dirty="0"/>
          </a:p>
          <a:p>
            <a:pPr marL="18415" marR="81280" indent="1270">
              <a:lnSpc>
                <a:spcPct val="134600"/>
              </a:lnSpc>
              <a:spcBef>
                <a:spcPts val="365"/>
              </a:spcBef>
            </a:pPr>
            <a:endParaRPr sz="7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636" y="311758"/>
            <a:ext cx="3052189" cy="391184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716440" y="1199965"/>
            <a:ext cx="3940810" cy="207708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434"/>
              </a:spcBef>
            </a:pPr>
            <a:r>
              <a:rPr sz="750" b="1" dirty="0">
                <a:solidFill>
                  <a:srgbClr val="D1D8DB"/>
                </a:solidFill>
                <a:latin typeface="Arial"/>
                <a:cs typeface="Arial"/>
              </a:rPr>
              <a:t>Q&amp;.A</a:t>
            </a:r>
            <a:r>
              <a:rPr sz="750" b="1" spc="65" dirty="0">
                <a:solidFill>
                  <a:srgbClr val="D1D8DB"/>
                </a:solidFill>
                <a:latin typeface="Arial"/>
                <a:cs typeface="Arial"/>
              </a:rPr>
              <a:t> </a:t>
            </a:r>
            <a:r>
              <a:rPr sz="750" b="1" spc="-10" dirty="0">
                <a:solidFill>
                  <a:srgbClr val="D1D8DB"/>
                </a:solidFill>
                <a:latin typeface="Arial"/>
                <a:cs typeface="Arial"/>
              </a:rPr>
              <a:t>SESSIO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750">
              <a:latin typeface="Arial"/>
              <a:cs typeface="Arial"/>
            </a:endParaRPr>
          </a:p>
          <a:p>
            <a:pPr marL="13335" marR="1184275" indent="-1270">
              <a:lnSpc>
                <a:spcPct val="96500"/>
              </a:lnSpc>
            </a:pPr>
            <a:r>
              <a:rPr sz="2650" b="1" spc="-254" dirty="0">
                <a:solidFill>
                  <a:srgbClr val="313842"/>
                </a:solidFill>
                <a:latin typeface="Times New Roman"/>
                <a:cs typeface="Times New Roman"/>
              </a:rPr>
              <a:t>ENGAGE</a:t>
            </a:r>
            <a:r>
              <a:rPr sz="2650" b="1" spc="-155" dirty="0">
                <a:solidFill>
                  <a:srgbClr val="313842"/>
                </a:solidFill>
                <a:latin typeface="Times New Roman"/>
                <a:cs typeface="Times New Roman"/>
              </a:rPr>
              <a:t> </a:t>
            </a:r>
            <a:r>
              <a:rPr sz="2650" b="1" spc="-180" dirty="0">
                <a:solidFill>
                  <a:srgbClr val="313842"/>
                </a:solidFill>
                <a:latin typeface="Times New Roman"/>
                <a:cs typeface="Times New Roman"/>
              </a:rPr>
              <a:t>WITH</a:t>
            </a:r>
            <a:r>
              <a:rPr sz="2650" b="1" spc="-190" dirty="0">
                <a:solidFill>
                  <a:srgbClr val="313842"/>
                </a:solidFill>
                <a:latin typeface="Times New Roman"/>
                <a:cs typeface="Times New Roman"/>
              </a:rPr>
              <a:t> </a:t>
            </a:r>
            <a:r>
              <a:rPr sz="2650" b="1" spc="-170" dirty="0">
                <a:solidFill>
                  <a:srgbClr val="313842"/>
                </a:solidFill>
                <a:latin typeface="Times New Roman"/>
                <a:cs typeface="Times New Roman"/>
              </a:rPr>
              <a:t>US: </a:t>
            </a:r>
            <a:r>
              <a:rPr sz="2650" b="1" spc="-165" dirty="0">
                <a:solidFill>
                  <a:srgbClr val="313842"/>
                </a:solidFill>
                <a:latin typeface="Times New Roman"/>
                <a:cs typeface="Times New Roman"/>
              </a:rPr>
              <a:t>QUESTIONS</a:t>
            </a:r>
            <a:r>
              <a:rPr sz="2650" b="1" spc="-80" dirty="0">
                <a:solidFill>
                  <a:srgbClr val="313842"/>
                </a:solidFill>
                <a:latin typeface="Times New Roman"/>
                <a:cs typeface="Times New Roman"/>
              </a:rPr>
              <a:t> </a:t>
            </a:r>
            <a:r>
              <a:rPr sz="2650" b="1" spc="-25" dirty="0">
                <a:solidFill>
                  <a:srgbClr val="313842"/>
                </a:solidFill>
                <a:latin typeface="Times New Roman"/>
                <a:cs typeface="Times New Roman"/>
              </a:rPr>
              <a:t>AND </a:t>
            </a:r>
            <a:r>
              <a:rPr sz="2650" b="1" spc="-100" dirty="0">
                <a:solidFill>
                  <a:srgbClr val="313842"/>
                </a:solidFill>
                <a:latin typeface="Times New Roman"/>
                <a:cs typeface="Times New Roman"/>
              </a:rPr>
              <a:t>ANSWERS</a:t>
            </a:r>
            <a:endParaRPr sz="2650">
              <a:latin typeface="Times New Roman"/>
              <a:cs typeface="Times New Roman"/>
            </a:endParaRPr>
          </a:p>
          <a:p>
            <a:pPr marL="17780" marR="5080" indent="-1905">
              <a:lnSpc>
                <a:spcPct val="125000"/>
              </a:lnSpc>
              <a:spcBef>
                <a:spcPts val="580"/>
              </a:spcBef>
            </a:pPr>
            <a:r>
              <a:rPr sz="850" spc="10" dirty="0">
                <a:solidFill>
                  <a:srgbClr val="4D545D"/>
                </a:solidFill>
                <a:latin typeface="Arial"/>
                <a:cs typeface="Arial"/>
              </a:rPr>
              <a:t>Thank</a:t>
            </a:r>
            <a:r>
              <a:rPr sz="850" spc="125" dirty="0">
                <a:solidFill>
                  <a:srgbClr val="4D545D"/>
                </a:solidFill>
                <a:latin typeface="Arial"/>
                <a:cs typeface="Arial"/>
              </a:rPr>
              <a:t> </a:t>
            </a:r>
            <a:r>
              <a:rPr sz="850" spc="10" dirty="0">
                <a:solidFill>
                  <a:srgbClr val="4D545D"/>
                </a:solidFill>
                <a:latin typeface="Arial"/>
                <a:cs typeface="Arial"/>
              </a:rPr>
              <a:t>you</a:t>
            </a:r>
            <a:r>
              <a:rPr sz="850" spc="75" dirty="0">
                <a:solidFill>
                  <a:srgbClr val="4D545D"/>
                </a:solidFill>
                <a:latin typeface="Arial"/>
                <a:cs typeface="Arial"/>
              </a:rPr>
              <a:t> </a:t>
            </a:r>
            <a:r>
              <a:rPr sz="850" spc="10" dirty="0">
                <a:solidFill>
                  <a:srgbClr val="4D545D"/>
                </a:solidFill>
                <a:latin typeface="Arial"/>
                <a:cs typeface="Arial"/>
              </a:rPr>
              <a:t>for</a:t>
            </a:r>
            <a:r>
              <a:rPr sz="850" spc="310" dirty="0">
                <a:solidFill>
                  <a:srgbClr val="4D545D"/>
                </a:solidFill>
                <a:latin typeface="Arial"/>
                <a:cs typeface="Arial"/>
              </a:rPr>
              <a:t> </a:t>
            </a:r>
            <a:r>
              <a:rPr sz="850" spc="10" dirty="0">
                <a:solidFill>
                  <a:srgbClr val="4D545D"/>
                </a:solidFill>
                <a:latin typeface="Arial"/>
                <a:cs typeface="Arial"/>
              </a:rPr>
              <a:t>your</a:t>
            </a:r>
            <a:r>
              <a:rPr sz="850" spc="130" dirty="0">
                <a:solidFill>
                  <a:srgbClr val="4D545D"/>
                </a:solidFill>
                <a:latin typeface="Arial"/>
                <a:cs typeface="Arial"/>
              </a:rPr>
              <a:t> </a:t>
            </a:r>
            <a:r>
              <a:rPr sz="850" spc="10" dirty="0">
                <a:solidFill>
                  <a:srgbClr val="4D545D"/>
                </a:solidFill>
                <a:latin typeface="Arial"/>
                <a:cs typeface="Arial"/>
              </a:rPr>
              <a:t>attention</a:t>
            </a:r>
            <a:r>
              <a:rPr sz="850" spc="95" dirty="0">
                <a:solidFill>
                  <a:srgbClr val="4D545D"/>
                </a:solidFill>
                <a:latin typeface="Arial"/>
                <a:cs typeface="Arial"/>
              </a:rPr>
              <a:t> </a:t>
            </a:r>
            <a:r>
              <a:rPr sz="850" spc="10" dirty="0">
                <a:solidFill>
                  <a:srgbClr val="4D545D"/>
                </a:solidFill>
                <a:latin typeface="Arial"/>
                <a:cs typeface="Arial"/>
              </a:rPr>
              <a:t>during</a:t>
            </a:r>
            <a:r>
              <a:rPr sz="850" spc="55" dirty="0">
                <a:solidFill>
                  <a:srgbClr val="4D545D"/>
                </a:solidFill>
                <a:latin typeface="Arial"/>
                <a:cs typeface="Arial"/>
              </a:rPr>
              <a:t> </a:t>
            </a:r>
            <a:r>
              <a:rPr sz="850" spc="10" dirty="0">
                <a:solidFill>
                  <a:srgbClr val="4D545D"/>
                </a:solidFill>
                <a:latin typeface="Arial"/>
                <a:cs typeface="Arial"/>
              </a:rPr>
              <a:t>our</a:t>
            </a:r>
            <a:r>
              <a:rPr sz="850" spc="125" dirty="0">
                <a:solidFill>
                  <a:srgbClr val="4D545D"/>
                </a:solidFill>
                <a:latin typeface="Arial"/>
                <a:cs typeface="Arial"/>
              </a:rPr>
              <a:t> </a:t>
            </a:r>
            <a:r>
              <a:rPr sz="850" spc="10" dirty="0">
                <a:solidFill>
                  <a:srgbClr val="4D545D"/>
                </a:solidFill>
                <a:latin typeface="Arial"/>
                <a:cs typeface="Arial"/>
              </a:rPr>
              <a:t>presentation.</a:t>
            </a:r>
            <a:r>
              <a:rPr sz="850" spc="165" dirty="0">
                <a:solidFill>
                  <a:srgbClr val="4D545D"/>
                </a:solidFill>
                <a:latin typeface="Arial"/>
                <a:cs typeface="Arial"/>
              </a:rPr>
              <a:t> </a:t>
            </a:r>
            <a:r>
              <a:rPr sz="850" spc="10" dirty="0">
                <a:solidFill>
                  <a:srgbClr val="4D545D"/>
                </a:solidFill>
                <a:latin typeface="Arial"/>
                <a:cs typeface="Arial"/>
              </a:rPr>
              <a:t>We</a:t>
            </a:r>
            <a:r>
              <a:rPr sz="850" spc="40" dirty="0">
                <a:solidFill>
                  <a:srgbClr val="4D545D"/>
                </a:solidFill>
                <a:latin typeface="Arial"/>
                <a:cs typeface="Arial"/>
              </a:rPr>
              <a:t> </a:t>
            </a:r>
            <a:r>
              <a:rPr sz="850" spc="10" dirty="0">
                <a:solidFill>
                  <a:srgbClr val="4D545D"/>
                </a:solidFill>
                <a:latin typeface="Arial"/>
                <a:cs typeface="Arial"/>
              </a:rPr>
              <a:t>now</a:t>
            </a:r>
            <a:r>
              <a:rPr sz="850" spc="120" dirty="0">
                <a:solidFill>
                  <a:srgbClr val="4D545D"/>
                </a:solidFill>
                <a:latin typeface="Arial"/>
                <a:cs typeface="Arial"/>
              </a:rPr>
              <a:t> </a:t>
            </a:r>
            <a:r>
              <a:rPr sz="850" spc="10" dirty="0">
                <a:solidFill>
                  <a:srgbClr val="4D545D"/>
                </a:solidFill>
                <a:latin typeface="Arial"/>
                <a:cs typeface="Arial"/>
              </a:rPr>
              <a:t>welcome</a:t>
            </a:r>
            <a:r>
              <a:rPr sz="850" spc="75" dirty="0">
                <a:solidFill>
                  <a:srgbClr val="4D545D"/>
                </a:solidFill>
                <a:latin typeface="Arial"/>
                <a:cs typeface="Arial"/>
              </a:rPr>
              <a:t> </a:t>
            </a:r>
            <a:r>
              <a:rPr sz="850" spc="-25" dirty="0">
                <a:solidFill>
                  <a:srgbClr val="4D545D"/>
                </a:solidFill>
                <a:latin typeface="Arial"/>
                <a:cs typeface="Arial"/>
              </a:rPr>
              <a:t>any </a:t>
            </a:r>
            <a:r>
              <a:rPr sz="850" dirty="0">
                <a:solidFill>
                  <a:srgbClr val="4D545D"/>
                </a:solidFill>
                <a:latin typeface="Arial"/>
                <a:cs typeface="Arial"/>
              </a:rPr>
              <a:t>questions</a:t>
            </a:r>
            <a:r>
              <a:rPr sz="850" spc="175" dirty="0">
                <a:solidFill>
                  <a:srgbClr val="4D545D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4D545D"/>
                </a:solidFill>
                <a:latin typeface="Arial"/>
                <a:cs typeface="Arial"/>
              </a:rPr>
              <a:t>you</a:t>
            </a:r>
            <a:r>
              <a:rPr sz="850" spc="80" dirty="0">
                <a:solidFill>
                  <a:srgbClr val="4D545D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4D545D"/>
                </a:solidFill>
                <a:latin typeface="Arial"/>
                <a:cs typeface="Arial"/>
              </a:rPr>
              <a:t>may</a:t>
            </a:r>
            <a:r>
              <a:rPr sz="850" spc="280" dirty="0">
                <a:solidFill>
                  <a:srgbClr val="4D545D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4D545D"/>
                </a:solidFill>
                <a:latin typeface="Arial"/>
                <a:cs typeface="Arial"/>
              </a:rPr>
              <a:t>have</a:t>
            </a:r>
            <a:r>
              <a:rPr sz="850" dirty="0">
                <a:solidFill>
                  <a:srgbClr val="7E8387"/>
                </a:solidFill>
                <a:latin typeface="Arial"/>
                <a:cs typeface="Arial"/>
              </a:rPr>
              <a:t>,</a:t>
            </a:r>
            <a:r>
              <a:rPr sz="850" spc="-20" dirty="0">
                <a:solidFill>
                  <a:srgbClr val="7E8387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4D545D"/>
                </a:solidFill>
                <a:latin typeface="Arial"/>
                <a:cs typeface="Arial"/>
              </a:rPr>
              <a:t>encouraging</a:t>
            </a:r>
            <a:r>
              <a:rPr sz="850" spc="215" dirty="0">
                <a:solidFill>
                  <a:srgbClr val="4D545D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4D545D"/>
                </a:solidFill>
                <a:latin typeface="Arial"/>
                <a:cs typeface="Arial"/>
              </a:rPr>
              <a:t>an</a:t>
            </a:r>
            <a:r>
              <a:rPr sz="850" spc="90" dirty="0">
                <a:solidFill>
                  <a:srgbClr val="4D545D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4D545D"/>
                </a:solidFill>
                <a:latin typeface="Arial"/>
                <a:cs typeface="Arial"/>
              </a:rPr>
              <a:t>interactive</a:t>
            </a:r>
            <a:r>
              <a:rPr sz="850" spc="105" dirty="0">
                <a:solidFill>
                  <a:srgbClr val="4D545D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4D545D"/>
                </a:solidFill>
                <a:latin typeface="Arial"/>
                <a:cs typeface="Arial"/>
              </a:rPr>
              <a:t>discussion</a:t>
            </a:r>
            <a:r>
              <a:rPr sz="850" spc="130" dirty="0">
                <a:solidFill>
                  <a:srgbClr val="4D545D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4D545D"/>
                </a:solidFill>
                <a:latin typeface="Arial"/>
                <a:cs typeface="Arial"/>
              </a:rPr>
              <a:t>and</a:t>
            </a:r>
            <a:r>
              <a:rPr sz="850" spc="254" dirty="0">
                <a:solidFill>
                  <a:srgbClr val="4D545D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4D545D"/>
                </a:solidFill>
                <a:latin typeface="Arial"/>
                <a:cs typeface="Arial"/>
              </a:rPr>
              <a:t>deeper insights</a:t>
            </a:r>
            <a:r>
              <a:rPr sz="850" spc="-10" dirty="0">
                <a:solidFill>
                  <a:srgbClr val="7E8387"/>
                </a:solidFill>
                <a:latin typeface="Arial"/>
                <a:cs typeface="Arial"/>
              </a:rPr>
              <a:t>.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</TotalTime>
  <Words>1016</Words>
  <Application>Microsoft Office PowerPoint</Application>
  <PresentationFormat>Custom</PresentationFormat>
  <Paragraphs>135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Courier New</vt:lpstr>
      <vt:lpstr>Times New Roman</vt:lpstr>
      <vt:lpstr>Office Theme</vt:lpstr>
      <vt:lpstr>PowerPoint Presentation</vt:lpstr>
      <vt:lpstr>PowerPoint Presentation</vt:lpstr>
      <vt:lpstr>PROJECT OVERVIEW: IOT SECURITY Exploring the critical aspects of loT security and our project insights</vt:lpstr>
      <vt:lpstr>OVERVIEW OF IOT AND SECURITY CHALLENGES Understanding loT, its vulnerabilities, and proposed Al solutions</vt:lpstr>
      <vt:lpstr>01  THE CHALLENGE</vt:lpstr>
      <vt:lpstr>BUILD A SYSTEM THAT DETECTS THREATS WITH HIGH ACCURACY (&gt;99%)</vt:lpstr>
      <vt:lpstr>CICIDS-2017 DATASET OVERVIEW</vt:lpstr>
      <vt:lpstr>FRAMEWORKSTEPSFORIOTSECURITY A systematic approach to enhancing loT security</vt:lpstr>
      <vt:lpstr>DEEP LEARNING MODELS OVERVIEW</vt:lpstr>
      <vt:lpstr>ENHANCES DATA PROCESSING SPEED</vt:lpstr>
      <vt:lpstr>DATADMSION AND MODEL EVALUATION</vt:lpstr>
      <vt:lpstr>MODEL ACCURACY COMPARISON Performance of Different Models</vt:lpstr>
      <vt:lpstr>PowerPoint Presentation</vt:lpstr>
      <vt:lpstr>DEVELOPMENT OF LIGHTWEIGHT MODELS</vt:lpstr>
      <vt:lpstr>CONCLUSION HIGHLIGHTS AND KEY MESSAGE ON IOT SECURITY Summary of Findings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Arman Adil Mangat</dc:creator>
  <cp:lastModifiedBy>Arman Adil Mangat</cp:lastModifiedBy>
  <cp:revision>3</cp:revision>
  <dcterms:created xsi:type="dcterms:W3CDTF">2025-01-27T17:58:33Z</dcterms:created>
  <dcterms:modified xsi:type="dcterms:W3CDTF">2025-01-27T21:37:10Z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2025-01-27T00:00:00Z</vt:filetime>
  </property>
  <property fmtid="{D5CDD505-2E9C-101B-9397-08002B2CF9AE}" pid="3" name="Producer">
    <vt:lpwstr>jsPDF 2.5.1</vt:lpwstr>
  </property>
  <property fmtid="{D5CDD505-2E9C-101B-9397-08002B2CF9AE}" pid="4" name="LastSaved">
    <vt:filetime>2025-01-27T00:00:00Z</vt:filetime>
  </property>
</Properties>
</file>